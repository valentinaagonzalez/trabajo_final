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Nunito"/>
      <p:regular r:id="rId50"/>
      <p:bold r:id="rId51"/>
      <p:italic r:id="rId52"/>
      <p:boldItalic r:id="rId53"/>
    </p:embeddedFont>
    <p:embeddedFont>
      <p:font typeface="Maven Pro"/>
      <p:regular r:id="rId54"/>
      <p:bold r:id="rId55"/>
    </p:embeddedFont>
    <p:embeddedFont>
      <p:font typeface="Nunito Medium"/>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Nunito-bold.fntdata"/><Relationship Id="rId50" Type="http://schemas.openxmlformats.org/officeDocument/2006/relationships/font" Target="fonts/Nunito-regular.fntdata"/><Relationship Id="rId53" Type="http://schemas.openxmlformats.org/officeDocument/2006/relationships/font" Target="fonts/Nunito-boldItalic.fntdata"/><Relationship Id="rId52" Type="http://schemas.openxmlformats.org/officeDocument/2006/relationships/font" Target="fonts/Nunito-italic.fntdata"/><Relationship Id="rId11" Type="http://schemas.openxmlformats.org/officeDocument/2006/relationships/slide" Target="slides/slide6.xml"/><Relationship Id="rId55" Type="http://schemas.openxmlformats.org/officeDocument/2006/relationships/font" Target="fonts/MavenPro-bold.fntdata"/><Relationship Id="rId10" Type="http://schemas.openxmlformats.org/officeDocument/2006/relationships/slide" Target="slides/slide5.xml"/><Relationship Id="rId54" Type="http://schemas.openxmlformats.org/officeDocument/2006/relationships/font" Target="fonts/MavenPro-regular.fntdata"/><Relationship Id="rId13" Type="http://schemas.openxmlformats.org/officeDocument/2006/relationships/slide" Target="slides/slide8.xml"/><Relationship Id="rId57" Type="http://schemas.openxmlformats.org/officeDocument/2006/relationships/font" Target="fonts/NunitoMedium-bold.fntdata"/><Relationship Id="rId12" Type="http://schemas.openxmlformats.org/officeDocument/2006/relationships/slide" Target="slides/slide7.xml"/><Relationship Id="rId56" Type="http://schemas.openxmlformats.org/officeDocument/2006/relationships/font" Target="fonts/NunitoMedium-regular.fntdata"/><Relationship Id="rId15" Type="http://schemas.openxmlformats.org/officeDocument/2006/relationships/slide" Target="slides/slide10.xml"/><Relationship Id="rId59" Type="http://schemas.openxmlformats.org/officeDocument/2006/relationships/font" Target="fonts/NunitoMedium-boldItalic.fntdata"/><Relationship Id="rId14" Type="http://schemas.openxmlformats.org/officeDocument/2006/relationships/slide" Target="slides/slide9.xml"/><Relationship Id="rId58" Type="http://schemas.openxmlformats.org/officeDocument/2006/relationships/font" Target="fonts/NunitoMedium-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95acd06c3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95acd06c3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aa336e72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aa336e72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aa336e722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aa336e722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a336e722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aa336e722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aa336e722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aa336e722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a336e722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aa336e722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aa336e722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aa336e722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aa336e722c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aa336e722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aa336e722c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aa336e722c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aa336e722c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aa336e722c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a336e722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aa336e722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aa336e722c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aa336e722c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aa336e722c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aa336e722c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aa336e722c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aa336e722c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aa336e722c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aa336e722c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aa336e722c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aa336e722c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aa336e722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aa336e722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a336e722c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aa336e722c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aa336e722c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aa336e722c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aa336e722c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aa336e722c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aa336e722c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aa336e722c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aa336e722c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aa336e722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aa336e722c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aa336e722c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aa336e722c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aa336e722c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aa336e722c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aa336e722c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aa336e722c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aa336e722c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aa336e722c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aa336e722c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aa336e722c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aa336e722c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aa336e722c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aa336e722c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aa336e722c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aa336e722c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aa336e722c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aa336e722c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aa336e722c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aa336e722c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aa336e722c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aa336e722c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aa336e722c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aa336e722c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aa336e722c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aa336e722c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aa336e722c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aa336e722c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aa336e722c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aa336e722c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aa336e722c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aa336e722c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aa336e722c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aa336e722c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aac8e954d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aac8e954d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aac8e954d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aac8e954d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aac8e954d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aac8e954d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aac8e954d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aac8e954d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812738"/>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Inflación y </a:t>
            </a:r>
            <a:endParaRPr/>
          </a:p>
          <a:p>
            <a:pPr indent="0" lvl="0" marL="0" rtl="0" algn="l">
              <a:spcBef>
                <a:spcPts val="0"/>
              </a:spcBef>
              <a:spcAft>
                <a:spcPts val="0"/>
              </a:spcAft>
              <a:buNone/>
            </a:pPr>
            <a:r>
              <a:rPr lang="es"/>
              <a:t>Estabilidad</a:t>
            </a:r>
            <a:endParaRPr/>
          </a:p>
        </p:txBody>
      </p:sp>
      <p:sp>
        <p:nvSpPr>
          <p:cNvPr id="278" name="Google Shape;278;p13"/>
          <p:cNvSpPr txBox="1"/>
          <p:nvPr>
            <p:ph idx="1" type="subTitle"/>
          </p:nvPr>
        </p:nvSpPr>
        <p:spPr>
          <a:xfrm>
            <a:off x="824000" y="2347050"/>
            <a:ext cx="4895400" cy="2268300"/>
          </a:xfrm>
          <a:prstGeom prst="rect">
            <a:avLst/>
          </a:prstGeom>
        </p:spPr>
        <p:txBody>
          <a:bodyPr anchorCtr="0" anchor="t" bIns="91425" lIns="91425" spcFirstLastPara="1" rIns="91425" wrap="square" tIns="91425">
            <a:noAutofit/>
          </a:bodyPr>
          <a:lstStyle/>
          <a:p>
            <a:pPr indent="0" lvl="0" marL="0" rtl="0" algn="just">
              <a:lnSpc>
                <a:spcPct val="90000"/>
              </a:lnSpc>
              <a:spcBef>
                <a:spcPts val="0"/>
              </a:spcBef>
              <a:spcAft>
                <a:spcPts val="0"/>
              </a:spcAft>
              <a:buSzPts val="275"/>
              <a:buNone/>
            </a:pPr>
            <a:r>
              <a:rPr lang="es" sz="1200"/>
              <a:t>Análisis para los años 2000, 2010 y 2023</a:t>
            </a:r>
            <a:endParaRPr sz="1200"/>
          </a:p>
          <a:p>
            <a:pPr indent="0" lvl="0" marL="0" rtl="0" algn="just">
              <a:lnSpc>
                <a:spcPct val="90000"/>
              </a:lnSpc>
              <a:spcBef>
                <a:spcPts val="0"/>
              </a:spcBef>
              <a:spcAft>
                <a:spcPts val="0"/>
              </a:spcAft>
              <a:buSzPts val="275"/>
              <a:buNone/>
            </a:pPr>
            <a:r>
              <a:t/>
            </a:r>
            <a:endParaRPr sz="1200"/>
          </a:p>
          <a:p>
            <a:pPr indent="0" lvl="0" marL="0" rtl="0" algn="just">
              <a:lnSpc>
                <a:spcPct val="90000"/>
              </a:lnSpc>
              <a:spcBef>
                <a:spcPts val="0"/>
              </a:spcBef>
              <a:spcAft>
                <a:spcPts val="0"/>
              </a:spcAft>
              <a:buSzPts val="275"/>
              <a:buNone/>
            </a:pPr>
            <a:r>
              <a:rPr lang="es" sz="1200"/>
              <a:t>Dataset: Indicadores del Banco Mundial (WB)</a:t>
            </a:r>
            <a:endParaRPr sz="1200"/>
          </a:p>
          <a:p>
            <a:pPr indent="0" lvl="0" marL="0" rtl="0" algn="just">
              <a:lnSpc>
                <a:spcPct val="90000"/>
              </a:lnSpc>
              <a:spcBef>
                <a:spcPts val="0"/>
              </a:spcBef>
              <a:spcAft>
                <a:spcPts val="0"/>
              </a:spcAft>
              <a:buSzPts val="275"/>
              <a:buNone/>
            </a:pPr>
            <a:r>
              <a:t/>
            </a:r>
            <a:endParaRPr sz="1200"/>
          </a:p>
          <a:p>
            <a:pPr indent="0" lvl="0" marL="0" rtl="0" algn="just">
              <a:lnSpc>
                <a:spcPct val="90000"/>
              </a:lnSpc>
              <a:spcBef>
                <a:spcPts val="0"/>
              </a:spcBef>
              <a:spcAft>
                <a:spcPts val="0"/>
              </a:spcAft>
              <a:buSzPts val="275"/>
              <a:buNone/>
            </a:pPr>
            <a:r>
              <a:rPr lang="es" sz="1200"/>
              <a:t>Variables: Inflación, Crecimiento del PBI, Desempleo, Gasto Público</a:t>
            </a:r>
            <a:endParaRPr sz="1200"/>
          </a:p>
          <a:p>
            <a:pPr indent="0" lvl="0" marL="0" rtl="0" algn="just">
              <a:lnSpc>
                <a:spcPct val="90000"/>
              </a:lnSpc>
              <a:spcBef>
                <a:spcPts val="0"/>
              </a:spcBef>
              <a:spcAft>
                <a:spcPts val="0"/>
              </a:spcAft>
              <a:buSzPts val="275"/>
              <a:buNone/>
            </a:pPr>
            <a:r>
              <a:t/>
            </a:r>
            <a:endParaRPr sz="1200"/>
          </a:p>
          <a:p>
            <a:pPr indent="0" lvl="0" marL="0" rtl="0" algn="just">
              <a:lnSpc>
                <a:spcPct val="90000"/>
              </a:lnSpc>
              <a:spcBef>
                <a:spcPts val="0"/>
              </a:spcBef>
              <a:spcAft>
                <a:spcPts val="0"/>
              </a:spcAft>
              <a:buSzPts val="275"/>
              <a:buNone/>
            </a:pPr>
            <a:r>
              <a:t/>
            </a:r>
            <a:endParaRPr sz="1200"/>
          </a:p>
          <a:p>
            <a:pPr indent="0" lvl="0" marL="0" rtl="0" algn="just">
              <a:lnSpc>
                <a:spcPct val="90000"/>
              </a:lnSpc>
              <a:spcBef>
                <a:spcPts val="0"/>
              </a:spcBef>
              <a:spcAft>
                <a:spcPts val="0"/>
              </a:spcAft>
              <a:buSzPts val="275"/>
              <a:buNone/>
            </a:pPr>
            <a:r>
              <a:t/>
            </a:r>
            <a:endParaRPr sz="1200"/>
          </a:p>
          <a:p>
            <a:pPr indent="0" lvl="0" marL="0" rtl="0" algn="just">
              <a:lnSpc>
                <a:spcPct val="90000"/>
              </a:lnSpc>
              <a:spcBef>
                <a:spcPts val="0"/>
              </a:spcBef>
              <a:spcAft>
                <a:spcPts val="0"/>
              </a:spcAft>
              <a:buSzPts val="275"/>
              <a:buNone/>
            </a:pPr>
            <a:r>
              <a:t/>
            </a:r>
            <a:endParaRPr sz="1200"/>
          </a:p>
          <a:p>
            <a:pPr indent="0" lvl="0" marL="0" rtl="0" algn="just">
              <a:lnSpc>
                <a:spcPct val="90000"/>
              </a:lnSpc>
              <a:spcBef>
                <a:spcPts val="0"/>
              </a:spcBef>
              <a:spcAft>
                <a:spcPts val="0"/>
              </a:spcAft>
              <a:buSzPts val="275"/>
              <a:buNone/>
            </a:pPr>
            <a:r>
              <a:t/>
            </a:r>
            <a:endParaRPr sz="1200"/>
          </a:p>
          <a:p>
            <a:pPr indent="0" lvl="0" marL="0" rtl="0" algn="just">
              <a:lnSpc>
                <a:spcPct val="90000"/>
              </a:lnSpc>
              <a:spcBef>
                <a:spcPts val="0"/>
              </a:spcBef>
              <a:spcAft>
                <a:spcPts val="0"/>
              </a:spcAft>
              <a:buNone/>
            </a:pPr>
            <a:r>
              <a:rPr lang="es" sz="1200"/>
              <a:t>Gonzalez, Valentina Ariadna - 895078</a:t>
            </a:r>
            <a:endParaRPr sz="1200"/>
          </a:p>
          <a:p>
            <a:pPr indent="0" lvl="0" marL="0" rtl="0" algn="just">
              <a:lnSpc>
                <a:spcPct val="90000"/>
              </a:lnSpc>
              <a:spcBef>
                <a:spcPts val="0"/>
              </a:spcBef>
              <a:spcAft>
                <a:spcPts val="0"/>
              </a:spcAft>
              <a:buNone/>
            </a:pPr>
            <a:r>
              <a:rPr lang="es" sz="1200"/>
              <a:t>Muñoz Jafelle, Juan Manuel - 892644</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ctrTitle"/>
          </p:nvPr>
        </p:nvSpPr>
        <p:spPr>
          <a:xfrm>
            <a:off x="663750" y="480575"/>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Motivación y objetivo del estudio</a:t>
            </a:r>
            <a:endParaRPr sz="2800"/>
          </a:p>
        </p:txBody>
      </p:sp>
      <p:sp>
        <p:nvSpPr>
          <p:cNvPr id="284" name="Google Shape;284;p14"/>
          <p:cNvSpPr txBox="1"/>
          <p:nvPr>
            <p:ph idx="1" type="subTitle"/>
          </p:nvPr>
        </p:nvSpPr>
        <p:spPr>
          <a:xfrm>
            <a:off x="663750" y="1475450"/>
            <a:ext cx="7261800" cy="3351000"/>
          </a:xfrm>
          <a:prstGeom prst="rect">
            <a:avLst/>
          </a:prstGeom>
        </p:spPr>
        <p:txBody>
          <a:bodyPr anchorCtr="0" anchor="t" bIns="91425" lIns="91425" spcFirstLastPara="1" rIns="91425" wrap="square" tIns="91425">
            <a:normAutofit/>
          </a:bodyPr>
          <a:lstStyle/>
          <a:p>
            <a:pPr indent="0" lvl="0" marL="0" rtl="0" algn="just">
              <a:spcBef>
                <a:spcPts val="1400"/>
              </a:spcBef>
              <a:spcAft>
                <a:spcPts val="0"/>
              </a:spcAft>
              <a:buNone/>
            </a:pPr>
            <a:r>
              <a:rPr b="1" lang="es" sz="1000">
                <a:solidFill>
                  <a:srgbClr val="000000"/>
                </a:solidFill>
              </a:rPr>
              <a:t>¿Por qué estudiar inflación y estabilidad?</a:t>
            </a:r>
            <a:endParaRPr b="1"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La inflación elevada suele asociarse a menor desempeño macroeconómico.</a:t>
            </a:r>
            <a:br>
              <a:rPr lang="es" sz="1000">
                <a:solidFill>
                  <a:srgbClr val="000000"/>
                </a:solidFill>
              </a:rPr>
            </a:b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Los países pueden experimentar ciclos muy distintos según contexto global.</a:t>
            </a:r>
            <a:br>
              <a:rPr lang="es" sz="1000">
                <a:solidFill>
                  <a:srgbClr val="000000"/>
                </a:solidFill>
              </a:rPr>
            </a:b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Medir la estabilidad requiere integrar diversos indicadores (crecimiento, empleo, situación fiscal).</a:t>
            </a:r>
            <a:br>
              <a:rPr lang="es" sz="1000">
                <a:solidFill>
                  <a:srgbClr val="000000"/>
                </a:solidFill>
              </a:rPr>
            </a:b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Comparar 2000 vs 2010 vs 2023 permite capturar distintos regímenes económicos globales</a:t>
            </a:r>
            <a:endParaRPr sz="1000">
              <a:solidFill>
                <a:srgbClr val="000000"/>
              </a:solidFill>
            </a:endParaRPr>
          </a:p>
          <a:p>
            <a:pPr indent="0" lvl="0" marL="0" rtl="0" algn="just">
              <a:spcBef>
                <a:spcPts val="1400"/>
              </a:spcBef>
              <a:spcAft>
                <a:spcPts val="0"/>
              </a:spcAft>
              <a:buNone/>
            </a:pPr>
            <a:r>
              <a:rPr b="1" lang="es" sz="1000">
                <a:solidFill>
                  <a:srgbClr val="000000"/>
                </a:solidFill>
              </a:rPr>
              <a:t>Objetivo del trabajo</a:t>
            </a:r>
            <a:endParaRPr b="1" sz="1000">
              <a:solidFill>
                <a:srgbClr val="000000"/>
              </a:solidFill>
            </a:endParaRPr>
          </a:p>
          <a:p>
            <a:pPr indent="-228600" lvl="0" marL="457200" rtl="0" algn="just">
              <a:spcBef>
                <a:spcPts val="1400"/>
              </a:spcBef>
              <a:spcAft>
                <a:spcPts val="0"/>
              </a:spcAft>
              <a:buClr>
                <a:srgbClr val="000000"/>
              </a:buClr>
              <a:buSzPts val="1000"/>
              <a:buNone/>
            </a:pPr>
            <a:r>
              <a:rPr lang="es" sz="1000">
                <a:solidFill>
                  <a:srgbClr val="000000"/>
                </a:solidFill>
              </a:rPr>
              <a:t>Evaluar cómo se relaciona la inflación con la estabilidad macroeconómica de los países en 2000, 2010 y 2023.</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ctrTitle"/>
          </p:nvPr>
        </p:nvSpPr>
        <p:spPr>
          <a:xfrm>
            <a:off x="663750" y="480575"/>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Hipótesis principal</a:t>
            </a:r>
            <a:endParaRPr sz="2800"/>
          </a:p>
        </p:txBody>
      </p:sp>
      <p:sp>
        <p:nvSpPr>
          <p:cNvPr id="290" name="Google Shape;290;p15"/>
          <p:cNvSpPr txBox="1"/>
          <p:nvPr/>
        </p:nvSpPr>
        <p:spPr>
          <a:xfrm>
            <a:off x="663750" y="1384400"/>
            <a:ext cx="7852800" cy="2108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s" sz="1000">
                <a:latin typeface="Nunito"/>
                <a:ea typeface="Nunito"/>
                <a:cs typeface="Nunito"/>
                <a:sym typeface="Nunito"/>
              </a:rPr>
              <a:t>¿Los países con </a:t>
            </a:r>
            <a:r>
              <a:rPr b="1" lang="es" sz="1000">
                <a:latin typeface="Nunito"/>
                <a:ea typeface="Nunito"/>
                <a:cs typeface="Nunito"/>
                <a:sym typeface="Nunito"/>
              </a:rPr>
              <a:t>inflación alta</a:t>
            </a:r>
            <a:r>
              <a:rPr lang="es" sz="1000">
                <a:latin typeface="Nunito"/>
                <a:ea typeface="Nunito"/>
                <a:cs typeface="Nunito"/>
                <a:sym typeface="Nunito"/>
              </a:rPr>
              <a:t> presentan un desempeño macroeconómico distinto al de los países con </a:t>
            </a:r>
            <a:r>
              <a:rPr b="1" lang="es" sz="1000">
                <a:latin typeface="Nunito"/>
                <a:ea typeface="Nunito"/>
                <a:cs typeface="Nunito"/>
                <a:sym typeface="Nunito"/>
              </a:rPr>
              <a:t>inflación baja</a:t>
            </a:r>
            <a:r>
              <a:rPr lang="es" sz="1000">
                <a:latin typeface="Nunito"/>
                <a:ea typeface="Nunito"/>
                <a:cs typeface="Nunito"/>
                <a:sym typeface="Nunito"/>
              </a:rPr>
              <a:t> en los años 2000, 2010 y 2023?</a:t>
            </a:r>
            <a:endParaRPr sz="1000">
              <a:solidFill>
                <a:schemeClr val="lt1"/>
              </a:solidFill>
              <a:latin typeface="Nunito"/>
              <a:ea typeface="Nunito"/>
              <a:cs typeface="Nunito"/>
              <a:sym typeface="Nunito"/>
            </a:endParaRPr>
          </a:p>
          <a:p>
            <a:pPr indent="0" lvl="0" marL="0" rtl="0" algn="just">
              <a:lnSpc>
                <a:spcPct val="115000"/>
              </a:lnSpc>
              <a:spcBef>
                <a:spcPts val="0"/>
              </a:spcBef>
              <a:spcAft>
                <a:spcPts val="0"/>
              </a:spcAft>
              <a:buClr>
                <a:srgbClr val="000000"/>
              </a:buClr>
              <a:buSzPts val="1000"/>
              <a:buFont typeface="Nunito"/>
              <a:buNone/>
            </a:pPr>
            <a:r>
              <a:t/>
            </a:r>
            <a:endParaRPr b="1" sz="1000">
              <a:latin typeface="Nunito"/>
              <a:ea typeface="Nunito"/>
              <a:cs typeface="Nunito"/>
              <a:sym typeface="Nunito"/>
            </a:endParaRPr>
          </a:p>
          <a:p>
            <a:pPr indent="0" lvl="0" marL="0" rtl="0" algn="just">
              <a:lnSpc>
                <a:spcPct val="115000"/>
              </a:lnSpc>
              <a:spcBef>
                <a:spcPts val="0"/>
              </a:spcBef>
              <a:spcAft>
                <a:spcPts val="0"/>
              </a:spcAft>
              <a:buClr>
                <a:srgbClr val="000000"/>
              </a:buClr>
              <a:buSzPts val="1000"/>
              <a:buFont typeface="Arial"/>
              <a:buNone/>
            </a:pPr>
            <a:r>
              <a:rPr b="1" lang="es" sz="1000">
                <a:latin typeface="Nunito"/>
                <a:ea typeface="Nunito"/>
                <a:cs typeface="Nunito"/>
                <a:sym typeface="Nunito"/>
              </a:rPr>
              <a:t>H1: </a:t>
            </a:r>
            <a:r>
              <a:rPr lang="es" sz="1000">
                <a:latin typeface="Nunito"/>
                <a:ea typeface="Nunito"/>
                <a:cs typeface="Nunito"/>
                <a:sym typeface="Nunito"/>
              </a:rPr>
              <a:t>Los países con niveles altos de inflación presentan un desempeño macroeconómico significativamente diferente al de los países con niveles bajos de inflación.</a:t>
            </a:r>
            <a:endParaRPr sz="1000">
              <a:latin typeface="Nunito"/>
              <a:ea typeface="Nunito"/>
              <a:cs typeface="Nunito"/>
              <a:sym typeface="Nunito"/>
            </a:endParaRPr>
          </a:p>
          <a:p>
            <a:pPr indent="0" lvl="0" marL="0" rtl="0" algn="just">
              <a:lnSpc>
                <a:spcPct val="115000"/>
              </a:lnSpc>
              <a:spcBef>
                <a:spcPts val="0"/>
              </a:spcBef>
              <a:spcAft>
                <a:spcPts val="0"/>
              </a:spcAft>
              <a:buClr>
                <a:srgbClr val="000000"/>
              </a:buClr>
              <a:buSzPts val="1000"/>
              <a:buFont typeface="Nunito"/>
              <a:buNone/>
            </a:pPr>
            <a:r>
              <a:t/>
            </a:r>
            <a:endParaRPr b="1" sz="1000">
              <a:latin typeface="Nunito"/>
              <a:ea typeface="Nunito"/>
              <a:cs typeface="Nunito"/>
              <a:sym typeface="Nunito"/>
            </a:endParaRPr>
          </a:p>
          <a:p>
            <a:pPr indent="0" lvl="0" marL="0" rtl="0" algn="just">
              <a:lnSpc>
                <a:spcPct val="115000"/>
              </a:lnSpc>
              <a:spcBef>
                <a:spcPts val="0"/>
              </a:spcBef>
              <a:spcAft>
                <a:spcPts val="0"/>
              </a:spcAft>
              <a:buClr>
                <a:srgbClr val="000000"/>
              </a:buClr>
              <a:buSzPts val="1000"/>
              <a:buFont typeface="Arial"/>
              <a:buNone/>
            </a:pPr>
            <a:r>
              <a:rPr b="1" lang="es" sz="1000">
                <a:latin typeface="Nunito"/>
                <a:ea typeface="Nunito"/>
                <a:cs typeface="Nunito"/>
                <a:sym typeface="Nunito"/>
              </a:rPr>
              <a:t>H0: </a:t>
            </a:r>
            <a:r>
              <a:rPr lang="es" sz="1000">
                <a:latin typeface="Nunito"/>
                <a:ea typeface="Nunito"/>
                <a:cs typeface="Nunito"/>
                <a:sym typeface="Nunito"/>
              </a:rPr>
              <a:t>Los países con inflación alta y los países con inflación baja muestran un desempeño macroeconómico similar.</a:t>
            </a:r>
            <a:endParaRPr sz="1000">
              <a:latin typeface="Nunito"/>
              <a:ea typeface="Nunito"/>
              <a:cs typeface="Nunito"/>
              <a:sym typeface="Nunito"/>
            </a:endParaRPr>
          </a:p>
          <a:p>
            <a:pPr indent="0" lvl="0" marL="0" rtl="0" algn="just">
              <a:lnSpc>
                <a:spcPct val="115000"/>
              </a:lnSpc>
              <a:spcBef>
                <a:spcPts val="0"/>
              </a:spcBef>
              <a:spcAft>
                <a:spcPts val="0"/>
              </a:spcAft>
              <a:buNone/>
            </a:pPr>
            <a:r>
              <a:t/>
            </a:r>
            <a:endParaRPr sz="1000">
              <a:latin typeface="Nunito"/>
              <a:ea typeface="Nunito"/>
              <a:cs typeface="Nunito"/>
              <a:sym typeface="Nunito"/>
            </a:endParaRPr>
          </a:p>
          <a:p>
            <a:pPr indent="0" lvl="0" marL="0" rtl="0" algn="just">
              <a:lnSpc>
                <a:spcPct val="115000"/>
              </a:lnSpc>
              <a:spcBef>
                <a:spcPts val="0"/>
              </a:spcBef>
              <a:spcAft>
                <a:spcPts val="0"/>
              </a:spcAft>
              <a:buNone/>
            </a:pPr>
            <a:r>
              <a:rPr lang="es" sz="1000">
                <a:latin typeface="Nunito"/>
                <a:ea typeface="Nunito"/>
                <a:cs typeface="Nunito"/>
                <a:sym typeface="Nunito"/>
              </a:rPr>
              <a:t>El trabajo evalúa si los países con inflación alta se comportan macroeconómicamente distinto que aquellos con inflación baja. En particular, se analiza si el crecimiento del PBI, la tasa de desempleo y el gasto público difieren significativamente entre ambos grupos.</a:t>
            </a:r>
            <a:endParaRPr sz="1000">
              <a:latin typeface="Nunito"/>
              <a:ea typeface="Nunito"/>
              <a:cs typeface="Nunito"/>
              <a:sym typeface="Nunito"/>
            </a:endParaRPr>
          </a:p>
          <a:p>
            <a:pPr indent="0" lvl="0" marL="0" rtl="0" algn="just">
              <a:lnSpc>
                <a:spcPct val="115000"/>
              </a:lnSpc>
              <a:spcBef>
                <a:spcPts val="0"/>
              </a:spcBef>
              <a:spcAft>
                <a:spcPts val="0"/>
              </a:spcAft>
              <a:buNone/>
            </a:pPr>
            <a:r>
              <a:t/>
            </a:r>
            <a:endParaRPr sz="1000">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ctrTitle"/>
          </p:nvPr>
        </p:nvSpPr>
        <p:spPr>
          <a:xfrm>
            <a:off x="601475" y="69300"/>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Bases de datos utilizadas</a:t>
            </a:r>
            <a:endParaRPr sz="2800"/>
          </a:p>
        </p:txBody>
      </p:sp>
      <p:sp>
        <p:nvSpPr>
          <p:cNvPr id="296" name="Google Shape;296;p16"/>
          <p:cNvSpPr txBox="1"/>
          <p:nvPr>
            <p:ph idx="4294967295" type="body"/>
          </p:nvPr>
        </p:nvSpPr>
        <p:spPr>
          <a:xfrm>
            <a:off x="601475" y="1038520"/>
            <a:ext cx="7397100" cy="3550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000">
                <a:solidFill>
                  <a:srgbClr val="000000"/>
                </a:solidFill>
              </a:rPr>
              <a:t>Se utilizaron bases provenientes del Banco Mundial, las cuales contienen datos oficiales elaborados por organismos multilaterales.</a:t>
            </a:r>
            <a:endParaRPr sz="1000"/>
          </a:p>
          <a:p>
            <a:pPr indent="0" lvl="0" marL="0" rtl="0" algn="just">
              <a:spcBef>
                <a:spcPts val="0"/>
              </a:spcBef>
              <a:spcAft>
                <a:spcPts val="0"/>
              </a:spcAft>
              <a:buNone/>
            </a:pPr>
            <a:r>
              <a:rPr lang="es" sz="1000"/>
              <a:t> </a:t>
            </a:r>
            <a:endParaRPr sz="1000"/>
          </a:p>
          <a:p>
            <a:pPr indent="-292100" lvl="0" marL="457200" rtl="0" algn="just">
              <a:spcBef>
                <a:spcPts val="0"/>
              </a:spcBef>
              <a:spcAft>
                <a:spcPts val="0"/>
              </a:spcAft>
              <a:buClr>
                <a:srgbClr val="000000"/>
              </a:buClr>
              <a:buSzPts val="1000"/>
              <a:buFont typeface="Arial"/>
              <a:buAutoNum type="arabicParenR"/>
            </a:pPr>
            <a:r>
              <a:rPr b="1" lang="es" sz="1000">
                <a:solidFill>
                  <a:srgbClr val="000000"/>
                </a:solidFill>
              </a:rPr>
              <a:t>Inflación precios al consumidor (% anual):</a:t>
            </a:r>
            <a:r>
              <a:rPr lang="es" sz="1000">
                <a:solidFill>
                  <a:srgbClr val="000000"/>
                </a:solidFill>
              </a:rPr>
              <a:t> Representa la variación porcentual anual del índice de precios al consumidor (IPC) promedio para el conjunto de bienes y servicios que adquieren los hogares. </a:t>
            </a:r>
            <a:endParaRPr sz="1000">
              <a:solidFill>
                <a:srgbClr val="000000"/>
              </a:solidFill>
            </a:endParaRPr>
          </a:p>
          <a:p>
            <a:pPr indent="-292100" lvl="0" marL="457200" rtl="0" algn="just">
              <a:spcBef>
                <a:spcPts val="0"/>
              </a:spcBef>
              <a:spcAft>
                <a:spcPts val="0"/>
              </a:spcAft>
              <a:buClr>
                <a:srgbClr val="000000"/>
              </a:buClr>
              <a:buSzPts val="1000"/>
              <a:buFont typeface="Arial"/>
              <a:buAutoNum type="arabicParenR"/>
            </a:pPr>
            <a:r>
              <a:rPr b="1" lang="es" sz="1000">
                <a:solidFill>
                  <a:srgbClr val="000000"/>
                </a:solidFill>
              </a:rPr>
              <a:t>Crecimiento del PIB (% anual): </a:t>
            </a:r>
            <a:r>
              <a:rPr lang="es" sz="1000">
                <a:solidFill>
                  <a:srgbClr val="000000"/>
                </a:solidFill>
              </a:rPr>
              <a:t>El crecimiento del PIB es la tasa de variación porcentual anual del Producto Interno Bruto a precios constantes del año base (expresado en dólares internacionales de 2015). Mide el crecimiento real de la producción total de bienes y servicios en la economía. </a:t>
            </a:r>
            <a:endParaRPr sz="1000">
              <a:solidFill>
                <a:srgbClr val="000000"/>
              </a:solidFill>
            </a:endParaRPr>
          </a:p>
          <a:p>
            <a:pPr indent="-292100" lvl="0" marL="457200" rtl="0" algn="just">
              <a:spcBef>
                <a:spcPts val="0"/>
              </a:spcBef>
              <a:spcAft>
                <a:spcPts val="0"/>
              </a:spcAft>
              <a:buClr>
                <a:srgbClr val="000000"/>
              </a:buClr>
              <a:buSzPts val="1000"/>
              <a:buFont typeface="Arial"/>
              <a:buAutoNum type="arabicParenR"/>
            </a:pPr>
            <a:r>
              <a:rPr b="1" lang="es" sz="1000">
                <a:solidFill>
                  <a:srgbClr val="000000"/>
                </a:solidFill>
              </a:rPr>
              <a:t>Inflación deflactor del PIB (% anual): </a:t>
            </a:r>
            <a:r>
              <a:rPr lang="es" sz="1000">
                <a:solidFill>
                  <a:srgbClr val="000000"/>
                </a:solidFill>
              </a:rPr>
              <a:t>El deflactor del PIB (o GDP deflator) es un índice de precios que mide cuánto cambiaron los precios de todos los bienes y servicios producidos dentro del país entre un año y otro. Es una medida amplia de la inflación interna, no solo del consumo de los hogares, sino de toda la economía. Esta conviene usarla como variable explicada en un modelo más robusto capaz </a:t>
            </a:r>
            <a:endParaRPr sz="1000">
              <a:solidFill>
                <a:srgbClr val="000000"/>
              </a:solidFill>
            </a:endParaRPr>
          </a:p>
          <a:p>
            <a:pPr indent="-292100" lvl="0" marL="457200" rtl="0" algn="just">
              <a:spcBef>
                <a:spcPts val="0"/>
              </a:spcBef>
              <a:spcAft>
                <a:spcPts val="0"/>
              </a:spcAft>
              <a:buClr>
                <a:srgbClr val="000000"/>
              </a:buClr>
              <a:buSzPts val="1000"/>
              <a:buFont typeface="Arial"/>
              <a:buAutoNum type="arabicParenR"/>
            </a:pPr>
            <a:r>
              <a:rPr b="1" lang="es" sz="1000">
                <a:solidFill>
                  <a:srgbClr val="000000"/>
                </a:solidFill>
              </a:rPr>
              <a:t>Desempleo total (% de la fuerza laboral):</a:t>
            </a:r>
            <a:r>
              <a:rPr lang="es" sz="1000">
                <a:solidFill>
                  <a:srgbClr val="000000"/>
                </a:solidFill>
              </a:rPr>
              <a:t> Es el porcentaje de la población económicamente activa que está desempleada, según las definiciones armonizadas de la Organización Internacional del Trabajo (OIT).</a:t>
            </a:r>
            <a:br>
              <a:rPr lang="es" sz="1000">
                <a:solidFill>
                  <a:srgbClr val="000000"/>
                </a:solidFill>
              </a:rPr>
            </a:br>
            <a:r>
              <a:rPr lang="es" sz="1000">
                <a:solidFill>
                  <a:srgbClr val="000000"/>
                </a:solidFill>
              </a:rPr>
              <a:t> Incluye tanto hombres como mujeres mayores de 15 años que: No tienen trabajo remunerado o independiente, están disponibles para trabajar, están buscando empleo activamente.</a:t>
            </a:r>
            <a:endParaRPr sz="1000">
              <a:solidFill>
                <a:srgbClr val="000000"/>
              </a:solidFill>
            </a:endParaRPr>
          </a:p>
          <a:p>
            <a:pPr indent="-292100" lvl="0" marL="457200" rtl="0" algn="just">
              <a:spcBef>
                <a:spcPts val="0"/>
              </a:spcBef>
              <a:spcAft>
                <a:spcPts val="0"/>
              </a:spcAft>
              <a:buClr>
                <a:srgbClr val="000000"/>
              </a:buClr>
              <a:buSzPts val="1000"/>
              <a:buFont typeface="Arial"/>
              <a:buAutoNum type="arabicParenR"/>
            </a:pPr>
            <a:r>
              <a:rPr b="1" lang="es" sz="1000">
                <a:solidFill>
                  <a:srgbClr val="000000"/>
                </a:solidFill>
              </a:rPr>
              <a:t>Gasto de consumo final del gobierno general (% del crecimiento anual): </a:t>
            </a:r>
            <a:r>
              <a:rPr lang="es" sz="1000">
                <a:solidFill>
                  <a:srgbClr val="000000"/>
                </a:solidFill>
              </a:rPr>
              <a:t>Mide la tasa de variación anual, en términos reales (ajustados por inflación), del gasto de consumo final del gobierno general. </a:t>
            </a:r>
            <a:endParaRPr sz="10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ctrTitle"/>
          </p:nvPr>
        </p:nvSpPr>
        <p:spPr>
          <a:xfrm>
            <a:off x="626650" y="94639"/>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id="302" name="Google Shape;302;p17"/>
          <p:cNvSpPr txBox="1"/>
          <p:nvPr>
            <p:ph idx="4294967295" type="body"/>
          </p:nvPr>
        </p:nvSpPr>
        <p:spPr>
          <a:xfrm>
            <a:off x="626650" y="982889"/>
            <a:ext cx="7030500" cy="3934800"/>
          </a:xfrm>
          <a:prstGeom prst="rect">
            <a:avLst/>
          </a:prstGeom>
        </p:spPr>
        <p:txBody>
          <a:bodyPr anchorCtr="0" anchor="t" bIns="91425" lIns="91425" spcFirstLastPara="1" rIns="91425" wrap="square" tIns="91425">
            <a:noAutofit/>
          </a:bodyPr>
          <a:lstStyle/>
          <a:p>
            <a:pPr indent="-292100" lvl="0" marL="457200" rtl="0" algn="just">
              <a:lnSpc>
                <a:spcPct val="115000"/>
              </a:lnSpc>
              <a:spcBef>
                <a:spcPts val="0"/>
              </a:spcBef>
              <a:spcAft>
                <a:spcPts val="0"/>
              </a:spcAft>
              <a:buClr>
                <a:srgbClr val="000000"/>
              </a:buClr>
              <a:buSzPts val="1000"/>
              <a:buAutoNum type="arabicParenR"/>
            </a:pPr>
            <a:r>
              <a:rPr b="1" lang="es" sz="1000" u="sng">
                <a:solidFill>
                  <a:srgbClr val="000000"/>
                </a:solidFill>
              </a:rPr>
              <a:t>Importación y limpieza:</a:t>
            </a:r>
            <a:r>
              <a:rPr b="1" lang="es" sz="1000">
                <a:solidFill>
                  <a:srgbClr val="000000"/>
                </a:solidFill>
              </a:rPr>
              <a:t> </a:t>
            </a:r>
            <a:r>
              <a:rPr lang="es" sz="1000">
                <a:solidFill>
                  <a:srgbClr val="000000"/>
                </a:solidFill>
              </a:rPr>
              <a:t>El primer paso del proyecto consistió en la importación, estandarización y depuración de las bases de datos del Banco Mundial correspondientes a los indicadores macroeconómicos seleccionados. Todas las tareas se desarrollaron en R utilizando los paquetes </a:t>
            </a:r>
            <a:r>
              <a:rPr i="1" lang="es" sz="1000">
                <a:solidFill>
                  <a:srgbClr val="000000"/>
                </a:solidFill>
              </a:rPr>
              <a:t>tidyverse</a:t>
            </a:r>
            <a:r>
              <a:rPr lang="es" sz="1000">
                <a:solidFill>
                  <a:srgbClr val="000000"/>
                </a:solidFill>
              </a:rPr>
              <a:t>, </a:t>
            </a:r>
            <a:r>
              <a:rPr i="1" lang="es" sz="1000">
                <a:solidFill>
                  <a:srgbClr val="000000"/>
                </a:solidFill>
              </a:rPr>
              <a:t>readxl</a:t>
            </a:r>
            <a:r>
              <a:rPr lang="es" sz="1000">
                <a:solidFill>
                  <a:srgbClr val="000000"/>
                </a:solidFill>
              </a:rPr>
              <a:t>, </a:t>
            </a:r>
            <a:r>
              <a:rPr i="1" lang="es" sz="1000">
                <a:solidFill>
                  <a:srgbClr val="000000"/>
                </a:solidFill>
              </a:rPr>
              <a:t>janitor</a:t>
            </a:r>
            <a:r>
              <a:rPr lang="es" sz="1000">
                <a:solidFill>
                  <a:srgbClr val="000000"/>
                </a:solidFill>
              </a:rPr>
              <a:t> y </a:t>
            </a:r>
            <a:r>
              <a:rPr i="1" lang="es" sz="1000">
                <a:solidFill>
                  <a:srgbClr val="000000"/>
                </a:solidFill>
              </a:rPr>
              <a:t>stringr</a:t>
            </a:r>
            <a:r>
              <a:rPr lang="es" sz="1000">
                <a:solidFill>
                  <a:srgbClr val="000000"/>
                </a:solidFill>
              </a:rPr>
              <a:t>, lo que permitió automatizar la extracción y garantizar consistencia en los resultados. </a:t>
            </a:r>
            <a:br>
              <a:rPr lang="es" sz="1000">
                <a:solidFill>
                  <a:srgbClr val="000000"/>
                </a:solidFill>
              </a:rPr>
            </a:br>
            <a:br>
              <a:rPr lang="es" sz="1000">
                <a:solidFill>
                  <a:srgbClr val="000000"/>
                </a:solidFill>
              </a:rPr>
            </a:br>
            <a:r>
              <a:rPr lang="es" sz="1000">
                <a:solidFill>
                  <a:srgbClr val="000000"/>
                </a:solidFill>
              </a:rPr>
              <a:t>Para evitar repetir código y asegurar un tratamiento homogéneo entre bases, se definió una función general de limpieza, llamada </a:t>
            </a:r>
            <a:r>
              <a:rPr b="1" lang="es" sz="1000">
                <a:solidFill>
                  <a:srgbClr val="000000"/>
                </a:solidFill>
              </a:rPr>
              <a:t>limpiar_wb().</a:t>
            </a:r>
            <a:br>
              <a:rPr lang="es" sz="1000">
                <a:solidFill>
                  <a:srgbClr val="000000"/>
                </a:solidFill>
              </a:rPr>
            </a:br>
            <a:br>
              <a:rPr lang="es" sz="1000">
                <a:solidFill>
                  <a:srgbClr val="000000"/>
                </a:solidFill>
              </a:rPr>
            </a:br>
            <a:r>
              <a:rPr b="1" lang="es" sz="1000">
                <a:solidFill>
                  <a:srgbClr val="000000"/>
                </a:solidFill>
              </a:rPr>
              <a:t>Esta función permitió:</a:t>
            </a:r>
            <a:endParaRPr b="1"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Importar cada archivo Excel utilizando </a:t>
            </a:r>
            <a:r>
              <a:rPr b="1" lang="es" sz="1000">
                <a:solidFill>
                  <a:srgbClr val="000000"/>
                </a:solidFill>
              </a:rPr>
              <a:t>read_excel()</a:t>
            </a:r>
            <a:r>
              <a:rPr lang="es" sz="1000">
                <a:solidFill>
                  <a:srgbClr val="000000"/>
                </a:solidFill>
              </a:rPr>
              <a:t>, omitiendo filas iniciales sin datos útiles (skip = 3).</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Estandarizar nombres de columnas con </a:t>
            </a:r>
            <a:r>
              <a:rPr b="1" lang="es" sz="1000">
                <a:solidFill>
                  <a:srgbClr val="000000"/>
                </a:solidFill>
              </a:rPr>
              <a:t>clean_names().</a:t>
            </a:r>
            <a:endParaRPr b="1"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Seleccionar columnas relevantes, específicamente:</a:t>
            </a:r>
            <a:endParaRPr sz="1000">
              <a:solidFill>
                <a:srgbClr val="000000"/>
              </a:solidFill>
            </a:endParaRPr>
          </a:p>
          <a:p>
            <a:pPr indent="-292100" lvl="1" marL="914400" rtl="0" algn="just">
              <a:spcBef>
                <a:spcPts val="0"/>
              </a:spcBef>
              <a:spcAft>
                <a:spcPts val="0"/>
              </a:spcAft>
              <a:buClr>
                <a:srgbClr val="000000"/>
              </a:buClr>
              <a:buSzPts val="1000"/>
              <a:buFont typeface="Arial"/>
              <a:buChar char="○"/>
            </a:pPr>
            <a:r>
              <a:rPr lang="es" sz="1000">
                <a:solidFill>
                  <a:srgbClr val="000000"/>
                </a:solidFill>
              </a:rPr>
              <a:t>nombre del país </a:t>
            </a:r>
            <a:r>
              <a:rPr b="1" lang="es" sz="1000">
                <a:solidFill>
                  <a:srgbClr val="000000"/>
                </a:solidFill>
              </a:rPr>
              <a:t>(country_name)</a:t>
            </a:r>
            <a:endParaRPr b="1" sz="1000">
              <a:solidFill>
                <a:srgbClr val="000000"/>
              </a:solidFill>
            </a:endParaRPr>
          </a:p>
          <a:p>
            <a:pPr indent="-292100" lvl="1" marL="914400" rtl="0" algn="just">
              <a:spcBef>
                <a:spcPts val="0"/>
              </a:spcBef>
              <a:spcAft>
                <a:spcPts val="0"/>
              </a:spcAft>
              <a:buClr>
                <a:srgbClr val="000000"/>
              </a:buClr>
              <a:buSzPts val="1000"/>
              <a:buFont typeface="Arial"/>
              <a:buChar char="○"/>
            </a:pPr>
            <a:r>
              <a:rPr lang="es" sz="1000">
                <a:solidFill>
                  <a:srgbClr val="000000"/>
                </a:solidFill>
              </a:rPr>
              <a:t>código ISO </a:t>
            </a:r>
            <a:r>
              <a:rPr b="1" lang="es" sz="1000">
                <a:solidFill>
                  <a:srgbClr val="000000"/>
                </a:solidFill>
              </a:rPr>
              <a:t>(country_code)</a:t>
            </a:r>
            <a:endParaRPr b="1" sz="1000">
              <a:solidFill>
                <a:srgbClr val="000000"/>
              </a:solidFill>
            </a:endParaRPr>
          </a:p>
          <a:p>
            <a:pPr indent="-292100" lvl="1" marL="914400" rtl="0" algn="just">
              <a:spcBef>
                <a:spcPts val="0"/>
              </a:spcBef>
              <a:spcAft>
                <a:spcPts val="0"/>
              </a:spcAft>
              <a:buClr>
                <a:srgbClr val="000000"/>
              </a:buClr>
              <a:buSzPts val="1000"/>
              <a:buFont typeface="Nunito"/>
              <a:buChar char="○"/>
            </a:pPr>
            <a:r>
              <a:rPr lang="es" sz="1000">
                <a:solidFill>
                  <a:srgbClr val="000000"/>
                </a:solidFill>
              </a:rPr>
              <a:t>columnas numéricas correspondientes a cada año.</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Transformar la tabla de formato ancho a formato largo mediante </a:t>
            </a:r>
            <a:r>
              <a:rPr b="1" lang="es" sz="1000">
                <a:solidFill>
                  <a:srgbClr val="000000"/>
                </a:solidFill>
              </a:rPr>
              <a:t>pivot_longer().</a:t>
            </a:r>
            <a:endParaRPr b="1"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Convertir los años a formato numérico (limpiando símbolos con </a:t>
            </a:r>
            <a:r>
              <a:rPr b="1" lang="es" sz="1000">
                <a:solidFill>
                  <a:srgbClr val="000000"/>
                </a:solidFill>
              </a:rPr>
              <a:t>gsub()).</a:t>
            </a:r>
            <a:endParaRPr b="1"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Renombrar el valor de la variable según corresponda (inflación, crecimiento, etc.).</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Filtrar únicamente los años analizados (2000, 2010, 2023).</a:t>
            </a:r>
            <a:endParaRPr sz="1000">
              <a:solidFill>
                <a:srgbClr val="000000"/>
              </a:solidFill>
            </a:endParaRPr>
          </a:p>
          <a:p>
            <a:pPr indent="0" lvl="0" marL="0" rtl="0" algn="just">
              <a:spcBef>
                <a:spcPts val="1200"/>
              </a:spcBef>
              <a:spcAft>
                <a:spcPts val="1200"/>
              </a:spcAft>
              <a:buNone/>
            </a:pPr>
            <a:r>
              <a:t/>
            </a:r>
            <a:endParaRPr sz="10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ctrTitle"/>
          </p:nvPr>
        </p:nvSpPr>
        <p:spPr>
          <a:xfrm>
            <a:off x="626650" y="228236"/>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id="308" name="Google Shape;308;p18"/>
          <p:cNvSpPr txBox="1"/>
          <p:nvPr>
            <p:ph idx="4294967295" type="body"/>
          </p:nvPr>
        </p:nvSpPr>
        <p:spPr>
          <a:xfrm>
            <a:off x="680350" y="1156500"/>
            <a:ext cx="7030500" cy="3987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es" sz="1000">
                <a:solidFill>
                  <a:srgbClr val="000000"/>
                </a:solidFill>
              </a:rPr>
              <a:t>Una vez procesadas todas las bases, se exportaron los archivos limpios en formato </a:t>
            </a:r>
            <a:r>
              <a:rPr b="1" lang="es" sz="1000">
                <a:solidFill>
                  <a:srgbClr val="000000"/>
                </a:solidFill>
              </a:rPr>
              <a:t>.csv</a:t>
            </a:r>
            <a:r>
              <a:rPr lang="es" sz="1000">
                <a:solidFill>
                  <a:srgbClr val="000000"/>
                </a:solidFill>
              </a:rPr>
              <a:t> dentro de la carpeta data/clean/, garantizando su disponibilidad para las siguientes etapas del proyecto (tratamiento de outliers, descriptivas y análisis econométrico).</a:t>
            </a:r>
            <a:endParaRPr sz="1000">
              <a:solidFill>
                <a:srgbClr val="000000"/>
              </a:solidFill>
            </a:endParaRPr>
          </a:p>
          <a:p>
            <a:pPr indent="0" lvl="0" marL="0" rtl="0" algn="just">
              <a:spcBef>
                <a:spcPts val="1200"/>
              </a:spcBef>
              <a:spcAft>
                <a:spcPts val="0"/>
              </a:spcAft>
              <a:buNone/>
            </a:pPr>
            <a:r>
              <a:rPr lang="es" sz="1000">
                <a:solidFill>
                  <a:srgbClr val="000000"/>
                </a:solidFill>
              </a:rPr>
              <a:t>Los archivos generados fueron:</a:t>
            </a:r>
            <a:endParaRPr sz="1000">
              <a:solidFill>
                <a:srgbClr val="000000"/>
              </a:solidFill>
            </a:endParaRPr>
          </a:p>
          <a:p>
            <a:pPr indent="-292100" lvl="0" marL="457200" rtl="0" algn="just">
              <a:spcBef>
                <a:spcPts val="1200"/>
              </a:spcBef>
              <a:spcAft>
                <a:spcPts val="0"/>
              </a:spcAft>
              <a:buClr>
                <a:srgbClr val="000000"/>
              </a:buClr>
              <a:buSzPts val="1000"/>
              <a:buFont typeface="Nunito"/>
              <a:buChar char="●"/>
            </a:pPr>
            <a:r>
              <a:rPr i="1" lang="es" sz="1000">
                <a:solidFill>
                  <a:srgbClr val="000000"/>
                </a:solidFill>
              </a:rPr>
              <a:t>inflacion_deflactor.csv</a:t>
            </a:r>
            <a:endParaRPr i="1" sz="1000">
              <a:solidFill>
                <a:srgbClr val="000000"/>
              </a:solidFill>
            </a:endParaRPr>
          </a:p>
          <a:p>
            <a:pPr indent="-292100" lvl="0" marL="457200" rtl="0" algn="just">
              <a:spcBef>
                <a:spcPts val="0"/>
              </a:spcBef>
              <a:spcAft>
                <a:spcPts val="0"/>
              </a:spcAft>
              <a:buClr>
                <a:srgbClr val="000000"/>
              </a:buClr>
              <a:buSzPts val="1000"/>
              <a:buFont typeface="Nunito"/>
              <a:buChar char="●"/>
            </a:pPr>
            <a:r>
              <a:rPr i="1" lang="es" sz="1000">
                <a:solidFill>
                  <a:srgbClr val="000000"/>
                </a:solidFill>
              </a:rPr>
              <a:t>PBI_crecimiento.csv</a:t>
            </a:r>
            <a:endParaRPr i="1" sz="1000">
              <a:solidFill>
                <a:srgbClr val="000000"/>
              </a:solidFill>
            </a:endParaRPr>
          </a:p>
          <a:p>
            <a:pPr indent="-292100" lvl="0" marL="457200" rtl="0" algn="just">
              <a:spcBef>
                <a:spcPts val="0"/>
              </a:spcBef>
              <a:spcAft>
                <a:spcPts val="0"/>
              </a:spcAft>
              <a:buClr>
                <a:srgbClr val="000000"/>
              </a:buClr>
              <a:buSzPts val="1000"/>
              <a:buFont typeface="Nunito"/>
              <a:buChar char="●"/>
            </a:pPr>
            <a:r>
              <a:rPr i="1" lang="es" sz="1000">
                <a:solidFill>
                  <a:srgbClr val="000000"/>
                </a:solidFill>
              </a:rPr>
              <a:t>desempleo.csv</a:t>
            </a:r>
            <a:endParaRPr i="1" sz="1000">
              <a:solidFill>
                <a:srgbClr val="000000"/>
              </a:solidFill>
            </a:endParaRPr>
          </a:p>
          <a:p>
            <a:pPr indent="-292100" lvl="0" marL="457200" rtl="0" algn="just">
              <a:spcBef>
                <a:spcPts val="0"/>
              </a:spcBef>
              <a:spcAft>
                <a:spcPts val="0"/>
              </a:spcAft>
              <a:buClr>
                <a:srgbClr val="000000"/>
              </a:buClr>
              <a:buSzPts val="1000"/>
              <a:buFont typeface="Nunito"/>
              <a:buChar char="●"/>
            </a:pPr>
            <a:r>
              <a:rPr i="1" lang="es" sz="1000">
                <a:solidFill>
                  <a:srgbClr val="000000"/>
                </a:solidFill>
              </a:rPr>
              <a:t>gasto_publico.csv</a:t>
            </a:r>
            <a:endParaRPr i="1" sz="1000">
              <a:solidFill>
                <a:srgbClr val="000000"/>
              </a:solidFill>
            </a:endParaRPr>
          </a:p>
          <a:p>
            <a:pPr indent="-292100" lvl="0" marL="457200" rtl="0" algn="just">
              <a:spcBef>
                <a:spcPts val="0"/>
              </a:spcBef>
              <a:spcAft>
                <a:spcPts val="0"/>
              </a:spcAft>
              <a:buClr>
                <a:srgbClr val="000000"/>
              </a:buClr>
              <a:buSzPts val="1000"/>
              <a:buFont typeface="Nunito"/>
              <a:buChar char="●"/>
            </a:pPr>
            <a:r>
              <a:rPr i="1" lang="es" sz="1000">
                <a:solidFill>
                  <a:srgbClr val="000000"/>
                </a:solidFill>
              </a:rPr>
              <a:t>tasa_de_cambio_raw.csv</a:t>
            </a:r>
            <a:endParaRPr i="1" sz="1000">
              <a:solidFill>
                <a:srgbClr val="000000"/>
              </a:solidFill>
            </a:endParaRPr>
          </a:p>
          <a:p>
            <a:pPr indent="0" lvl="0" marL="0" rtl="0" algn="just">
              <a:spcBef>
                <a:spcPts val="1200"/>
              </a:spcBef>
              <a:spcAft>
                <a:spcPts val="0"/>
              </a:spcAft>
              <a:buNone/>
            </a:pPr>
            <a:r>
              <a:rPr lang="es" sz="1000">
                <a:solidFill>
                  <a:srgbClr val="000000"/>
                </a:solidFill>
              </a:rPr>
              <a:t>Cada uno contiene únicamente:</a:t>
            </a:r>
            <a:endParaRPr sz="1000">
              <a:solidFill>
                <a:srgbClr val="000000"/>
              </a:solidFill>
            </a:endParaRPr>
          </a:p>
          <a:p>
            <a:pPr indent="-292100" lvl="0" marL="457200" rtl="0" algn="just">
              <a:spcBef>
                <a:spcPts val="1200"/>
              </a:spcBef>
              <a:spcAft>
                <a:spcPts val="0"/>
              </a:spcAft>
              <a:buClr>
                <a:srgbClr val="000000"/>
              </a:buClr>
              <a:buSzPts val="1000"/>
              <a:buFont typeface="Nunito"/>
              <a:buChar char="●"/>
            </a:pPr>
            <a:r>
              <a:rPr lang="es" sz="1000">
                <a:solidFill>
                  <a:srgbClr val="000000"/>
                </a:solidFill>
              </a:rPr>
              <a:t>país</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código de país</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año (2000/2010/2023)</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valor numérico estandarizado</a:t>
            </a:r>
            <a:endParaRPr sz="1000">
              <a:solidFill>
                <a:srgbClr val="000000"/>
              </a:solidFill>
            </a:endParaRPr>
          </a:p>
          <a:p>
            <a:pPr indent="0" lvl="0" marL="0" rtl="0" algn="just">
              <a:spcBef>
                <a:spcPts val="1200"/>
              </a:spcBef>
              <a:spcAft>
                <a:spcPts val="1200"/>
              </a:spcAft>
              <a:buNone/>
            </a:pPr>
            <a:r>
              <a:rPr lang="es" sz="1000">
                <a:solidFill>
                  <a:srgbClr val="000000"/>
                </a:solidFill>
              </a:rPr>
              <a:t>Esta etapa sienta las bases para la construcción de la base unificada, la detección de outliers, el análisis descriptivo y las regresiones que componen el núcleo del proyecto.</a:t>
            </a:r>
            <a:endParaRPr sz="10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ctrTitle"/>
          </p:nvPr>
        </p:nvSpPr>
        <p:spPr>
          <a:xfrm>
            <a:off x="626650" y="228236"/>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14" name="Google Shape;314;p19"/>
          <p:cNvSpPr txBox="1"/>
          <p:nvPr>
            <p:ph idx="4294967295" type="body"/>
          </p:nvPr>
        </p:nvSpPr>
        <p:spPr>
          <a:xfrm>
            <a:off x="626650" y="1156500"/>
            <a:ext cx="7030500" cy="3987000"/>
          </a:xfrm>
          <a:prstGeom prst="rect">
            <a:avLst/>
          </a:prstGeom>
        </p:spPr>
        <p:txBody>
          <a:bodyPr anchorCtr="0" anchor="t" bIns="91425" lIns="91425" spcFirstLastPara="1" rIns="91425" wrap="square" tIns="91425">
            <a:normAutofit/>
          </a:bodyPr>
          <a:lstStyle/>
          <a:p>
            <a:pPr indent="-292100" lvl="0" marL="457200" rtl="0" algn="just">
              <a:spcBef>
                <a:spcPts val="1200"/>
              </a:spcBef>
              <a:spcAft>
                <a:spcPts val="0"/>
              </a:spcAft>
              <a:buClr>
                <a:srgbClr val="000000"/>
              </a:buClr>
              <a:buSzPts val="1000"/>
              <a:buAutoNum type="arabicParenR" startAt="2"/>
            </a:pPr>
            <a:r>
              <a:rPr b="1" lang="es" sz="1000" u="sng">
                <a:solidFill>
                  <a:srgbClr val="000000"/>
                </a:solidFill>
              </a:rPr>
              <a:t>Tratamiento de outliers y datos faltantes:</a:t>
            </a:r>
            <a:r>
              <a:rPr lang="es" sz="1000">
                <a:solidFill>
                  <a:srgbClr val="000000"/>
                </a:solidFill>
              </a:rPr>
              <a:t> Esta sección describe los procedimientos aplicados para identificar, analizar y tratar valores faltantes y valores atípicos (outliers) en las variables macroeconómicas del estudio. La correcta detección y tratamiento de estos elementos resulta esencial para garantizar la calidad estadística del análisis posterior y la interpretación válida de los resultados.</a:t>
            </a:r>
            <a:endParaRPr sz="1000">
              <a:solidFill>
                <a:srgbClr val="000000"/>
              </a:solidFill>
            </a:endParaRPr>
          </a:p>
          <a:p>
            <a:pPr indent="0" lvl="0" marL="457200" rtl="0" algn="just">
              <a:spcBef>
                <a:spcPts val="1200"/>
              </a:spcBef>
              <a:spcAft>
                <a:spcPts val="0"/>
              </a:spcAft>
              <a:buNone/>
            </a:pPr>
            <a:r>
              <a:rPr lang="es" sz="1000">
                <a:solidFill>
                  <a:srgbClr val="000000"/>
                </a:solidFill>
              </a:rPr>
              <a:t>Se importaron las bases previamente procesadas en la etapa de limpieza y estas se integraron en una estructura de listas </a:t>
            </a:r>
            <a:r>
              <a:rPr i="1" lang="es" sz="1000">
                <a:solidFill>
                  <a:srgbClr val="000000"/>
                </a:solidFill>
              </a:rPr>
              <a:t>(bases_juntas)</a:t>
            </a:r>
            <a:r>
              <a:rPr lang="es" sz="1000">
                <a:solidFill>
                  <a:srgbClr val="000000"/>
                </a:solidFill>
              </a:rPr>
              <a:t> con el objetivo de:</a:t>
            </a:r>
            <a:endParaRPr sz="1000">
              <a:solidFill>
                <a:srgbClr val="000000"/>
              </a:solidFill>
            </a:endParaRPr>
          </a:p>
          <a:p>
            <a:pPr indent="-292100" lvl="0" marL="914400" rtl="0" algn="just">
              <a:spcBef>
                <a:spcPts val="1200"/>
              </a:spcBef>
              <a:spcAft>
                <a:spcPts val="0"/>
              </a:spcAft>
              <a:buClr>
                <a:srgbClr val="000000"/>
              </a:buClr>
              <a:buSzPts val="1000"/>
              <a:buFont typeface="Nunito"/>
              <a:buChar char="●"/>
            </a:pPr>
            <a:r>
              <a:rPr lang="es" sz="1000">
                <a:solidFill>
                  <a:srgbClr val="000000"/>
                </a:solidFill>
              </a:rPr>
              <a:t>aplicar funciones de inspección de forma homogénea;</a:t>
            </a:r>
            <a:endParaRPr sz="1000">
              <a:solidFill>
                <a:srgbClr val="000000"/>
              </a:solidFill>
            </a:endParaRPr>
          </a:p>
          <a:p>
            <a:pPr indent="-292100" lvl="0" marL="914400" rtl="0" algn="just">
              <a:spcBef>
                <a:spcPts val="0"/>
              </a:spcBef>
              <a:spcAft>
                <a:spcPts val="0"/>
              </a:spcAft>
              <a:buClr>
                <a:srgbClr val="000000"/>
              </a:buClr>
              <a:buSzPts val="1000"/>
              <a:buFont typeface="Arial"/>
              <a:buChar char="●"/>
            </a:pPr>
            <a:r>
              <a:rPr lang="es" sz="1000">
                <a:solidFill>
                  <a:srgbClr val="000000"/>
                </a:solidFill>
              </a:rPr>
              <a:t>simplificar código mediante </a:t>
            </a:r>
            <a:r>
              <a:rPr i="1" lang="es" sz="1000">
                <a:solidFill>
                  <a:srgbClr val="000000"/>
                </a:solidFill>
              </a:rPr>
              <a:t>lapply() y map();</a:t>
            </a:r>
            <a:endParaRPr i="1" sz="1000">
              <a:solidFill>
                <a:srgbClr val="000000"/>
              </a:solidFill>
            </a:endParaRPr>
          </a:p>
          <a:p>
            <a:pPr indent="-292100" lvl="0" marL="914400" rtl="0" algn="just">
              <a:spcBef>
                <a:spcPts val="0"/>
              </a:spcBef>
              <a:spcAft>
                <a:spcPts val="0"/>
              </a:spcAft>
              <a:buClr>
                <a:srgbClr val="000000"/>
              </a:buClr>
              <a:buSzPts val="1000"/>
              <a:buFont typeface="Nunito"/>
              <a:buChar char="●"/>
            </a:pPr>
            <a:r>
              <a:rPr lang="es" sz="1000">
                <a:solidFill>
                  <a:srgbClr val="000000"/>
                </a:solidFill>
              </a:rPr>
              <a:t>asegurar un tratamiento idéntico en variables de distinta naturaleza.</a:t>
            </a:r>
            <a:endParaRPr sz="1000">
              <a:solidFill>
                <a:srgbClr val="000000"/>
              </a:solidFill>
            </a:endParaRPr>
          </a:p>
          <a:p>
            <a:pPr indent="457200" lvl="0" marL="0" rtl="0" algn="just">
              <a:spcBef>
                <a:spcPts val="1200"/>
              </a:spcBef>
              <a:spcAft>
                <a:spcPts val="0"/>
              </a:spcAft>
              <a:buNone/>
            </a:pPr>
            <a:r>
              <a:rPr lang="es" sz="1000">
                <a:solidFill>
                  <a:srgbClr val="000000"/>
                </a:solidFill>
              </a:rPr>
              <a:t>Cada dataset contiene únicamente país, año y el valor numérico correspondiente.</a:t>
            </a:r>
            <a:endParaRPr sz="1000">
              <a:solidFill>
                <a:srgbClr val="000000"/>
              </a:solidFill>
            </a:endParaRPr>
          </a:p>
          <a:p>
            <a:pPr indent="0" lvl="0" marL="457200" rtl="0" algn="just">
              <a:spcBef>
                <a:spcPts val="1200"/>
              </a:spcBef>
              <a:spcAft>
                <a:spcPts val="0"/>
              </a:spcAft>
              <a:buNone/>
            </a:pPr>
            <a:r>
              <a:rPr lang="es" sz="1000">
                <a:solidFill>
                  <a:srgbClr val="000000"/>
                </a:solidFill>
              </a:rPr>
              <a:t>Mediante </a:t>
            </a:r>
            <a:r>
              <a:rPr i="1" lang="es" sz="1000">
                <a:solidFill>
                  <a:srgbClr val="000000"/>
                </a:solidFill>
              </a:rPr>
              <a:t>resumen_dataset</a:t>
            </a:r>
            <a:r>
              <a:rPr lang="es" sz="1000">
                <a:solidFill>
                  <a:srgbClr val="000000"/>
                </a:solidFill>
              </a:rPr>
              <a:t>, se realizó una primera exploración de cada base para evaluar:</a:t>
            </a:r>
            <a:endParaRPr sz="1000">
              <a:solidFill>
                <a:srgbClr val="000000"/>
              </a:solidFill>
            </a:endParaRPr>
          </a:p>
          <a:p>
            <a:pPr indent="-292100" lvl="0" marL="914400" rtl="0" algn="just">
              <a:spcBef>
                <a:spcPts val="1200"/>
              </a:spcBef>
              <a:spcAft>
                <a:spcPts val="0"/>
              </a:spcAft>
              <a:buClr>
                <a:srgbClr val="000000"/>
              </a:buClr>
              <a:buSzPts val="1000"/>
              <a:buChar char="●"/>
            </a:pPr>
            <a:r>
              <a:rPr lang="es" sz="1000">
                <a:solidFill>
                  <a:srgbClr val="000000"/>
                </a:solidFill>
              </a:rPr>
              <a:t>tipo de datos y estructura;</a:t>
            </a:r>
            <a:endParaRPr sz="1000">
              <a:solidFill>
                <a:srgbClr val="000000"/>
              </a:solidFill>
            </a:endParaRPr>
          </a:p>
          <a:p>
            <a:pPr indent="-292100" lvl="0" marL="914400" rtl="0" algn="just">
              <a:spcBef>
                <a:spcPts val="0"/>
              </a:spcBef>
              <a:spcAft>
                <a:spcPts val="0"/>
              </a:spcAft>
              <a:buClr>
                <a:srgbClr val="000000"/>
              </a:buClr>
              <a:buSzPts val="1000"/>
              <a:buChar char="●"/>
            </a:pPr>
            <a:r>
              <a:rPr lang="es" sz="1000">
                <a:solidFill>
                  <a:srgbClr val="000000"/>
                </a:solidFill>
              </a:rPr>
              <a:t>cantidad y primeras observaciones;</a:t>
            </a:r>
            <a:endParaRPr sz="1000">
              <a:solidFill>
                <a:srgbClr val="000000"/>
              </a:solidFill>
            </a:endParaRPr>
          </a:p>
          <a:p>
            <a:pPr indent="-292100" lvl="0" marL="914400" rtl="0" algn="just">
              <a:spcBef>
                <a:spcPts val="0"/>
              </a:spcBef>
              <a:spcAft>
                <a:spcPts val="0"/>
              </a:spcAft>
              <a:buClr>
                <a:srgbClr val="000000"/>
              </a:buClr>
              <a:buSzPts val="1000"/>
              <a:buChar char="●"/>
            </a:pPr>
            <a:r>
              <a:rPr lang="es" sz="1000">
                <a:solidFill>
                  <a:srgbClr val="000000"/>
                </a:solidFill>
              </a:rPr>
              <a:t>variables numéricas vs. categóricas;</a:t>
            </a:r>
            <a:endParaRPr sz="1000">
              <a:solidFill>
                <a:srgbClr val="000000"/>
              </a:solidFill>
            </a:endParaRPr>
          </a:p>
          <a:p>
            <a:pPr indent="-292100" lvl="0" marL="914400" rtl="0" algn="just">
              <a:spcBef>
                <a:spcPts val="0"/>
              </a:spcBef>
              <a:spcAft>
                <a:spcPts val="0"/>
              </a:spcAft>
              <a:buClr>
                <a:srgbClr val="000000"/>
              </a:buClr>
              <a:buSzPts val="1000"/>
              <a:buChar char="●"/>
            </a:pPr>
            <a:r>
              <a:rPr lang="es" sz="1000">
                <a:solidFill>
                  <a:srgbClr val="000000"/>
                </a:solidFill>
              </a:rPr>
              <a:t>valores faltantes.</a:t>
            </a:r>
            <a:endParaRPr sz="100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ctrTitle"/>
          </p:nvPr>
        </p:nvSpPr>
        <p:spPr>
          <a:xfrm>
            <a:off x="626650" y="228236"/>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20" name="Google Shape;320;p20"/>
          <p:cNvSpPr txBox="1"/>
          <p:nvPr>
            <p:ph idx="4294967295" type="body"/>
          </p:nvPr>
        </p:nvSpPr>
        <p:spPr>
          <a:xfrm>
            <a:off x="626650" y="1144700"/>
            <a:ext cx="7332900" cy="3987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sz="1000">
                <a:solidFill>
                  <a:srgbClr val="000000"/>
                </a:solidFill>
              </a:rPr>
              <a:t>Proporción de NA por variable: </a:t>
            </a:r>
            <a:r>
              <a:rPr lang="es" sz="1000">
                <a:solidFill>
                  <a:srgbClr val="000000"/>
                </a:solidFill>
              </a:rPr>
              <a:t>La proporción de valores faltantes fue baja, lo cual permitió continuar sin imputación de datos, manteniendo únicamente observaciones completas. Se calculó la cantidad absoluta y porcentaje de “NA”. Los resultados se obtuvieron con:</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La funcion </a:t>
            </a:r>
            <a:r>
              <a:rPr i="1" lang="es" sz="1000">
                <a:solidFill>
                  <a:srgbClr val="000000"/>
                </a:solidFill>
              </a:rPr>
              <a:t>na_patron</a:t>
            </a:r>
            <a:r>
              <a:rPr lang="es" sz="1000">
                <a:solidFill>
                  <a:srgbClr val="000000"/>
                </a:solidFill>
              </a:rPr>
              <a:t> que genera un tibble con el nombre de la variable y el total de NA</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La funcion </a:t>
            </a:r>
            <a:r>
              <a:rPr i="1" lang="es" sz="1000">
                <a:solidFill>
                  <a:srgbClr val="000000"/>
                </a:solidFill>
              </a:rPr>
              <a:t>na_porcentaje </a:t>
            </a:r>
            <a:r>
              <a:rPr lang="es" sz="1000">
                <a:solidFill>
                  <a:srgbClr val="000000"/>
                </a:solidFill>
              </a:rPr>
              <a:t>que también genera un tibble con el nombre de la variable y el porcentaje de NA</a:t>
            </a:r>
            <a:endParaRPr sz="1000">
              <a:solidFill>
                <a:srgbClr val="000000"/>
              </a:solidFill>
            </a:endParaRPr>
          </a:p>
          <a:p>
            <a:pPr indent="0" lvl="0" marL="0" rtl="0" algn="just">
              <a:spcBef>
                <a:spcPts val="1400"/>
              </a:spcBef>
              <a:spcAft>
                <a:spcPts val="0"/>
              </a:spcAft>
              <a:buNone/>
            </a:pPr>
            <a:r>
              <a:rPr b="1" lang="es" sz="1000">
                <a:solidFill>
                  <a:srgbClr val="000000"/>
                </a:solidFill>
              </a:rPr>
              <a:t>Análisis de NA por año:</a:t>
            </a:r>
            <a:r>
              <a:rPr lang="es" sz="1000">
                <a:solidFill>
                  <a:srgbClr val="000000"/>
                </a:solidFill>
              </a:rPr>
              <a:t> Se examinaron cuáles años presentan mayor ausencia de datos. Esto permitió detectar si alguno de los cortes temporales (2000, 2010, 2023) requería un tratamiento especial. Según la inspección, no hubo un patrón problemático sistemático por año. Esto se realizó mediante: </a:t>
            </a:r>
            <a:endParaRPr sz="1000">
              <a:solidFill>
                <a:srgbClr val="000000"/>
              </a:solidFill>
            </a:endParaRPr>
          </a:p>
          <a:p>
            <a:pPr indent="-292100" lvl="0" marL="457200" rtl="0" algn="just">
              <a:spcBef>
                <a:spcPts val="1200"/>
              </a:spcBef>
              <a:spcAft>
                <a:spcPts val="0"/>
              </a:spcAft>
              <a:buClr>
                <a:srgbClr val="000000"/>
              </a:buClr>
              <a:buSzPts val="1000"/>
              <a:buChar char="●"/>
            </a:pPr>
            <a:r>
              <a:rPr i="1" lang="es" sz="1000">
                <a:solidFill>
                  <a:srgbClr val="000000"/>
                </a:solidFill>
              </a:rPr>
              <a:t>df %&gt;% </a:t>
            </a:r>
            <a:br>
              <a:rPr i="1" lang="es" sz="1000">
                <a:solidFill>
                  <a:srgbClr val="000000"/>
                </a:solidFill>
              </a:rPr>
            </a:br>
            <a:r>
              <a:rPr i="1" lang="es" sz="1000">
                <a:solidFill>
                  <a:srgbClr val="000000"/>
                </a:solidFill>
              </a:rPr>
              <a:t>	filter(is.na(variable)) %&gt;% </a:t>
            </a:r>
            <a:br>
              <a:rPr i="1" lang="es" sz="1000">
                <a:solidFill>
                  <a:srgbClr val="000000"/>
                </a:solidFill>
              </a:rPr>
            </a:br>
            <a:r>
              <a:rPr i="1" lang="es" sz="1000">
                <a:solidFill>
                  <a:srgbClr val="000000"/>
                </a:solidFill>
              </a:rPr>
              <a:t>	count(anio)</a:t>
            </a:r>
            <a:endParaRPr i="1" sz="1000">
              <a:solidFill>
                <a:srgbClr val="000000"/>
              </a:solidFill>
            </a:endParaRPr>
          </a:p>
          <a:p>
            <a:pPr indent="0" lvl="0" marL="0" rtl="0" algn="just">
              <a:spcBef>
                <a:spcPts val="1400"/>
              </a:spcBef>
              <a:spcAft>
                <a:spcPts val="0"/>
              </a:spcAft>
              <a:buNone/>
            </a:pPr>
            <a:r>
              <a:rPr b="1" lang="es" sz="1000">
                <a:solidFill>
                  <a:srgbClr val="000000"/>
                </a:solidFill>
              </a:rPr>
              <a:t>Análisis de NA por país: </a:t>
            </a:r>
            <a:r>
              <a:rPr lang="es" sz="1000">
                <a:solidFill>
                  <a:srgbClr val="000000"/>
                </a:solidFill>
              </a:rPr>
              <a:t>Este análisis permitió determinar si habían países sistemáticamente incompletos que debían excluirse más adelante en el armado de la base final. Se identificaron mediante:</a:t>
            </a:r>
            <a:endParaRPr sz="1000">
              <a:solidFill>
                <a:srgbClr val="000000"/>
              </a:solidFill>
            </a:endParaRPr>
          </a:p>
          <a:p>
            <a:pPr indent="-292100" lvl="0" marL="457200" rtl="0" algn="just">
              <a:spcBef>
                <a:spcPts val="1400"/>
              </a:spcBef>
              <a:spcAft>
                <a:spcPts val="0"/>
              </a:spcAft>
              <a:buClr>
                <a:srgbClr val="000000"/>
              </a:buClr>
              <a:buSzPts val="1000"/>
              <a:buChar char="●"/>
            </a:pPr>
            <a:r>
              <a:rPr i="1" lang="es" sz="1000">
                <a:solidFill>
                  <a:srgbClr val="000000"/>
                </a:solidFill>
              </a:rPr>
              <a:t>df %&gt;% </a:t>
            </a:r>
            <a:br>
              <a:rPr i="1" lang="es" sz="1000">
                <a:solidFill>
                  <a:srgbClr val="000000"/>
                </a:solidFill>
              </a:rPr>
            </a:br>
            <a:r>
              <a:rPr i="1" lang="es" sz="1000">
                <a:solidFill>
                  <a:srgbClr val="000000"/>
                </a:solidFill>
              </a:rPr>
              <a:t>	filter(is.na(variable)) %&gt;% </a:t>
            </a:r>
            <a:br>
              <a:rPr i="1" lang="es" sz="1000">
                <a:solidFill>
                  <a:srgbClr val="000000"/>
                </a:solidFill>
              </a:rPr>
            </a:br>
            <a:r>
              <a:rPr i="1" lang="es" sz="1000">
                <a:solidFill>
                  <a:srgbClr val="000000"/>
                </a:solidFill>
              </a:rPr>
              <a:t>	count(country_name, sort = TRUE)</a:t>
            </a:r>
            <a:endParaRPr i="1" sz="100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ctrTitle"/>
          </p:nvPr>
        </p:nvSpPr>
        <p:spPr>
          <a:xfrm>
            <a:off x="626650" y="228236"/>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26" name="Google Shape;326;p21"/>
          <p:cNvSpPr txBox="1"/>
          <p:nvPr>
            <p:ph idx="4294967295" type="body"/>
          </p:nvPr>
        </p:nvSpPr>
        <p:spPr>
          <a:xfrm>
            <a:off x="626650" y="1156500"/>
            <a:ext cx="7030500" cy="3987000"/>
          </a:xfrm>
          <a:prstGeom prst="rect">
            <a:avLst/>
          </a:prstGeom>
        </p:spPr>
        <p:txBody>
          <a:bodyPr anchorCtr="0" anchor="t" bIns="91425" lIns="91425" spcFirstLastPara="1" rIns="91425" wrap="square" tIns="91425">
            <a:normAutofit/>
          </a:bodyPr>
          <a:lstStyle/>
          <a:p>
            <a:pPr indent="-292100" lvl="0" marL="457200" rtl="0" algn="just">
              <a:spcBef>
                <a:spcPts val="1400"/>
              </a:spcBef>
              <a:spcAft>
                <a:spcPts val="0"/>
              </a:spcAft>
              <a:buClr>
                <a:srgbClr val="000000"/>
              </a:buClr>
              <a:buSzPts val="1000"/>
              <a:buAutoNum type="arabicParenR" startAt="3"/>
            </a:pPr>
            <a:r>
              <a:rPr b="1" lang="es" sz="1000" u="sng">
                <a:solidFill>
                  <a:srgbClr val="000000"/>
                </a:solidFill>
              </a:rPr>
              <a:t>Estadísticas</a:t>
            </a:r>
            <a:r>
              <a:rPr b="1" lang="es" sz="1000" u="sng">
                <a:solidFill>
                  <a:srgbClr val="000000"/>
                </a:solidFill>
              </a:rPr>
              <a:t> descriptivas (antes de modificar las distribuciones): </a:t>
            </a:r>
            <a:br>
              <a:rPr lang="es" sz="1000">
                <a:solidFill>
                  <a:srgbClr val="000000"/>
                </a:solidFill>
              </a:rPr>
            </a:br>
            <a:r>
              <a:rPr lang="es" sz="1000">
                <a:solidFill>
                  <a:srgbClr val="000000"/>
                </a:solidFill>
              </a:rPr>
              <a:t>Antes de modificar las distribuciones, se calcularon estadísticas clave con </a:t>
            </a:r>
            <a:r>
              <a:rPr i="1" lang="es" sz="1000">
                <a:solidFill>
                  <a:srgbClr val="000000"/>
                </a:solidFill>
              </a:rPr>
              <a:t>psych::describe():</a:t>
            </a:r>
            <a:endParaRPr i="1"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media</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mediana</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desviación estándar</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asimetría</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curtosis</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mínimos y máximos</a:t>
            </a:r>
            <a:endParaRPr sz="1000">
              <a:solidFill>
                <a:srgbClr val="000000"/>
              </a:solidFill>
            </a:endParaRPr>
          </a:p>
          <a:p>
            <a:pPr indent="0" lvl="0" marL="0" rtl="0" algn="just">
              <a:spcBef>
                <a:spcPts val="1200"/>
              </a:spcBef>
              <a:spcAft>
                <a:spcPts val="0"/>
              </a:spcAft>
              <a:buNone/>
            </a:pPr>
            <a:r>
              <a:rPr lang="es" sz="1000">
                <a:solidFill>
                  <a:srgbClr val="000000"/>
                </a:solidFill>
              </a:rPr>
              <a:t>Se calcularon también estadísticas adicionales fuera de </a:t>
            </a:r>
            <a:r>
              <a:rPr i="1" lang="es" sz="1000">
                <a:solidFill>
                  <a:srgbClr val="000000"/>
                </a:solidFill>
              </a:rPr>
              <a:t>psych</a:t>
            </a:r>
            <a:r>
              <a:rPr lang="es" sz="1000">
                <a:solidFill>
                  <a:srgbClr val="000000"/>
                </a:solidFill>
              </a:rPr>
              <a:t>:</a:t>
            </a:r>
            <a:endParaRPr sz="1000">
              <a:solidFill>
                <a:srgbClr val="000000"/>
              </a:solidFill>
            </a:endParaRPr>
          </a:p>
          <a:p>
            <a:pPr indent="-292100" lvl="0" marL="457200" rtl="0" algn="just">
              <a:spcBef>
                <a:spcPts val="1200"/>
              </a:spcBef>
              <a:spcAft>
                <a:spcPts val="0"/>
              </a:spcAft>
              <a:buClr>
                <a:srgbClr val="000000"/>
              </a:buClr>
              <a:buSzPts val="1000"/>
              <a:buFont typeface="Arial"/>
              <a:buChar char="●"/>
            </a:pPr>
            <a:r>
              <a:rPr lang="es" sz="1000">
                <a:solidFill>
                  <a:srgbClr val="000000"/>
                </a:solidFill>
              </a:rPr>
              <a:t>moda (definida manualmente mediante una función propia) - Listado en </a:t>
            </a:r>
            <a:r>
              <a:rPr i="1" lang="es" sz="1000">
                <a:solidFill>
                  <a:srgbClr val="000000"/>
                </a:solidFill>
              </a:rPr>
              <a:t>modas &lt;- list</a:t>
            </a:r>
            <a:endParaRPr i="1"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rango intercuartílico (IQR) - Listados en </a:t>
            </a:r>
            <a:r>
              <a:rPr i="1" lang="es" sz="1000">
                <a:solidFill>
                  <a:srgbClr val="000000"/>
                </a:solidFill>
              </a:rPr>
              <a:t>rangos_IQR &lt;- list</a:t>
            </a:r>
            <a:endParaRPr i="1" sz="1000">
              <a:solidFill>
                <a:srgbClr val="000000"/>
              </a:solidFill>
            </a:endParaRPr>
          </a:p>
          <a:p>
            <a:pPr indent="0" lvl="0" marL="0" rtl="0" algn="just">
              <a:spcBef>
                <a:spcPts val="1200"/>
              </a:spcBef>
              <a:spcAft>
                <a:spcPts val="1200"/>
              </a:spcAft>
              <a:buNone/>
            </a:pPr>
            <a:r>
              <a:rPr lang="es" sz="1000">
                <a:solidFill>
                  <a:srgbClr val="000000"/>
                </a:solidFill>
              </a:rPr>
              <a:t>Estos valores sirvieron como base para comparar los efectos del tratamiento posterior.</a:t>
            </a:r>
            <a:endParaRPr sz="100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2"/>
          <p:cNvSpPr txBox="1"/>
          <p:nvPr>
            <p:ph type="ctrTitle"/>
          </p:nvPr>
        </p:nvSpPr>
        <p:spPr>
          <a:xfrm>
            <a:off x="626650" y="145562"/>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32" name="Google Shape;332;p22"/>
          <p:cNvSpPr txBox="1"/>
          <p:nvPr>
            <p:ph idx="4294967295" type="body"/>
          </p:nvPr>
        </p:nvSpPr>
        <p:spPr>
          <a:xfrm>
            <a:off x="626650" y="1044300"/>
            <a:ext cx="7209000" cy="3987000"/>
          </a:xfrm>
          <a:prstGeom prst="rect">
            <a:avLst/>
          </a:prstGeom>
        </p:spPr>
        <p:txBody>
          <a:bodyPr anchorCtr="0" anchor="t" bIns="91425" lIns="91425" spcFirstLastPara="1" rIns="91425" wrap="square" tIns="91425">
            <a:normAutofit fontScale="92500" lnSpcReduction="10000"/>
          </a:bodyPr>
          <a:lstStyle/>
          <a:p>
            <a:pPr indent="0" lvl="0" marL="0" rtl="0" algn="just">
              <a:spcBef>
                <a:spcPts val="1200"/>
              </a:spcBef>
              <a:spcAft>
                <a:spcPts val="0"/>
              </a:spcAft>
              <a:buNone/>
            </a:pPr>
            <a:r>
              <a:rPr b="1" lang="es" sz="1100">
                <a:solidFill>
                  <a:srgbClr val="000000"/>
                </a:solidFill>
              </a:rPr>
              <a:t>Análisis</a:t>
            </a:r>
            <a:r>
              <a:rPr b="1" lang="es" sz="1100">
                <a:solidFill>
                  <a:srgbClr val="000000"/>
                </a:solidFill>
              </a:rPr>
              <a:t> de </a:t>
            </a:r>
            <a:r>
              <a:rPr b="1" lang="es" sz="1100">
                <a:solidFill>
                  <a:srgbClr val="000000"/>
                </a:solidFill>
              </a:rPr>
              <a:t>gráfico</a:t>
            </a:r>
            <a:r>
              <a:rPr b="1" lang="es" sz="1100">
                <a:solidFill>
                  <a:srgbClr val="000000"/>
                </a:solidFill>
              </a:rPr>
              <a:t> inicial: </a:t>
            </a:r>
            <a:r>
              <a:rPr lang="es" sz="1100">
                <a:solidFill>
                  <a:srgbClr val="000000"/>
                </a:solidFill>
                <a:latin typeface="Nunito Medium"/>
                <a:ea typeface="Nunito Medium"/>
                <a:cs typeface="Nunito Medium"/>
                <a:sym typeface="Nunito Medium"/>
              </a:rPr>
              <a:t>Para cada una de las variables se generaron histogramas y boxplots. El primero para evaluar la forma de la distribución, y el segundo para la detección visual de outliers.</a:t>
            </a:r>
            <a:endParaRPr sz="1100">
              <a:solidFill>
                <a:srgbClr val="000000"/>
              </a:solidFill>
              <a:latin typeface="Nunito Medium"/>
              <a:ea typeface="Nunito Medium"/>
              <a:cs typeface="Nunito Medium"/>
              <a:sym typeface="Nunito Medium"/>
            </a:endParaRPr>
          </a:p>
          <a:p>
            <a:pPr indent="0" lvl="0" marL="0" rtl="0" algn="just">
              <a:spcBef>
                <a:spcPts val="1200"/>
              </a:spcBef>
              <a:spcAft>
                <a:spcPts val="0"/>
              </a:spcAft>
              <a:buNone/>
            </a:pPr>
            <a:r>
              <a:rPr b="1" lang="es" sz="1100">
                <a:solidFill>
                  <a:srgbClr val="000000"/>
                </a:solidFill>
              </a:rPr>
              <a:t>Los resultados mostraron:</a:t>
            </a:r>
            <a:endParaRPr b="1" sz="1100">
              <a:solidFill>
                <a:srgbClr val="000000"/>
              </a:solidFill>
            </a:endParaRPr>
          </a:p>
          <a:p>
            <a:pPr indent="-293211" lvl="0" marL="457200" rtl="0" algn="just">
              <a:spcBef>
                <a:spcPts val="1200"/>
              </a:spcBef>
              <a:spcAft>
                <a:spcPts val="0"/>
              </a:spcAft>
              <a:buClr>
                <a:srgbClr val="000000"/>
              </a:buClr>
              <a:buSzPct val="100000"/>
              <a:buChar char="-"/>
            </a:pPr>
            <a:r>
              <a:rPr b="1" lang="es" sz="1100">
                <a:solidFill>
                  <a:srgbClr val="000000"/>
                </a:solidFill>
              </a:rPr>
              <a:t>Inflación:</a:t>
            </a:r>
            <a:r>
              <a:rPr lang="es" sz="1100">
                <a:solidFill>
                  <a:srgbClr val="000000"/>
                </a:solidFill>
                <a:latin typeface="Nunito Medium"/>
                <a:ea typeface="Nunito Medium"/>
                <a:cs typeface="Nunito Medium"/>
                <a:sym typeface="Nunito Medium"/>
              </a:rPr>
              <a:t> </a:t>
            </a:r>
            <a:r>
              <a:rPr lang="es" sz="1100">
                <a:solidFill>
                  <a:srgbClr val="000000"/>
                </a:solidFill>
              </a:rPr>
              <a:t>La mayor parte de los países se concentra cerca de valores bajos de inflación (0–10%). El histograma muestra cola derecha extremadamente larga, con valores superiores a 500%, 1000% y más. El boxplot confirma la presencia de outliers muy severos, varios órdenes de magnitud por encima del resto. La inflación presenta el comportamiento más inestable y distorsionado del conjunto.</a:t>
            </a:r>
            <a:endParaRPr sz="1100">
              <a:solidFill>
                <a:srgbClr val="000000"/>
              </a:solidFill>
            </a:endParaRPr>
          </a:p>
          <a:p>
            <a:pPr indent="-293211" lvl="0" marL="457200" rtl="0" algn="just">
              <a:spcBef>
                <a:spcPts val="0"/>
              </a:spcBef>
              <a:spcAft>
                <a:spcPts val="0"/>
              </a:spcAft>
              <a:buClr>
                <a:srgbClr val="000000"/>
              </a:buClr>
              <a:buSzPct val="100000"/>
              <a:buChar char="-"/>
            </a:pPr>
            <a:r>
              <a:rPr b="1" lang="es" sz="1100">
                <a:solidFill>
                  <a:srgbClr val="000000"/>
                </a:solidFill>
              </a:rPr>
              <a:t>Gasto público: </a:t>
            </a:r>
            <a:r>
              <a:rPr lang="es" sz="1100">
                <a:solidFill>
                  <a:srgbClr val="000000"/>
                </a:solidFill>
              </a:rPr>
              <a:t>El histograma muestra una distribución centralizada cerca de 0–5%, pero con colas largas hacia valores positivos y negativos extremos. El boxplot muestra múltiples puntos muy alejados del centro, en ambas direcciones. El gasto público presenta outliers bilaterales fuertes, claramente identificables y potencialmente distorsivos.</a:t>
            </a:r>
            <a:endParaRPr sz="1100">
              <a:solidFill>
                <a:srgbClr val="000000"/>
              </a:solidFill>
            </a:endParaRPr>
          </a:p>
          <a:p>
            <a:pPr indent="-293211" lvl="0" marL="457200" rtl="0" algn="just">
              <a:spcBef>
                <a:spcPts val="0"/>
              </a:spcBef>
              <a:spcAft>
                <a:spcPts val="0"/>
              </a:spcAft>
              <a:buClr>
                <a:srgbClr val="000000"/>
              </a:buClr>
              <a:buSzPct val="100000"/>
              <a:buChar char="-"/>
            </a:pPr>
            <a:r>
              <a:rPr b="1" lang="es" sz="1100">
                <a:solidFill>
                  <a:srgbClr val="000000"/>
                </a:solidFill>
              </a:rPr>
              <a:t>Tipo de cambio: </a:t>
            </a:r>
            <a:r>
              <a:rPr lang="es" sz="1100">
                <a:solidFill>
                  <a:srgbClr val="000000"/>
                </a:solidFill>
                <a:latin typeface="Nunito Medium"/>
                <a:ea typeface="Nunito Medium"/>
                <a:cs typeface="Nunito Medium"/>
                <a:sym typeface="Nunito Medium"/>
              </a:rPr>
              <a:t> </a:t>
            </a:r>
            <a:r>
              <a:rPr lang="es" sz="1100">
                <a:solidFill>
                  <a:srgbClr val="000000"/>
                </a:solidFill>
              </a:rPr>
              <a:t>Distribución con asimetría extrema, ya que la mayoría de valores están cerca de 1–100 unidades, pero aparecen observaciones de 10.000, 20.000, 40.000. El histograma y boxplot quedan completamente “aplastados” debido a algunos pocos valores muy grandes.</a:t>
            </a:r>
            <a:endParaRPr sz="1100">
              <a:solidFill>
                <a:srgbClr val="000000"/>
              </a:solidFill>
              <a:latin typeface="Nunito Medium"/>
              <a:ea typeface="Nunito Medium"/>
              <a:cs typeface="Nunito Medium"/>
              <a:sym typeface="Nunito Medium"/>
            </a:endParaRPr>
          </a:p>
          <a:p>
            <a:pPr indent="-293211" lvl="0" marL="457200" rtl="0" algn="just">
              <a:spcBef>
                <a:spcPts val="0"/>
              </a:spcBef>
              <a:spcAft>
                <a:spcPts val="0"/>
              </a:spcAft>
              <a:buClr>
                <a:srgbClr val="000000"/>
              </a:buClr>
              <a:buSzPct val="100000"/>
              <a:buChar char="-"/>
            </a:pPr>
            <a:r>
              <a:rPr b="1" lang="es" sz="1100">
                <a:solidFill>
                  <a:srgbClr val="000000"/>
                </a:solidFill>
              </a:rPr>
              <a:t>Desempleo: </a:t>
            </a:r>
            <a:r>
              <a:rPr lang="es" sz="1100">
                <a:solidFill>
                  <a:srgbClr val="000000"/>
                </a:solidFill>
              </a:rPr>
              <a:t>Presenta una distribución asimétrica hacia la derecha. La mayoría de países se concentran entre 3% y 12%. Hay valores altos (20–35%), pero ninguno rompe la estructura general. El boxplot muestra outliers, pero son naturales: economías con crisis laborales, guerras, recesiones, etc. Es la variable más estable del conjunto. Sus outliers representan hechos económicos válidos</a:t>
            </a:r>
            <a:endParaRPr sz="1100">
              <a:solidFill>
                <a:srgbClr val="000000"/>
              </a:solidFill>
            </a:endParaRPr>
          </a:p>
          <a:p>
            <a:pPr indent="-293211" lvl="0" marL="457200" rtl="0" algn="just">
              <a:spcBef>
                <a:spcPts val="0"/>
              </a:spcBef>
              <a:spcAft>
                <a:spcPts val="0"/>
              </a:spcAft>
              <a:buClr>
                <a:srgbClr val="000000"/>
              </a:buClr>
              <a:buSzPct val="100000"/>
              <a:buChar char="-"/>
            </a:pPr>
            <a:r>
              <a:rPr b="1" lang="es" sz="1100">
                <a:solidFill>
                  <a:srgbClr val="000000"/>
                </a:solidFill>
              </a:rPr>
              <a:t>Crecimiento del PIB</a:t>
            </a:r>
            <a:r>
              <a:rPr b="1" lang="es" sz="1100">
                <a:solidFill>
                  <a:srgbClr val="000000"/>
                </a:solidFill>
              </a:rPr>
              <a:t>: </a:t>
            </a:r>
            <a:r>
              <a:rPr lang="es" sz="1100">
                <a:solidFill>
                  <a:srgbClr val="000000"/>
                </a:solidFill>
              </a:rPr>
              <a:t>La d</a:t>
            </a:r>
            <a:r>
              <a:rPr lang="es" sz="1100">
                <a:solidFill>
                  <a:srgbClr val="000000"/>
                </a:solidFill>
              </a:rPr>
              <a:t>istribución</a:t>
            </a:r>
            <a:r>
              <a:rPr lang="es" sz="1100">
                <a:solidFill>
                  <a:srgbClr val="000000"/>
                </a:solidFill>
              </a:rPr>
              <a:t> es aproximadamente simétrica, con forma de campana, centrada entre 0% y 5%. Existen algunos valores negativos y algunos positivos muy altos, pero sin extremos patológicos. El boxplot muestra outliers, pero estos corresponden a shocks económicos reales (recesiones profundas o rebotes fuertes).</a:t>
            </a:r>
            <a:endParaRPr sz="110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3"/>
          <p:cNvSpPr txBox="1"/>
          <p:nvPr>
            <p:ph type="ctrTitle"/>
          </p:nvPr>
        </p:nvSpPr>
        <p:spPr>
          <a:xfrm>
            <a:off x="626650" y="145562"/>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38" name="Google Shape;338;p23"/>
          <p:cNvSpPr txBox="1"/>
          <p:nvPr>
            <p:ph idx="4294967295" type="body"/>
          </p:nvPr>
        </p:nvSpPr>
        <p:spPr>
          <a:xfrm>
            <a:off x="626650" y="1044300"/>
            <a:ext cx="7527900" cy="3987000"/>
          </a:xfrm>
          <a:prstGeom prst="rect">
            <a:avLst/>
          </a:prstGeom>
        </p:spPr>
        <p:txBody>
          <a:bodyPr anchorCtr="0" anchor="t" bIns="91425" lIns="91425" spcFirstLastPara="1" rIns="91425" wrap="square" tIns="91425">
            <a:normAutofit/>
          </a:bodyPr>
          <a:lstStyle/>
          <a:p>
            <a:pPr indent="-292100" lvl="0" marL="457200" rtl="0" algn="just">
              <a:spcBef>
                <a:spcPts val="1200"/>
              </a:spcBef>
              <a:spcAft>
                <a:spcPts val="0"/>
              </a:spcAft>
              <a:buClr>
                <a:srgbClr val="000000"/>
              </a:buClr>
              <a:buSzPts val="1000"/>
              <a:buAutoNum type="arabicParenR" startAt="4"/>
            </a:pPr>
            <a:r>
              <a:rPr b="1" lang="es" sz="1000" u="sng">
                <a:solidFill>
                  <a:srgbClr val="000000"/>
                </a:solidFill>
              </a:rPr>
              <a:t>Análisis</a:t>
            </a:r>
            <a:r>
              <a:rPr b="1" lang="es" sz="1000" u="sng">
                <a:solidFill>
                  <a:srgbClr val="000000"/>
                </a:solidFill>
              </a:rPr>
              <a:t> de outliers y datos faltantes.</a:t>
            </a:r>
            <a:endParaRPr b="1" sz="1000" u="sng">
              <a:solidFill>
                <a:srgbClr val="000000"/>
              </a:solidFill>
            </a:endParaRPr>
          </a:p>
          <a:p>
            <a:pPr indent="0" lvl="0" marL="0" rtl="0" algn="just">
              <a:spcBef>
                <a:spcPts val="1200"/>
              </a:spcBef>
              <a:spcAft>
                <a:spcPts val="0"/>
              </a:spcAft>
              <a:buNone/>
            </a:pPr>
            <a:r>
              <a:rPr b="1" lang="es" sz="1000">
                <a:solidFill>
                  <a:srgbClr val="000000"/>
                </a:solidFill>
              </a:rPr>
              <a:t>Detección formal de outliers: </a:t>
            </a:r>
            <a:r>
              <a:rPr lang="es" sz="1000">
                <a:solidFill>
                  <a:srgbClr val="000000"/>
                </a:solidFill>
                <a:latin typeface="Nunito Medium"/>
                <a:ea typeface="Nunito Medium"/>
                <a:cs typeface="Nunito Medium"/>
                <a:sym typeface="Nunito Medium"/>
              </a:rPr>
              <a:t>Se definió la función </a:t>
            </a:r>
            <a:r>
              <a:rPr i="1" lang="es" sz="1000">
                <a:solidFill>
                  <a:srgbClr val="000000"/>
                </a:solidFill>
                <a:latin typeface="Nunito Medium"/>
                <a:ea typeface="Nunito Medium"/>
                <a:cs typeface="Nunito Medium"/>
                <a:sym typeface="Nunito Medium"/>
              </a:rPr>
              <a:t>detectar_outliers(df, variable)</a:t>
            </a:r>
            <a:r>
              <a:rPr lang="es" sz="1000">
                <a:solidFill>
                  <a:srgbClr val="000000"/>
                </a:solidFill>
                <a:latin typeface="Nunito Medium"/>
                <a:ea typeface="Nunito Medium"/>
                <a:cs typeface="Nunito Medium"/>
                <a:sym typeface="Nunito Medium"/>
              </a:rPr>
              <a:t> basado en el criterio </a:t>
            </a:r>
            <a:r>
              <a:rPr lang="es" sz="1000">
                <a:solidFill>
                  <a:srgbClr val="000000"/>
                </a:solidFill>
                <a:latin typeface="Nunito Medium"/>
                <a:ea typeface="Nunito Medium"/>
                <a:cs typeface="Nunito Medium"/>
                <a:sym typeface="Nunito Medium"/>
              </a:rPr>
              <a:t>estadístico:</a:t>
            </a:r>
            <a:endParaRPr sz="1000">
              <a:solidFill>
                <a:srgbClr val="000000"/>
              </a:solidFill>
              <a:latin typeface="Nunito Medium"/>
              <a:ea typeface="Nunito Medium"/>
              <a:cs typeface="Nunito Medium"/>
              <a:sym typeface="Nunito Medium"/>
            </a:endParaRPr>
          </a:p>
          <a:p>
            <a:pPr indent="-292100" lvl="0" marL="457200" rtl="0" algn="just">
              <a:spcBef>
                <a:spcPts val="1200"/>
              </a:spcBef>
              <a:spcAft>
                <a:spcPts val="0"/>
              </a:spcAft>
              <a:buClr>
                <a:srgbClr val="000000"/>
              </a:buClr>
              <a:buSzPts val="1000"/>
              <a:buFont typeface="Nunito Medium"/>
              <a:buChar char="●"/>
            </a:pPr>
            <a:r>
              <a:rPr i="1" lang="es" sz="1000">
                <a:solidFill>
                  <a:srgbClr val="000000"/>
                </a:solidFill>
                <a:latin typeface="Nunito Medium"/>
                <a:ea typeface="Nunito Medium"/>
                <a:cs typeface="Nunito Medium"/>
                <a:sym typeface="Nunito Medium"/>
              </a:rPr>
              <a:t>limite_inf &lt;- q1 - 1.5 * IQR</a:t>
            </a:r>
            <a:endParaRPr i="1" sz="1000">
              <a:solidFill>
                <a:srgbClr val="000000"/>
              </a:solidFill>
              <a:latin typeface="Nunito Medium"/>
              <a:ea typeface="Nunito Medium"/>
              <a:cs typeface="Nunito Medium"/>
              <a:sym typeface="Nunito Medium"/>
            </a:endParaRPr>
          </a:p>
          <a:p>
            <a:pPr indent="-292100" lvl="0" marL="457200" rtl="0" algn="just">
              <a:spcBef>
                <a:spcPts val="0"/>
              </a:spcBef>
              <a:spcAft>
                <a:spcPts val="0"/>
              </a:spcAft>
              <a:buClr>
                <a:srgbClr val="000000"/>
              </a:buClr>
              <a:buSzPts val="1000"/>
              <a:buFont typeface="Nunito Medium"/>
              <a:buChar char="●"/>
            </a:pPr>
            <a:r>
              <a:rPr i="1" lang="es" sz="1000">
                <a:solidFill>
                  <a:srgbClr val="000000"/>
                </a:solidFill>
                <a:latin typeface="Nunito Medium"/>
                <a:ea typeface="Nunito Medium"/>
                <a:cs typeface="Nunito Medium"/>
                <a:sym typeface="Nunito Medium"/>
              </a:rPr>
              <a:t>limite_sup &lt;- q3 + 1.5 * IQR</a:t>
            </a:r>
            <a:endParaRPr i="1" sz="1000">
              <a:solidFill>
                <a:srgbClr val="000000"/>
              </a:solidFill>
              <a:latin typeface="Nunito Medium"/>
              <a:ea typeface="Nunito Medium"/>
              <a:cs typeface="Nunito Medium"/>
              <a:sym typeface="Nunito Medium"/>
            </a:endParaRPr>
          </a:p>
          <a:p>
            <a:pPr indent="0" lvl="0" marL="0" rtl="0" algn="just">
              <a:spcBef>
                <a:spcPts val="1200"/>
              </a:spcBef>
              <a:spcAft>
                <a:spcPts val="0"/>
              </a:spcAft>
              <a:buNone/>
            </a:pPr>
            <a:r>
              <a:rPr lang="es" sz="1000">
                <a:solidFill>
                  <a:srgbClr val="000000"/>
                </a:solidFill>
                <a:latin typeface="Nunito Medium"/>
                <a:ea typeface="Nunito Medium"/>
                <a:cs typeface="Nunito Medium"/>
                <a:sym typeface="Nunito Medium"/>
              </a:rPr>
              <a:t>Para cada variable se generaron:</a:t>
            </a:r>
            <a:endParaRPr sz="1000">
              <a:solidFill>
                <a:srgbClr val="000000"/>
              </a:solidFill>
              <a:latin typeface="Nunito Medium"/>
              <a:ea typeface="Nunito Medium"/>
              <a:cs typeface="Nunito Medium"/>
              <a:sym typeface="Nunito Medium"/>
            </a:endParaRPr>
          </a:p>
          <a:p>
            <a:pPr indent="-292100" lvl="0" marL="457200" rtl="0" algn="just">
              <a:spcBef>
                <a:spcPts val="1200"/>
              </a:spcBef>
              <a:spcAft>
                <a:spcPts val="0"/>
              </a:spcAft>
              <a:buClr>
                <a:srgbClr val="000000"/>
              </a:buClr>
              <a:buSzPts val="1000"/>
              <a:buFont typeface="Nunito Medium"/>
              <a:buChar char="●"/>
            </a:pPr>
            <a:r>
              <a:rPr lang="es" sz="1000">
                <a:solidFill>
                  <a:srgbClr val="000000"/>
                </a:solidFill>
                <a:latin typeface="Nunito Medium"/>
                <a:ea typeface="Nunito Medium"/>
                <a:cs typeface="Nunito Medium"/>
                <a:sym typeface="Nunito Medium"/>
              </a:rPr>
              <a:t>Tabla de clasificación</a:t>
            </a:r>
            <a:endParaRPr sz="1000">
              <a:solidFill>
                <a:srgbClr val="000000"/>
              </a:solidFill>
              <a:latin typeface="Nunito Medium"/>
              <a:ea typeface="Nunito Medium"/>
              <a:cs typeface="Nunito Medium"/>
              <a:sym typeface="Nunito Medium"/>
            </a:endParaRPr>
          </a:p>
          <a:p>
            <a:pPr indent="-292100" lvl="0" marL="457200" rtl="0" algn="just">
              <a:spcBef>
                <a:spcPts val="0"/>
              </a:spcBef>
              <a:spcAft>
                <a:spcPts val="0"/>
              </a:spcAft>
              <a:buClr>
                <a:srgbClr val="000000"/>
              </a:buClr>
              <a:buSzPts val="1000"/>
              <a:buFont typeface="Nunito Medium"/>
              <a:buChar char="●"/>
            </a:pPr>
            <a:r>
              <a:rPr lang="es" sz="1000">
                <a:solidFill>
                  <a:srgbClr val="000000"/>
                </a:solidFill>
                <a:latin typeface="Nunito Medium"/>
                <a:ea typeface="Nunito Medium"/>
                <a:cs typeface="Nunito Medium"/>
                <a:sym typeface="Nunito Medium"/>
              </a:rPr>
              <a:t>Conteo de outliers</a:t>
            </a:r>
            <a:endParaRPr sz="1000">
              <a:solidFill>
                <a:srgbClr val="000000"/>
              </a:solidFill>
              <a:latin typeface="Nunito Medium"/>
              <a:ea typeface="Nunito Medium"/>
              <a:cs typeface="Nunito Medium"/>
              <a:sym typeface="Nunito Medium"/>
            </a:endParaRPr>
          </a:p>
          <a:p>
            <a:pPr indent="-292100" lvl="0" marL="457200" rtl="0" algn="just">
              <a:spcBef>
                <a:spcPts val="0"/>
              </a:spcBef>
              <a:spcAft>
                <a:spcPts val="0"/>
              </a:spcAft>
              <a:buClr>
                <a:srgbClr val="000000"/>
              </a:buClr>
              <a:buSzPts val="1000"/>
              <a:buFont typeface="Nunito Medium"/>
              <a:buChar char="●"/>
            </a:pPr>
            <a:r>
              <a:rPr lang="es" sz="1000">
                <a:solidFill>
                  <a:srgbClr val="000000"/>
                </a:solidFill>
                <a:latin typeface="Nunito Medium"/>
                <a:ea typeface="Nunito Medium"/>
                <a:cs typeface="Nunito Medium"/>
                <a:sym typeface="Nunito Medium"/>
              </a:rPr>
              <a:t>Identificación de países involucrados</a:t>
            </a:r>
            <a:endParaRPr sz="1000">
              <a:solidFill>
                <a:srgbClr val="000000"/>
              </a:solidFill>
              <a:latin typeface="Nunito Medium"/>
              <a:ea typeface="Nunito Medium"/>
              <a:cs typeface="Nunito Medium"/>
              <a:sym typeface="Nunito Medium"/>
            </a:endParaRPr>
          </a:p>
          <a:p>
            <a:pPr indent="0" lvl="0" marL="0" rtl="0" algn="just">
              <a:spcBef>
                <a:spcPts val="1200"/>
              </a:spcBef>
              <a:spcAft>
                <a:spcPts val="0"/>
              </a:spcAft>
              <a:buNone/>
            </a:pPr>
            <a:r>
              <a:rPr b="1" lang="es" sz="1000">
                <a:solidFill>
                  <a:srgbClr val="000000"/>
                </a:solidFill>
              </a:rPr>
              <a:t>Ejemplo con variable “inflación”:</a:t>
            </a:r>
            <a:br>
              <a:rPr lang="es" sz="1000">
                <a:solidFill>
                  <a:srgbClr val="000000"/>
                </a:solidFill>
                <a:latin typeface="Nunito Medium"/>
                <a:ea typeface="Nunito Medium"/>
                <a:cs typeface="Nunito Medium"/>
                <a:sym typeface="Nunito Medium"/>
              </a:rPr>
            </a:br>
            <a:r>
              <a:rPr i="1" lang="es" sz="1000">
                <a:solidFill>
                  <a:srgbClr val="000000"/>
                </a:solidFill>
                <a:latin typeface="Nunito Medium"/>
                <a:ea typeface="Nunito Medium"/>
                <a:cs typeface="Nunito Medium"/>
                <a:sym typeface="Nunito Medium"/>
              </a:rPr>
              <a:t>inflacion_outliers &lt;- detectar_outliers(inflacion_deflactor,"tasa.de.inflacion")</a:t>
            </a:r>
            <a:br>
              <a:rPr i="1" lang="es" sz="1000">
                <a:solidFill>
                  <a:srgbClr val="000000"/>
                </a:solidFill>
                <a:latin typeface="Nunito Medium"/>
                <a:ea typeface="Nunito Medium"/>
                <a:cs typeface="Nunito Medium"/>
                <a:sym typeface="Nunito Medium"/>
              </a:rPr>
            </a:br>
            <a:r>
              <a:rPr i="1" lang="es" sz="1000">
                <a:solidFill>
                  <a:srgbClr val="000000"/>
                </a:solidFill>
                <a:latin typeface="Nunito Medium"/>
                <a:ea typeface="Nunito Medium"/>
                <a:cs typeface="Nunito Medium"/>
                <a:sym typeface="Nunito Medium"/>
              </a:rPr>
              <a:t>inflacion_outliers %&gt;% count(es_outlier) #vemos composicion de outliers</a:t>
            </a:r>
            <a:br>
              <a:rPr i="1" lang="es" sz="1000">
                <a:solidFill>
                  <a:srgbClr val="000000"/>
                </a:solidFill>
                <a:latin typeface="Nunito Medium"/>
                <a:ea typeface="Nunito Medium"/>
                <a:cs typeface="Nunito Medium"/>
                <a:sym typeface="Nunito Medium"/>
              </a:rPr>
            </a:br>
            <a:r>
              <a:rPr i="1" lang="es" sz="1000">
                <a:solidFill>
                  <a:srgbClr val="000000"/>
                </a:solidFill>
                <a:latin typeface="Nunito Medium"/>
                <a:ea typeface="Nunito Medium"/>
                <a:cs typeface="Nunito Medium"/>
                <a:sym typeface="Nunito Medium"/>
              </a:rPr>
              <a:t>inflacion_outliers %&gt;% filter(es_outlier != "Normal") %&gt;% count(country_name, sort = TRUE)</a:t>
            </a:r>
            <a:endParaRPr i="1" sz="1000">
              <a:solidFill>
                <a:srgbClr val="000000"/>
              </a:solidFill>
              <a:latin typeface="Nunito Medium"/>
              <a:ea typeface="Nunito Medium"/>
              <a:cs typeface="Nunito Medium"/>
              <a:sym typeface="Nunito Medium"/>
            </a:endParaRPr>
          </a:p>
          <a:p>
            <a:pPr indent="0" lvl="0" marL="0" rtl="0" algn="just">
              <a:spcBef>
                <a:spcPts val="1200"/>
              </a:spcBef>
              <a:spcAft>
                <a:spcPts val="1200"/>
              </a:spcAft>
              <a:buNone/>
            </a:pPr>
            <a:r>
              <a:rPr lang="es" sz="1000">
                <a:solidFill>
                  <a:srgbClr val="000000"/>
                </a:solidFill>
                <a:latin typeface="Nunito Medium"/>
                <a:ea typeface="Nunito Medium"/>
                <a:cs typeface="Nunito Medium"/>
                <a:sym typeface="Nunito Medium"/>
              </a:rPr>
              <a:t>Este procedimiento sirvió para justificar con evidencia qué variables requerían algún tratamiento, como por ejemplo, winsorización.</a:t>
            </a:r>
            <a:endParaRPr b="1" sz="10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4"/>
          <p:cNvSpPr txBox="1"/>
          <p:nvPr>
            <p:ph type="ctrTitle"/>
          </p:nvPr>
        </p:nvSpPr>
        <p:spPr>
          <a:xfrm>
            <a:off x="626650" y="145562"/>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44" name="Google Shape;344;p24"/>
          <p:cNvSpPr txBox="1"/>
          <p:nvPr>
            <p:ph idx="4294967295" type="body"/>
          </p:nvPr>
        </p:nvSpPr>
        <p:spPr>
          <a:xfrm>
            <a:off x="626650" y="1044300"/>
            <a:ext cx="7209000" cy="3987000"/>
          </a:xfrm>
          <a:prstGeom prst="rect">
            <a:avLst/>
          </a:prstGeom>
        </p:spPr>
        <p:txBody>
          <a:bodyPr anchorCtr="0" anchor="t" bIns="91425" lIns="91425" spcFirstLastPara="1" rIns="91425" wrap="square" tIns="91425">
            <a:normAutofit fontScale="92500" lnSpcReduction="10000"/>
          </a:bodyPr>
          <a:lstStyle/>
          <a:p>
            <a:pPr indent="0" lvl="0" marL="0" rtl="0" algn="just">
              <a:spcBef>
                <a:spcPts val="1200"/>
              </a:spcBef>
              <a:spcAft>
                <a:spcPts val="0"/>
              </a:spcAft>
              <a:buNone/>
            </a:pPr>
            <a:r>
              <a:rPr b="1" lang="es" sz="1100">
                <a:solidFill>
                  <a:srgbClr val="000000"/>
                </a:solidFill>
              </a:rPr>
              <a:t>Justificaciones sobre el tratamiento de outliers y datos faltantes:</a:t>
            </a:r>
            <a:endParaRPr b="1" sz="1100">
              <a:solidFill>
                <a:srgbClr val="000000"/>
              </a:solidFill>
            </a:endParaRPr>
          </a:p>
          <a:p>
            <a:pPr indent="0" lvl="0" marL="0" rtl="0" algn="just">
              <a:spcBef>
                <a:spcPts val="1200"/>
              </a:spcBef>
              <a:spcAft>
                <a:spcPts val="0"/>
              </a:spcAft>
              <a:buNone/>
            </a:pPr>
            <a:r>
              <a:rPr b="1" lang="es" sz="1100">
                <a:solidFill>
                  <a:srgbClr val="000000"/>
                </a:solidFill>
              </a:rPr>
              <a:t>Gasto público:</a:t>
            </a:r>
            <a:r>
              <a:rPr lang="es" sz="1100">
                <a:solidFill>
                  <a:srgbClr val="000000"/>
                </a:solidFill>
              </a:rPr>
              <a:t> La variable gasto público es la que presenta la mayor proporción de datos faltantes, especialmente en el año 2000. La ausencia no responde a un patrón sistemático observable (no se concentra en una región o nivel de ingreso), sino que suele estar asociada a países con menor disponibilidad estadística o sin reportes regulares al Banco Mundial. A pesar del porcentaje elevado de NA en el año 2000, este indicador continúa siendo relevante para el análisis económico. La decisión es mantener la variable sin imputar datos, ya que la imputación podría introducir sesgos importantes y no hay un mecanismo claro para estimar los valores faltantes. Además, al unir las bases, solo se conservarán aquellos países con datos completos en todas las variables, evitando así distorsiones en la estimación final.</a:t>
            </a:r>
            <a:endParaRPr sz="1100">
              <a:solidFill>
                <a:srgbClr val="000000"/>
              </a:solidFill>
            </a:endParaRPr>
          </a:p>
          <a:p>
            <a:pPr indent="0" lvl="0" marL="0" rtl="0" algn="just">
              <a:spcBef>
                <a:spcPts val="0"/>
              </a:spcBef>
              <a:spcAft>
                <a:spcPts val="0"/>
              </a:spcAft>
              <a:buNone/>
            </a:pPr>
            <a:r>
              <a:t/>
            </a:r>
            <a:endParaRPr sz="1100">
              <a:solidFill>
                <a:srgbClr val="000000"/>
              </a:solidFill>
            </a:endParaRPr>
          </a:p>
          <a:p>
            <a:pPr indent="0" lvl="0" marL="0" rtl="0" algn="just">
              <a:spcBef>
                <a:spcPts val="0"/>
              </a:spcBef>
              <a:spcAft>
                <a:spcPts val="0"/>
              </a:spcAft>
              <a:buNone/>
            </a:pPr>
            <a:r>
              <a:rPr b="1" lang="es" sz="1100">
                <a:solidFill>
                  <a:srgbClr val="000000"/>
                </a:solidFill>
              </a:rPr>
              <a:t>Inflación – Deflactor del PIB (%):</a:t>
            </a:r>
            <a:r>
              <a:rPr lang="es" sz="1100">
                <a:solidFill>
                  <a:srgbClr val="000000"/>
                </a:solidFill>
              </a:rPr>
              <a:t> Los valores faltantes representan una proporción baja respecto del total de países. Los faltantes se distribuyen de manera dispersa y no muestran patrones geográficos ni económicos definidos. La variable presenta una calidad adecuada y los NA no comprometen la representatividad. La inflación medida por el deflactor del PIB es un indicador macroeconómico esencial para el estudio, por lo que se mantiene sin imputaciones para preservar la consistencia metodológica.</a:t>
            </a:r>
            <a:endParaRPr sz="1100">
              <a:solidFill>
                <a:srgbClr val="000000"/>
              </a:solidFill>
            </a:endParaRPr>
          </a:p>
          <a:p>
            <a:pPr indent="0" lvl="0" marL="0" rtl="0" algn="just">
              <a:spcBef>
                <a:spcPts val="0"/>
              </a:spcBef>
              <a:spcAft>
                <a:spcPts val="0"/>
              </a:spcAft>
              <a:buNone/>
            </a:pPr>
            <a:r>
              <a:t/>
            </a:r>
            <a:endParaRPr sz="1100">
              <a:solidFill>
                <a:srgbClr val="000000"/>
              </a:solidFill>
            </a:endParaRPr>
          </a:p>
          <a:p>
            <a:pPr indent="0" lvl="0" marL="0" rtl="0" algn="just">
              <a:spcBef>
                <a:spcPts val="0"/>
              </a:spcBef>
              <a:spcAft>
                <a:spcPts val="0"/>
              </a:spcAft>
              <a:buNone/>
            </a:pPr>
            <a:r>
              <a:rPr b="1" lang="es" sz="1100">
                <a:solidFill>
                  <a:srgbClr val="000000"/>
                </a:solidFill>
              </a:rPr>
              <a:t>Crecimiento del PIB (%):</a:t>
            </a:r>
            <a:r>
              <a:rPr lang="es" sz="1100">
                <a:solidFill>
                  <a:srgbClr val="000000"/>
                </a:solidFill>
              </a:rPr>
              <a:t> El patrón es idéntico al del deflactor del PIB porque las bases tienen la misma cobertura histórica. El porcentaje de NA es bajo y estable a lo largo de los años. El crecimiento económico anual es una variable fundamental y los NA no generan un problema estadístico significativo. No existe evidencia de un patrón sistemático en la ausencia de datos, por lo que se asume que los faltantes corresponden a un mecanismo MCAR (Missing Completely At Random), lo cual permite trabajar sin imputación.</a:t>
            </a:r>
            <a:endParaRPr sz="1100">
              <a:solidFill>
                <a:srgbClr val="000000"/>
              </a:solidFill>
            </a:endParaRPr>
          </a:p>
          <a:p>
            <a:pPr indent="0" lvl="0" marL="0" rtl="0" algn="just">
              <a:spcBef>
                <a:spcPts val="1200"/>
              </a:spcBef>
              <a:spcAft>
                <a:spcPts val="1200"/>
              </a:spcAft>
              <a:buNone/>
            </a:pPr>
            <a:r>
              <a:t/>
            </a:r>
            <a:endParaRPr b="1" sz="11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5"/>
          <p:cNvSpPr txBox="1"/>
          <p:nvPr>
            <p:ph type="ctrTitle"/>
          </p:nvPr>
        </p:nvSpPr>
        <p:spPr>
          <a:xfrm>
            <a:off x="626650" y="145562"/>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50" name="Google Shape;350;p25"/>
          <p:cNvSpPr txBox="1"/>
          <p:nvPr>
            <p:ph idx="4294967295" type="body"/>
          </p:nvPr>
        </p:nvSpPr>
        <p:spPr>
          <a:xfrm>
            <a:off x="626650" y="1044300"/>
            <a:ext cx="7209000" cy="3987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sz="1000">
                <a:solidFill>
                  <a:srgbClr val="000000"/>
                </a:solidFill>
              </a:rPr>
              <a:t>Justificaciones sobre el tratamiento de outliers y datos faltantes:</a:t>
            </a:r>
            <a:endParaRPr b="1" sz="1000">
              <a:solidFill>
                <a:srgbClr val="000000"/>
              </a:solidFill>
            </a:endParaRPr>
          </a:p>
          <a:p>
            <a:pPr indent="0" lvl="0" marL="0" rtl="0" algn="just">
              <a:spcBef>
                <a:spcPts val="1200"/>
              </a:spcBef>
              <a:spcAft>
                <a:spcPts val="0"/>
              </a:spcAft>
              <a:buNone/>
            </a:pPr>
            <a:r>
              <a:rPr b="1" lang="es" sz="1000">
                <a:solidFill>
                  <a:srgbClr val="000000"/>
                </a:solidFill>
              </a:rPr>
              <a:t>Desempleo: </a:t>
            </a:r>
            <a:r>
              <a:rPr lang="es" sz="1000">
                <a:solidFill>
                  <a:srgbClr val="000000"/>
                </a:solidFill>
              </a:rPr>
              <a:t>Los NA se mantienen relativamente constantes entre los años analizados. La ausencia de datos se observa principalmente en países con baja frecuencia de reportes laborales o dificultades institucionales para medir el desempleo. El desempleo es un indicador clave para interpretar la situación macroeconómica. Los valores faltantes no superan un umbral crítico y no presentan sesgos regionales fuertes. Se mantiene la variable sin imputaciones para preservar la comparabilidad.</a:t>
            </a:r>
            <a:endParaRPr sz="1000">
              <a:solidFill>
                <a:srgbClr val="000000"/>
              </a:solidFill>
            </a:endParaRPr>
          </a:p>
          <a:p>
            <a:pPr indent="0" lvl="0" marL="0" rtl="0" algn="just">
              <a:spcBef>
                <a:spcPts val="0"/>
              </a:spcBef>
              <a:spcAft>
                <a:spcPts val="0"/>
              </a:spcAft>
              <a:buNone/>
            </a:pPr>
            <a:r>
              <a:t/>
            </a:r>
            <a:endParaRPr sz="1000">
              <a:solidFill>
                <a:srgbClr val="000000"/>
              </a:solidFill>
            </a:endParaRPr>
          </a:p>
          <a:p>
            <a:pPr indent="0" lvl="0" marL="0" rtl="0" algn="just">
              <a:spcBef>
                <a:spcPts val="0"/>
              </a:spcBef>
              <a:spcAft>
                <a:spcPts val="0"/>
              </a:spcAft>
              <a:buNone/>
            </a:pPr>
            <a:r>
              <a:rPr b="1" lang="es" sz="1000">
                <a:solidFill>
                  <a:srgbClr val="000000"/>
                </a:solidFill>
              </a:rPr>
              <a:t>Tipo de cambio oficial:</a:t>
            </a:r>
            <a:r>
              <a:rPr lang="es" sz="1000">
                <a:solidFill>
                  <a:srgbClr val="000000"/>
                </a:solidFill>
              </a:rPr>
              <a:t> </a:t>
            </a:r>
            <a:r>
              <a:rPr lang="es" sz="1000">
                <a:solidFill>
                  <a:srgbClr val="000000"/>
                </a:solidFill>
              </a:rPr>
              <a:t>Los faltantes se explican por motivos estructurales.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Países dolarizados que no poseen moneda propia (Ecuador, Panamá, El Salvador),</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Países multimoneda (Timor Oriental),</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Países pertenecientes al euro (no informan tipo de cambio bilateral),</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Microestados con escasa información pública.</a:t>
            </a:r>
            <a:endParaRPr sz="1000">
              <a:solidFill>
                <a:srgbClr val="000000"/>
              </a:solidFill>
            </a:endParaRPr>
          </a:p>
          <a:p>
            <a:pPr indent="0" lvl="0" marL="0" rtl="0" algn="just">
              <a:spcBef>
                <a:spcPts val="1200"/>
              </a:spcBef>
              <a:spcAft>
                <a:spcPts val="0"/>
              </a:spcAft>
              <a:buNone/>
            </a:pPr>
            <a:r>
              <a:rPr lang="es" sz="1000">
                <a:solidFill>
                  <a:srgbClr val="000000"/>
                </a:solidFill>
              </a:rPr>
              <a:t>Este patrón no representa un problema estadístico, sino una característica real del sistema monetario internacional. No corresponde imputar estos valores porque la ausencia está directamente relacionada a factores económicos reales y no a errores de medición. En la etapa de unión de datos, los países sin moneda propia no serán incluidos automáticamente, lo que garantiza un dataset final coherente. </a:t>
            </a:r>
            <a:endParaRPr sz="1000">
              <a:solidFill>
                <a:srgbClr val="000000"/>
              </a:solidFill>
            </a:endParaRPr>
          </a:p>
          <a:p>
            <a:pPr indent="0" lvl="0" marL="0" rtl="0" algn="just">
              <a:spcBef>
                <a:spcPts val="1200"/>
              </a:spcBef>
              <a:spcAft>
                <a:spcPts val="1200"/>
              </a:spcAft>
              <a:buNone/>
            </a:pPr>
            <a:r>
              <a:t/>
            </a:r>
            <a:endParaRPr b="1" sz="10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6"/>
          <p:cNvSpPr txBox="1"/>
          <p:nvPr>
            <p:ph type="ctrTitle"/>
          </p:nvPr>
        </p:nvSpPr>
        <p:spPr>
          <a:xfrm>
            <a:off x="626650" y="145562"/>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56" name="Google Shape;356;p26"/>
          <p:cNvSpPr txBox="1"/>
          <p:nvPr>
            <p:ph idx="4294967295" type="body"/>
          </p:nvPr>
        </p:nvSpPr>
        <p:spPr>
          <a:xfrm>
            <a:off x="626650" y="1044300"/>
            <a:ext cx="7209000" cy="3987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sz="1000">
                <a:solidFill>
                  <a:srgbClr val="000000"/>
                </a:solidFill>
              </a:rPr>
              <a:t>Justificaciones sobre el tratamiento de outliers y datos faltantes:</a:t>
            </a:r>
            <a:endParaRPr b="1" sz="1000">
              <a:solidFill>
                <a:srgbClr val="000000"/>
              </a:solidFill>
            </a:endParaRPr>
          </a:p>
          <a:p>
            <a:pPr indent="0" lvl="0" marL="0" rtl="0" algn="just">
              <a:spcBef>
                <a:spcPts val="1200"/>
              </a:spcBef>
              <a:spcAft>
                <a:spcPts val="0"/>
              </a:spcAft>
              <a:buNone/>
            </a:pPr>
            <a:r>
              <a:rPr lang="es" sz="1000">
                <a:solidFill>
                  <a:srgbClr val="000000"/>
                </a:solidFill>
              </a:rPr>
              <a:t>Al analizar la distribución de valores faltantes por país, se observa un patrón claro: los NA no están distribuidos al azar. Los países con mayor cantidad de datos faltantes corresponden principalmente a:</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Economías muy pequeñas o insulares (Micronesia, Samoa, Islas Marshall, Kiribati, Vanuatu).</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Territorios no soberanos o regiones estadísticas (San Marino, Islas Caimán, territorios británicos, etc.).</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Países con menor desarrollo institucional o conflictos (Yemen, Libia, Afganistán)</a:t>
            </a:r>
            <a:endParaRPr sz="1000">
              <a:solidFill>
                <a:srgbClr val="000000"/>
              </a:solidFill>
            </a:endParaRPr>
          </a:p>
          <a:p>
            <a:pPr indent="0" lvl="0" marL="0" rtl="0" algn="just">
              <a:spcBef>
                <a:spcPts val="1200"/>
              </a:spcBef>
              <a:spcAft>
                <a:spcPts val="0"/>
              </a:spcAft>
              <a:buNone/>
            </a:pPr>
            <a:r>
              <a:rPr lang="es" sz="1000">
                <a:solidFill>
                  <a:srgbClr val="000000"/>
                </a:solidFill>
              </a:rPr>
              <a:t>En la mayoría de los casos, estos países presentan </a:t>
            </a:r>
            <a:r>
              <a:rPr lang="es" sz="1000">
                <a:solidFill>
                  <a:srgbClr val="000000"/>
                </a:solidFill>
              </a:rPr>
              <a:t>3 valores faltantes,</a:t>
            </a:r>
            <a:r>
              <a:rPr lang="es" sz="1000">
                <a:solidFill>
                  <a:srgbClr val="000000"/>
                </a:solidFill>
              </a:rPr>
              <a:t> correspondientes a los tres años seleccionados (2000, 2010 y 2023). Esto indica que el problema no es específico de un año sino estructural: estos países no reportan el indicador en ninguna de las fechas.</a:t>
            </a:r>
            <a:endParaRPr sz="1000">
              <a:solidFill>
                <a:srgbClr val="000000"/>
              </a:solidFill>
            </a:endParaRPr>
          </a:p>
          <a:p>
            <a:pPr indent="0" lvl="0" marL="0" rtl="0" algn="just">
              <a:spcBef>
                <a:spcPts val="1200"/>
              </a:spcBef>
              <a:spcAft>
                <a:spcPts val="0"/>
              </a:spcAft>
              <a:buNone/>
            </a:pPr>
            <a:r>
              <a:rPr lang="es" sz="1000">
                <a:solidFill>
                  <a:srgbClr val="000000"/>
                </a:solidFill>
              </a:rPr>
              <a:t>Por lo tanto, la ausencia de datos no sigue un patrón aleatorio, sino que está asociada a características del país (tamaño, estabilidad, calidad estadística). Dado que la falta de información es sistemática y afecta a pocos países de baja relevancia económica en el análisis, se considera apropiado eliminar estas observaciones para evitar distorsiones en los resultados del modelo.</a:t>
            </a:r>
            <a:endParaRPr sz="1000">
              <a:solidFill>
                <a:srgbClr val="000000"/>
              </a:solidFill>
            </a:endParaRPr>
          </a:p>
          <a:p>
            <a:pPr indent="0" lvl="0" marL="0" rtl="0" algn="just">
              <a:spcBef>
                <a:spcPts val="1200"/>
              </a:spcBef>
              <a:spcAft>
                <a:spcPts val="1200"/>
              </a:spcAft>
              <a:buNone/>
            </a:pPr>
            <a:r>
              <a:t/>
            </a:r>
            <a:endParaRPr b="1" sz="10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7"/>
          <p:cNvSpPr txBox="1"/>
          <p:nvPr>
            <p:ph type="ctrTitle"/>
          </p:nvPr>
        </p:nvSpPr>
        <p:spPr>
          <a:xfrm>
            <a:off x="626650" y="101030"/>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62" name="Google Shape;362;p27"/>
          <p:cNvSpPr txBox="1"/>
          <p:nvPr>
            <p:ph idx="4294967295" type="body"/>
          </p:nvPr>
        </p:nvSpPr>
        <p:spPr>
          <a:xfrm>
            <a:off x="626650" y="982043"/>
            <a:ext cx="7303500" cy="40992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1200"/>
              </a:spcBef>
              <a:spcAft>
                <a:spcPts val="0"/>
              </a:spcAft>
              <a:buNone/>
            </a:pPr>
            <a:r>
              <a:rPr b="1" lang="es" sz="1100">
                <a:solidFill>
                  <a:srgbClr val="000000"/>
                </a:solidFill>
              </a:rPr>
              <a:t>Tratamiento de outliers por variable</a:t>
            </a:r>
            <a:endParaRPr b="1" sz="1100">
              <a:solidFill>
                <a:srgbClr val="000000"/>
              </a:solidFill>
            </a:endParaRPr>
          </a:p>
          <a:p>
            <a:pPr indent="0" lvl="0" marL="0" rtl="0" algn="just">
              <a:spcBef>
                <a:spcPts val="1200"/>
              </a:spcBef>
              <a:spcAft>
                <a:spcPts val="0"/>
              </a:spcAft>
              <a:buNone/>
            </a:pPr>
            <a:r>
              <a:rPr lang="es" sz="1100">
                <a:solidFill>
                  <a:srgbClr val="000000"/>
                </a:solidFill>
              </a:rPr>
              <a:t>El análisis de valores atípicos o outliers no puede limitarse a una decisión estadística: debe estar fundamentado en la naturaleza económica de cada serie y en los procesos macroeconómicos que subyacen a la distribución observada. Por eso, el tratamiento aplicado fue diferenciado por variable, priorizando preservar la información económica relevante y evitar distorsiones en la interpretación. Esto es teniendo en cuenta que el objetivo de este trabajo es obtener tendencias macro estables, no estudiar países outliers como Eritrea o Sierra Leona.</a:t>
            </a:r>
            <a:endParaRPr sz="1100">
              <a:solidFill>
                <a:srgbClr val="000000"/>
              </a:solidFill>
            </a:endParaRPr>
          </a:p>
          <a:p>
            <a:pPr indent="0" lvl="0" marL="0" rtl="0" algn="just">
              <a:spcBef>
                <a:spcPts val="1200"/>
              </a:spcBef>
              <a:spcAft>
                <a:spcPts val="0"/>
              </a:spcAft>
              <a:buNone/>
            </a:pPr>
            <a:r>
              <a:rPr b="1" lang="es" sz="1100">
                <a:solidFill>
                  <a:srgbClr val="000000"/>
                </a:solidFill>
              </a:rPr>
              <a:t>Inflación: </a:t>
            </a:r>
            <a:r>
              <a:rPr lang="es" sz="1100">
                <a:solidFill>
                  <a:srgbClr val="000000"/>
                </a:solidFill>
              </a:rPr>
              <a:t>La inflación internacional presenta una distribución fuertemente asimétrica, donde:</a:t>
            </a:r>
            <a:endParaRPr sz="1100">
              <a:solidFill>
                <a:srgbClr val="000000"/>
              </a:solidFill>
            </a:endParaRPr>
          </a:p>
          <a:p>
            <a:pPr indent="-293211" lvl="0" marL="457200" rtl="0" algn="just">
              <a:spcBef>
                <a:spcPts val="1200"/>
              </a:spcBef>
              <a:spcAft>
                <a:spcPts val="0"/>
              </a:spcAft>
              <a:buClr>
                <a:srgbClr val="000000"/>
              </a:buClr>
              <a:buSzPct val="100000"/>
              <a:buFont typeface="Nunito"/>
              <a:buChar char="●"/>
            </a:pPr>
            <a:r>
              <a:rPr lang="es" sz="1100">
                <a:solidFill>
                  <a:srgbClr val="000000"/>
                </a:solidFill>
              </a:rPr>
              <a:t>El 90% de los países mantienen inflaciones relativamente moderadas,</a:t>
            </a:r>
            <a:endParaRPr sz="1100">
              <a:solidFill>
                <a:srgbClr val="000000"/>
              </a:solidFill>
            </a:endParaRPr>
          </a:p>
          <a:p>
            <a:pPr indent="-293211" lvl="0" marL="457200" rtl="0" algn="just">
              <a:spcBef>
                <a:spcPts val="0"/>
              </a:spcBef>
              <a:spcAft>
                <a:spcPts val="0"/>
              </a:spcAft>
              <a:buClr>
                <a:srgbClr val="000000"/>
              </a:buClr>
              <a:buSzPct val="100000"/>
              <a:buFont typeface="Nunito"/>
              <a:buChar char="●"/>
            </a:pPr>
            <a:r>
              <a:rPr lang="es" sz="1100">
                <a:solidFill>
                  <a:srgbClr val="000000"/>
                </a:solidFill>
              </a:rPr>
              <a:t>pero un pequeño grupo exhibe episodios de alta inflación o hiperinflación, generados por:</a:t>
            </a:r>
            <a:endParaRPr sz="1100">
              <a:solidFill>
                <a:srgbClr val="000000"/>
              </a:solidFill>
            </a:endParaRPr>
          </a:p>
          <a:p>
            <a:pPr indent="-293211" lvl="1" marL="914400" rtl="0" algn="just">
              <a:spcBef>
                <a:spcPts val="0"/>
              </a:spcBef>
              <a:spcAft>
                <a:spcPts val="0"/>
              </a:spcAft>
              <a:buClr>
                <a:srgbClr val="000000"/>
              </a:buClr>
              <a:buSzPct val="100000"/>
              <a:buFont typeface="Nunito"/>
              <a:buChar char="○"/>
            </a:pPr>
            <a:r>
              <a:rPr lang="es">
                <a:solidFill>
                  <a:srgbClr val="000000"/>
                </a:solidFill>
              </a:rPr>
              <a:t>Crisis fiscales y monetarias,</a:t>
            </a:r>
            <a:endParaRPr>
              <a:solidFill>
                <a:srgbClr val="000000"/>
              </a:solidFill>
            </a:endParaRPr>
          </a:p>
          <a:p>
            <a:pPr indent="-293211" lvl="1" marL="914400" rtl="0" algn="just">
              <a:spcBef>
                <a:spcPts val="0"/>
              </a:spcBef>
              <a:spcAft>
                <a:spcPts val="0"/>
              </a:spcAft>
              <a:buClr>
                <a:srgbClr val="000000"/>
              </a:buClr>
              <a:buSzPct val="100000"/>
              <a:buFont typeface="Nunito"/>
              <a:buChar char="○"/>
            </a:pPr>
            <a:r>
              <a:rPr lang="es">
                <a:solidFill>
                  <a:srgbClr val="000000"/>
                </a:solidFill>
              </a:rPr>
              <a:t>Regímenes cambiarios inestables,</a:t>
            </a:r>
            <a:endParaRPr>
              <a:solidFill>
                <a:srgbClr val="000000"/>
              </a:solidFill>
            </a:endParaRPr>
          </a:p>
          <a:p>
            <a:pPr indent="-293211" lvl="1" marL="914400" rtl="0" algn="just">
              <a:spcBef>
                <a:spcPts val="0"/>
              </a:spcBef>
              <a:spcAft>
                <a:spcPts val="0"/>
              </a:spcAft>
              <a:buClr>
                <a:srgbClr val="000000"/>
              </a:buClr>
              <a:buSzPct val="100000"/>
              <a:buFont typeface="Nunito"/>
              <a:buChar char="○"/>
            </a:pPr>
            <a:r>
              <a:rPr lang="es">
                <a:solidFill>
                  <a:srgbClr val="000000"/>
                </a:solidFill>
              </a:rPr>
              <a:t>Dominancia fiscal,</a:t>
            </a:r>
            <a:endParaRPr>
              <a:solidFill>
                <a:srgbClr val="000000"/>
              </a:solidFill>
            </a:endParaRPr>
          </a:p>
          <a:p>
            <a:pPr indent="-293211" lvl="1" marL="914400" rtl="0" algn="just">
              <a:spcBef>
                <a:spcPts val="0"/>
              </a:spcBef>
              <a:spcAft>
                <a:spcPts val="0"/>
              </a:spcAft>
              <a:buClr>
                <a:srgbClr val="000000"/>
              </a:buClr>
              <a:buSzPct val="100000"/>
              <a:buFont typeface="Nunito"/>
              <a:buChar char="○"/>
            </a:pPr>
            <a:r>
              <a:rPr lang="es">
                <a:solidFill>
                  <a:srgbClr val="000000"/>
                </a:solidFill>
              </a:rPr>
              <a:t>Shocks políticos extremos.</a:t>
            </a:r>
            <a:endParaRPr>
              <a:solidFill>
                <a:srgbClr val="000000"/>
              </a:solidFill>
            </a:endParaRPr>
          </a:p>
          <a:p>
            <a:pPr indent="0" lvl="0" marL="0" rtl="0" algn="just">
              <a:spcBef>
                <a:spcPts val="1200"/>
              </a:spcBef>
              <a:spcAft>
                <a:spcPts val="0"/>
              </a:spcAft>
              <a:buNone/>
            </a:pPr>
            <a:r>
              <a:rPr lang="es" sz="1100">
                <a:solidFill>
                  <a:srgbClr val="000000"/>
                </a:solidFill>
              </a:rPr>
              <a:t>Estos valores no son “errores”, sino hechos macroeconómicos relevantes. Sin embargo, generan una distribución extremadamente sesgada. Para esto, se winsoriza la cola inferior (P1) para corregir </a:t>
            </a:r>
            <a:r>
              <a:rPr lang="es" sz="1100">
                <a:solidFill>
                  <a:srgbClr val="000000"/>
                </a:solidFill>
              </a:rPr>
              <a:t>únicamente</a:t>
            </a:r>
            <a:r>
              <a:rPr lang="es" sz="1100">
                <a:solidFill>
                  <a:srgbClr val="000000"/>
                </a:solidFill>
              </a:rPr>
              <a:t> los valores negativos o extremadamente bajos, que son menos relevante </a:t>
            </a:r>
            <a:r>
              <a:rPr lang="es" sz="1100">
                <a:solidFill>
                  <a:srgbClr val="000000"/>
                </a:solidFill>
              </a:rPr>
              <a:t>macroeconómicamente</a:t>
            </a:r>
            <a:r>
              <a:rPr lang="es" sz="1100">
                <a:solidFill>
                  <a:srgbClr val="000000"/>
                </a:solidFill>
              </a:rPr>
              <a:t> y suelen deberse a problemas de </a:t>
            </a:r>
            <a:r>
              <a:rPr lang="es" sz="1100">
                <a:solidFill>
                  <a:srgbClr val="000000"/>
                </a:solidFill>
              </a:rPr>
              <a:t>medición. No se winsoriza la cola superior ya que los episodios de alta inflación deben analizarse, no eliminarse, que representan fenómenos estructurales (Argentina, Venezuela). Para reducir la asimetría, estabilizar varianzas y evitar que hiperinflaciones dominen el análisis, se realizó una transformación logarítmica que suaviza la escala.</a:t>
            </a:r>
            <a:endParaRPr sz="1100">
              <a:solidFill>
                <a:srgbClr val="000000"/>
              </a:solidFill>
            </a:endParaRPr>
          </a:p>
          <a:p>
            <a:pPr indent="0" lvl="0" marL="0" rtl="0" algn="just">
              <a:spcBef>
                <a:spcPts val="1200"/>
              </a:spcBef>
              <a:spcAft>
                <a:spcPts val="1200"/>
              </a:spcAft>
              <a:buNone/>
            </a:pPr>
            <a:r>
              <a:rPr lang="es" sz="1100">
                <a:solidFill>
                  <a:srgbClr val="000000"/>
                </a:solidFill>
              </a:rPr>
              <a:t>La inflación es un fenómeno central para evaluar estabilidad macroeconómica. Atenuar extremos bajos y suavizar la escala (log) sin eliminar episodios de crisis permite estudiar la volatilidad real de la variable.</a:t>
            </a:r>
            <a:endParaRPr sz="11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8"/>
          <p:cNvSpPr txBox="1"/>
          <p:nvPr>
            <p:ph type="ctrTitle"/>
          </p:nvPr>
        </p:nvSpPr>
        <p:spPr>
          <a:xfrm>
            <a:off x="626650" y="145562"/>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68" name="Google Shape;368;p28"/>
          <p:cNvSpPr txBox="1"/>
          <p:nvPr>
            <p:ph idx="4294967295" type="body"/>
          </p:nvPr>
        </p:nvSpPr>
        <p:spPr>
          <a:xfrm>
            <a:off x="626650" y="1026584"/>
            <a:ext cx="7209000" cy="40992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sz="1000">
                <a:solidFill>
                  <a:srgbClr val="000000"/>
                </a:solidFill>
              </a:rPr>
              <a:t>Tratamiento de outliers por variable</a:t>
            </a:r>
            <a:endParaRPr b="1" sz="1000">
              <a:solidFill>
                <a:srgbClr val="000000"/>
              </a:solidFill>
            </a:endParaRPr>
          </a:p>
          <a:p>
            <a:pPr indent="0" lvl="0" marL="0" rtl="0" algn="just">
              <a:spcBef>
                <a:spcPts val="1200"/>
              </a:spcBef>
              <a:spcAft>
                <a:spcPts val="0"/>
              </a:spcAft>
              <a:buNone/>
            </a:pPr>
            <a:r>
              <a:rPr b="1" lang="es" sz="1000">
                <a:solidFill>
                  <a:srgbClr val="000000"/>
                </a:solidFill>
              </a:rPr>
              <a:t>Crecimiento del PIB:</a:t>
            </a:r>
            <a:r>
              <a:rPr lang="es" sz="1000">
                <a:solidFill>
                  <a:srgbClr val="000000"/>
                </a:solidFill>
              </a:rPr>
              <a:t> El crecimiento económico presenta una volatilidad natural asociada al ciclo económico, variaciones en la inversión, shocks externos, fluctuaciones en los términos de intercambio, o crisis financieras. Los valores extremos (contracciones del producto del 20% o recuperaciones del 10%-15%) son valores económicamente plausibles y representan hechos estilizados del comportamiento macroeconómico global.</a:t>
            </a:r>
            <a:endParaRPr sz="1000">
              <a:solidFill>
                <a:srgbClr val="000000"/>
              </a:solidFill>
            </a:endParaRPr>
          </a:p>
          <a:p>
            <a:pPr indent="0" lvl="0" marL="0" rtl="0" algn="just">
              <a:spcBef>
                <a:spcPts val="1200"/>
              </a:spcBef>
              <a:spcAft>
                <a:spcPts val="0"/>
              </a:spcAft>
              <a:buNone/>
            </a:pPr>
            <a:r>
              <a:rPr lang="es" sz="1000">
                <a:solidFill>
                  <a:srgbClr val="000000"/>
                </a:solidFill>
              </a:rPr>
              <a:t>No se eliminaron ni transformaron outliers. La variable presenta una distribución aproximadamente normal y los valores extremos corresponden a países de mayor tamaño económico, por lo que su inclusión es necesaria para mantener la heterogeneidad estructural del panel.</a:t>
            </a:r>
            <a:endParaRPr sz="1000">
              <a:solidFill>
                <a:srgbClr val="000000"/>
              </a:solidFill>
            </a:endParaRPr>
          </a:p>
          <a:p>
            <a:pPr indent="0" lvl="0" marL="0" rtl="0" algn="just">
              <a:spcBef>
                <a:spcPts val="1200"/>
              </a:spcBef>
              <a:spcAft>
                <a:spcPts val="1200"/>
              </a:spcAft>
              <a:buNone/>
            </a:pPr>
            <a:r>
              <a:rPr b="1" lang="es" sz="1000">
                <a:solidFill>
                  <a:srgbClr val="000000"/>
                </a:solidFill>
              </a:rPr>
              <a:t>Desempleo:</a:t>
            </a:r>
            <a:r>
              <a:rPr lang="es" sz="1000">
                <a:solidFill>
                  <a:srgbClr val="000000"/>
                </a:solidFill>
              </a:rPr>
              <a:t> Se decidió no eliminar ni winsorizar valores extremos. La distribución, aunque presenta dispersión, no exhibe valores extremos que afecten significativamente el análisis. Además, las diferencias pueden reflejar características estructurales reales del mercado laboral entre países. Por ejemplo, en el caso de España, en 2010 tuvo una tasa de desempleo cercana al 20%. Esto no es un error estadístico, y recortar estos valores </a:t>
            </a:r>
            <a:r>
              <a:rPr lang="es" sz="1000">
                <a:solidFill>
                  <a:srgbClr val="000000"/>
                </a:solidFill>
              </a:rPr>
              <a:t>significa</a:t>
            </a:r>
            <a:r>
              <a:rPr lang="es" sz="1000">
                <a:solidFill>
                  <a:srgbClr val="000000"/>
                </a:solidFill>
              </a:rPr>
              <a:t> invisibilizar episodios prolongados de crisis laboral.</a:t>
            </a:r>
            <a:endParaRPr sz="10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9"/>
          <p:cNvSpPr txBox="1"/>
          <p:nvPr>
            <p:ph type="ctrTitle"/>
          </p:nvPr>
        </p:nvSpPr>
        <p:spPr>
          <a:xfrm>
            <a:off x="626650" y="145562"/>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Diseño metodológico </a:t>
            </a:r>
            <a:endParaRPr sz="2800"/>
          </a:p>
        </p:txBody>
      </p:sp>
      <p:sp>
        <p:nvSpPr>
          <p:cNvPr descr="2)" id="374" name="Google Shape;374;p29"/>
          <p:cNvSpPr txBox="1"/>
          <p:nvPr>
            <p:ph idx="4294967295" type="body"/>
          </p:nvPr>
        </p:nvSpPr>
        <p:spPr>
          <a:xfrm>
            <a:off x="620745" y="1002963"/>
            <a:ext cx="7209000" cy="40992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s" sz="1000">
                <a:solidFill>
                  <a:srgbClr val="000000"/>
                </a:solidFill>
              </a:rPr>
              <a:t>Tratamiento de outliers por variable</a:t>
            </a:r>
            <a:endParaRPr b="1" sz="1000">
              <a:solidFill>
                <a:srgbClr val="000000"/>
              </a:solidFill>
            </a:endParaRPr>
          </a:p>
          <a:p>
            <a:pPr indent="0" lvl="0" marL="0" rtl="0" algn="just">
              <a:spcBef>
                <a:spcPts val="1200"/>
              </a:spcBef>
              <a:spcAft>
                <a:spcPts val="0"/>
              </a:spcAft>
              <a:buNone/>
            </a:pPr>
            <a:r>
              <a:rPr b="1" lang="es" sz="1000">
                <a:solidFill>
                  <a:srgbClr val="000000"/>
                </a:solidFill>
              </a:rPr>
              <a:t>Gasto </a:t>
            </a:r>
            <a:r>
              <a:rPr b="1" lang="es" sz="1000">
                <a:solidFill>
                  <a:srgbClr val="000000"/>
                </a:solidFill>
              </a:rPr>
              <a:t>público</a:t>
            </a:r>
            <a:r>
              <a:rPr b="1" lang="es" sz="1000">
                <a:solidFill>
                  <a:srgbClr val="000000"/>
                </a:solidFill>
              </a:rPr>
              <a:t>:</a:t>
            </a:r>
            <a:r>
              <a:rPr lang="es" sz="1000">
                <a:solidFill>
                  <a:srgbClr val="000000"/>
                </a:solidFill>
              </a:rPr>
              <a:t> El gasto público exhibe una alta volatilidad estadística, en parte porque se mide como variación porcentual sobre valores absolutos que a menudo son pequeños. Esto puede magnificar movimientos modestos en países con estructuras fiscales reducidas. Sin embargo, muchas variaciones extremas (±50%, ±100%) no reflejan cambios estructurales sino efectos contables o estadísticos por bases pequeñas.</a:t>
            </a:r>
            <a:endParaRPr sz="1000">
              <a:solidFill>
                <a:srgbClr val="000000"/>
              </a:solidFill>
            </a:endParaRPr>
          </a:p>
          <a:p>
            <a:pPr indent="0" lvl="0" marL="0" rtl="0" algn="just">
              <a:spcBef>
                <a:spcPts val="1200"/>
              </a:spcBef>
              <a:spcAft>
                <a:spcPts val="0"/>
              </a:spcAft>
              <a:buNone/>
            </a:pPr>
            <a:r>
              <a:rPr lang="es" sz="1000">
                <a:solidFill>
                  <a:srgbClr val="000000"/>
                </a:solidFill>
              </a:rPr>
              <a:t>Se decidió no eliminar observaciones con valores extremos, sino winsorizar el 1% de ambas colas (P1 y P99). Esta decisión se justifica en que los valores extremos no representan errores de medición, pero sí pueden distorsionar los resultados agregados. Dado que el interés del trabajo no es estudiar los outliers en sí, sino el comportamiento macroeconómico promedio, la winsorización permite estabilizar la serie sin perder información estructural.</a:t>
            </a:r>
            <a:endParaRPr sz="1000">
              <a:solidFill>
                <a:srgbClr val="000000"/>
              </a:solidFill>
            </a:endParaRPr>
          </a:p>
          <a:p>
            <a:pPr indent="0" lvl="0" marL="0" rtl="0" algn="just">
              <a:spcBef>
                <a:spcPts val="1200"/>
              </a:spcBef>
              <a:spcAft>
                <a:spcPts val="0"/>
              </a:spcAft>
              <a:buNone/>
            </a:pPr>
            <a:r>
              <a:rPr b="1" lang="es" sz="1000">
                <a:solidFill>
                  <a:srgbClr val="000000"/>
                </a:solidFill>
              </a:rPr>
              <a:t>Tasa de cambio oficial: </a:t>
            </a:r>
            <a:r>
              <a:rPr lang="es" sz="1000">
                <a:solidFill>
                  <a:srgbClr val="000000"/>
                </a:solidFill>
              </a:rPr>
              <a:t>El tipo de cambio es el precio relativo más sensible en economías abiertas. Los valores extremadamente altos observados en algunos países no representan outliers estadísticos y su asimetría extrema es debido a países con hiperdevaluaciones o regímenes cambiarios altamente inestables.</a:t>
            </a:r>
            <a:endParaRPr sz="1000">
              <a:solidFill>
                <a:srgbClr val="000000"/>
              </a:solidFill>
            </a:endParaRPr>
          </a:p>
          <a:p>
            <a:pPr indent="0" lvl="0" marL="0" rtl="0" algn="just">
              <a:spcBef>
                <a:spcPts val="1200"/>
              </a:spcBef>
              <a:spcAft>
                <a:spcPts val="1200"/>
              </a:spcAft>
              <a:buNone/>
            </a:pPr>
            <a:r>
              <a:rPr lang="es" sz="1000">
                <a:solidFill>
                  <a:srgbClr val="000000"/>
                </a:solidFill>
              </a:rPr>
              <a:t>Para corregir esto se aplicó una </a:t>
            </a:r>
            <a:r>
              <a:rPr b="1" lang="es" sz="1000">
                <a:solidFill>
                  <a:srgbClr val="000000"/>
                </a:solidFill>
              </a:rPr>
              <a:t>transformación logarítmica</a:t>
            </a:r>
            <a:r>
              <a:rPr lang="es" sz="1000">
                <a:solidFill>
                  <a:srgbClr val="000000"/>
                </a:solidFill>
              </a:rPr>
              <a:t>, que reduce la escala, estabiliza la varianza y permite observar mejor la estructura de la distribución. Luego de la transformación, la distribución se vuelve mucho más interpretable, el boxplot adquiere forma normal y los outliers residuales corresponden a casos reales y esperables (Venezuela, Zimbabue, Sudán, Irán).</a:t>
            </a:r>
            <a:endParaRPr sz="10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0"/>
          <p:cNvSpPr txBox="1"/>
          <p:nvPr>
            <p:ph type="ctrTitle"/>
          </p:nvPr>
        </p:nvSpPr>
        <p:spPr>
          <a:xfrm>
            <a:off x="626650" y="145562"/>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Comparación </a:t>
            </a:r>
            <a:r>
              <a:rPr lang="es" sz="2800"/>
              <a:t>estadística</a:t>
            </a:r>
            <a:endParaRPr sz="2800"/>
          </a:p>
        </p:txBody>
      </p:sp>
      <p:sp>
        <p:nvSpPr>
          <p:cNvPr descr="2)" id="380" name="Google Shape;380;p30"/>
          <p:cNvSpPr txBox="1"/>
          <p:nvPr>
            <p:ph idx="4294967295" type="body"/>
          </p:nvPr>
        </p:nvSpPr>
        <p:spPr>
          <a:xfrm>
            <a:off x="620745" y="1002963"/>
            <a:ext cx="7209000" cy="40992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es" sz="1000">
                <a:solidFill>
                  <a:srgbClr val="000000"/>
                </a:solidFill>
              </a:rPr>
              <a:t>El análisis estadístico se realizó en dos etapas diferenciadas: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antes del tratamiento de valores atípicos, utilizando las series tal como fueron descargadas de la fuente original, y</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después de aplicar los criterios de winsorización o transformaciones específicos para cada variable.</a:t>
            </a:r>
            <a:endParaRPr sz="1000">
              <a:solidFill>
                <a:srgbClr val="000000"/>
              </a:solidFill>
            </a:endParaRPr>
          </a:p>
          <a:p>
            <a:pPr indent="0" lvl="0" marL="0" rtl="0" algn="just">
              <a:spcBef>
                <a:spcPts val="1200"/>
              </a:spcBef>
              <a:spcAft>
                <a:spcPts val="0"/>
              </a:spcAft>
              <a:buNone/>
            </a:pPr>
            <a:r>
              <a:rPr lang="es" sz="1000">
                <a:solidFill>
                  <a:srgbClr val="000000"/>
                </a:solidFill>
              </a:rPr>
              <a:t>El objetivo de esta comparación no es solo verificar que la limpieza se haya ejecutado correctamente, sino evaluar cómo la presencia de outliers distorsiona las medidas estadísticas centrales y, en consecuencia, cómo dichas distorsiones podrían sesgar la interpretación macroeconómica si no fueran tratadas.</a:t>
            </a:r>
            <a:endParaRPr sz="1000">
              <a:solidFill>
                <a:srgbClr val="000000"/>
              </a:solidFill>
            </a:endParaRPr>
          </a:p>
          <a:p>
            <a:pPr indent="0" lvl="0" marL="0" rtl="0" algn="just">
              <a:spcBef>
                <a:spcPts val="1800"/>
              </a:spcBef>
              <a:spcAft>
                <a:spcPts val="0"/>
              </a:spcAft>
              <a:buNone/>
            </a:pPr>
            <a:r>
              <a:rPr b="1" lang="es" sz="1000">
                <a:solidFill>
                  <a:srgbClr val="000000"/>
                </a:solidFill>
              </a:rPr>
              <a:t>Inflación: </a:t>
            </a:r>
            <a:r>
              <a:rPr lang="es" sz="1000">
                <a:solidFill>
                  <a:srgbClr val="000000"/>
                </a:solidFill>
              </a:rPr>
              <a:t>La variable inflación fue la más afectada por outliers, especialmente por casos extremos (por ejemplo, Argentina, Venezuela, Zimbabwe).</a:t>
            </a:r>
            <a:endParaRPr sz="1000">
              <a:solidFill>
                <a:srgbClr val="000000"/>
              </a:solidFill>
            </a:endParaRPr>
          </a:p>
          <a:p>
            <a:pPr indent="0" lvl="0" marL="0" rtl="0" algn="just">
              <a:spcBef>
                <a:spcPts val="1200"/>
              </a:spcBef>
              <a:spcAft>
                <a:spcPts val="0"/>
              </a:spcAft>
              <a:buNone/>
            </a:pPr>
            <a:r>
              <a:rPr lang="es" sz="1000">
                <a:solidFill>
                  <a:srgbClr val="000000"/>
                </a:solidFill>
              </a:rPr>
              <a:t>Los cambios porcentuales observados son contundentes:</a:t>
            </a:r>
            <a:endParaRPr sz="1000">
              <a:solidFill>
                <a:srgbClr val="000000"/>
              </a:solidFill>
            </a:endParaRPr>
          </a:p>
          <a:p>
            <a:pPr indent="-292100" lvl="0" marL="457200" rtl="0" algn="just">
              <a:spcBef>
                <a:spcPts val="1200"/>
              </a:spcBef>
              <a:spcAft>
                <a:spcPts val="0"/>
              </a:spcAft>
              <a:buClr>
                <a:srgbClr val="000000"/>
              </a:buClr>
              <a:buSzPts val="1000"/>
              <a:buFont typeface="Arial"/>
              <a:buChar char="●"/>
            </a:pPr>
            <a:r>
              <a:rPr b="1" lang="es" sz="1000">
                <a:solidFill>
                  <a:srgbClr val="000000"/>
                </a:solidFill>
              </a:rPr>
              <a:t>Media</a:t>
            </a:r>
            <a:r>
              <a:rPr lang="es" sz="1000">
                <a:solidFill>
                  <a:srgbClr val="000000"/>
                </a:solidFill>
              </a:rPr>
              <a:t>: –77.97%</a:t>
            </a:r>
            <a:endParaRPr sz="1000">
              <a:solidFill>
                <a:srgbClr val="000000"/>
              </a:solidFill>
            </a:endParaRPr>
          </a:p>
          <a:p>
            <a:pPr indent="-292100" lvl="0" marL="457200" rtl="0" algn="just">
              <a:spcBef>
                <a:spcPts val="0"/>
              </a:spcBef>
              <a:spcAft>
                <a:spcPts val="0"/>
              </a:spcAft>
              <a:buClr>
                <a:srgbClr val="000000"/>
              </a:buClr>
              <a:buSzPts val="1000"/>
              <a:buFont typeface="Arial"/>
              <a:buChar char="●"/>
            </a:pPr>
            <a:r>
              <a:rPr b="1" lang="es" sz="1000">
                <a:solidFill>
                  <a:srgbClr val="000000"/>
                </a:solidFill>
              </a:rPr>
              <a:t>Desvío estándar</a:t>
            </a:r>
            <a:r>
              <a:rPr lang="es" sz="1000">
                <a:solidFill>
                  <a:srgbClr val="000000"/>
                </a:solidFill>
              </a:rPr>
              <a:t>: –99.41%</a:t>
            </a:r>
            <a:endParaRPr sz="1000">
              <a:solidFill>
                <a:srgbClr val="000000"/>
              </a:solidFill>
            </a:endParaRPr>
          </a:p>
          <a:p>
            <a:pPr indent="-292100" lvl="0" marL="457200" rtl="0" algn="just">
              <a:spcBef>
                <a:spcPts val="0"/>
              </a:spcBef>
              <a:spcAft>
                <a:spcPts val="0"/>
              </a:spcAft>
              <a:buClr>
                <a:srgbClr val="000000"/>
              </a:buClr>
              <a:buSzPts val="1000"/>
              <a:buFont typeface="Arial"/>
              <a:buChar char="●"/>
            </a:pPr>
            <a:r>
              <a:rPr b="1" lang="es" sz="1000">
                <a:solidFill>
                  <a:srgbClr val="000000"/>
                </a:solidFill>
              </a:rPr>
              <a:t>Asimetría</a:t>
            </a:r>
            <a:r>
              <a:rPr lang="es" sz="1000">
                <a:solidFill>
                  <a:srgbClr val="000000"/>
                </a:solidFill>
              </a:rPr>
              <a:t>: –99.23%</a:t>
            </a:r>
            <a:endParaRPr sz="1000">
              <a:solidFill>
                <a:srgbClr val="000000"/>
              </a:solidFill>
            </a:endParaRPr>
          </a:p>
          <a:p>
            <a:pPr indent="-292100" lvl="0" marL="457200" rtl="0" algn="just">
              <a:spcBef>
                <a:spcPts val="0"/>
              </a:spcBef>
              <a:spcAft>
                <a:spcPts val="0"/>
              </a:spcAft>
              <a:buClr>
                <a:srgbClr val="000000"/>
              </a:buClr>
              <a:buSzPts val="1000"/>
              <a:buFont typeface="Arial"/>
              <a:buChar char="●"/>
            </a:pPr>
            <a:r>
              <a:rPr b="1" lang="es" sz="1000">
                <a:solidFill>
                  <a:srgbClr val="000000"/>
                </a:solidFill>
              </a:rPr>
              <a:t>Curtosis</a:t>
            </a:r>
            <a:r>
              <a:rPr lang="es" sz="1000">
                <a:solidFill>
                  <a:srgbClr val="000000"/>
                </a:solidFill>
              </a:rPr>
              <a:t>: –97.11%</a:t>
            </a:r>
            <a:endParaRPr sz="1000">
              <a:solidFill>
                <a:srgbClr val="000000"/>
              </a:solidFill>
            </a:endParaRPr>
          </a:p>
          <a:p>
            <a:pPr indent="-292100" lvl="0" marL="457200" rtl="0" algn="just">
              <a:spcBef>
                <a:spcPts val="0"/>
              </a:spcBef>
              <a:spcAft>
                <a:spcPts val="0"/>
              </a:spcAft>
              <a:buClr>
                <a:srgbClr val="000000"/>
              </a:buClr>
              <a:buSzPts val="1000"/>
              <a:buFont typeface="Arial"/>
              <a:buChar char="●"/>
            </a:pPr>
            <a:r>
              <a:rPr b="1" lang="es" sz="1000">
                <a:solidFill>
                  <a:srgbClr val="000000"/>
                </a:solidFill>
              </a:rPr>
              <a:t>Rango total</a:t>
            </a:r>
            <a:r>
              <a:rPr lang="es" sz="1000">
                <a:solidFill>
                  <a:srgbClr val="000000"/>
                </a:solidFill>
              </a:rPr>
              <a:t>: –99.70%</a:t>
            </a:r>
            <a:endParaRPr sz="1000">
              <a:solidFill>
                <a:srgbClr val="000000"/>
              </a:solidFill>
            </a:endParaRPr>
          </a:p>
          <a:p>
            <a:pPr indent="0" lvl="0" marL="0" rtl="0" algn="just">
              <a:spcBef>
                <a:spcPts val="1200"/>
              </a:spcBef>
              <a:spcAft>
                <a:spcPts val="1200"/>
              </a:spcAft>
              <a:buNone/>
            </a:pPr>
            <a:r>
              <a:t/>
            </a:r>
            <a:endParaRPr b="1" sz="100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1"/>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Comparación estadística</a:t>
            </a:r>
            <a:endParaRPr sz="2800"/>
          </a:p>
        </p:txBody>
      </p:sp>
      <p:sp>
        <p:nvSpPr>
          <p:cNvPr descr="2)" id="386" name="Google Shape;386;p31"/>
          <p:cNvSpPr txBox="1"/>
          <p:nvPr>
            <p:ph idx="4294967295" type="body"/>
          </p:nvPr>
        </p:nvSpPr>
        <p:spPr>
          <a:xfrm>
            <a:off x="632550" y="995625"/>
            <a:ext cx="7710900" cy="11751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200"/>
              </a:spcAft>
              <a:buSzPts val="605"/>
              <a:buNone/>
            </a:pPr>
            <a:r>
              <a:rPr lang="es" sz="1014">
                <a:solidFill>
                  <a:srgbClr val="000000"/>
                </a:solidFill>
              </a:rPr>
              <a:t>Antes del tratamiento, la distribución estaba completamente dominada por episodios hiperinflacionarios que no representan a la mayoría de los países en 2000, 2010 y 2023. Luego de winsorizar la cola izquierda y logaritmizar, la inflación pasa a mostrar una variabilidad compatible con dinámicas inflacionarias moderadas o altas pero estables. El tratamiento permite analizar la inflación como fenómeno macroeconómico general y no como episodios extremos.</a:t>
            </a:r>
            <a:endParaRPr sz="1014">
              <a:solidFill>
                <a:srgbClr val="000000"/>
              </a:solidFill>
            </a:endParaRPr>
          </a:p>
        </p:txBody>
      </p:sp>
      <p:pic>
        <p:nvPicPr>
          <p:cNvPr id="387" name="Google Shape;387;p31"/>
          <p:cNvPicPr preferRelativeResize="0"/>
          <p:nvPr/>
        </p:nvPicPr>
        <p:blipFill>
          <a:blip r:embed="rId3">
            <a:alphaModFix/>
          </a:blip>
          <a:stretch>
            <a:fillRect/>
          </a:stretch>
        </p:blipFill>
        <p:spPr>
          <a:xfrm>
            <a:off x="714825" y="1920275"/>
            <a:ext cx="3658261" cy="2558044"/>
          </a:xfrm>
          <a:prstGeom prst="rect">
            <a:avLst/>
          </a:prstGeom>
          <a:noFill/>
          <a:ln>
            <a:noFill/>
          </a:ln>
        </p:spPr>
      </p:pic>
      <p:pic>
        <p:nvPicPr>
          <p:cNvPr id="388" name="Google Shape;388;p31"/>
          <p:cNvPicPr preferRelativeResize="0"/>
          <p:nvPr/>
        </p:nvPicPr>
        <p:blipFill>
          <a:blip r:embed="rId4">
            <a:alphaModFix/>
          </a:blip>
          <a:stretch>
            <a:fillRect/>
          </a:stretch>
        </p:blipFill>
        <p:spPr>
          <a:xfrm>
            <a:off x="4596714" y="1920275"/>
            <a:ext cx="3658260" cy="25580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2"/>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Comparación estadística</a:t>
            </a:r>
            <a:endParaRPr sz="2800"/>
          </a:p>
        </p:txBody>
      </p:sp>
      <p:sp>
        <p:nvSpPr>
          <p:cNvPr descr="2)" id="394" name="Google Shape;394;p32"/>
          <p:cNvSpPr txBox="1"/>
          <p:nvPr>
            <p:ph idx="4294967295" type="body"/>
          </p:nvPr>
        </p:nvSpPr>
        <p:spPr>
          <a:xfrm>
            <a:off x="632550" y="942477"/>
            <a:ext cx="7787700" cy="40452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605"/>
              <a:buNone/>
            </a:pPr>
            <a:r>
              <a:rPr b="1" lang="es" sz="1000">
                <a:solidFill>
                  <a:srgbClr val="000000"/>
                </a:solidFill>
              </a:rPr>
              <a:t>Gasto </a:t>
            </a:r>
            <a:r>
              <a:rPr b="1" lang="es" sz="1000">
                <a:solidFill>
                  <a:srgbClr val="000000"/>
                </a:solidFill>
              </a:rPr>
              <a:t>público</a:t>
            </a:r>
            <a:r>
              <a:rPr b="1" lang="es" sz="1000">
                <a:solidFill>
                  <a:srgbClr val="000000"/>
                </a:solidFill>
              </a:rPr>
              <a:t>: </a:t>
            </a:r>
            <a:r>
              <a:rPr lang="es" sz="1000">
                <a:solidFill>
                  <a:srgbClr val="000000"/>
                </a:solidFill>
              </a:rPr>
              <a:t>Los valores de gasto público sí presentaban extremos importantes (picos y derrumbes fiscales), pero no al nivel de la inflación. </a:t>
            </a:r>
            <a:r>
              <a:rPr lang="es" sz="1000">
                <a:solidFill>
                  <a:srgbClr val="000000"/>
                </a:solidFill>
              </a:rPr>
              <a:t>La winsorización del 1% superior e inferior reduce el impacto de episodios fiscales extraordinarios (crisis de deuda, déficits insostenibles o consolidaciones abruptas). Luego del tratamiento, la distribución refleja el comportamiento fiscal típico, sin eliminar la variabilidad estructural entre países. </a:t>
            </a:r>
            <a:r>
              <a:rPr lang="es" sz="1000">
                <a:solidFill>
                  <a:srgbClr val="000000"/>
                </a:solidFill>
              </a:rPr>
              <a:t>Los cambios porcentuales fueron:</a:t>
            </a:r>
            <a:endParaRPr sz="1000">
              <a:solidFill>
                <a:srgbClr val="000000"/>
              </a:solidFill>
            </a:endParaRPr>
          </a:p>
          <a:p>
            <a:pPr indent="-292100" lvl="0" marL="457200" rtl="0" algn="just">
              <a:spcBef>
                <a:spcPts val="1200"/>
              </a:spcBef>
              <a:spcAft>
                <a:spcPts val="0"/>
              </a:spcAft>
              <a:buClr>
                <a:srgbClr val="000000"/>
              </a:buClr>
              <a:buSzPts val="1000"/>
              <a:buFont typeface="Arial"/>
              <a:buChar char="●"/>
            </a:pPr>
            <a:r>
              <a:rPr b="1" lang="es" sz="1000">
                <a:solidFill>
                  <a:srgbClr val="000000"/>
                </a:solidFill>
              </a:rPr>
              <a:t>Media:</a:t>
            </a:r>
            <a:r>
              <a:rPr lang="es" sz="1000">
                <a:solidFill>
                  <a:srgbClr val="000000"/>
                </a:solidFill>
              </a:rPr>
              <a:t> –2.78%</a:t>
            </a:r>
            <a:endParaRPr sz="1000">
              <a:solidFill>
                <a:srgbClr val="000000"/>
              </a:solidFill>
            </a:endParaRPr>
          </a:p>
          <a:p>
            <a:pPr indent="-292100" lvl="0" marL="457200" rtl="0" algn="just">
              <a:spcBef>
                <a:spcPts val="0"/>
              </a:spcBef>
              <a:spcAft>
                <a:spcPts val="0"/>
              </a:spcAft>
              <a:buClr>
                <a:srgbClr val="000000"/>
              </a:buClr>
              <a:buSzPts val="1000"/>
              <a:buFont typeface="Arial"/>
              <a:buChar char="●"/>
            </a:pPr>
            <a:r>
              <a:rPr b="1" lang="es" sz="1000">
                <a:solidFill>
                  <a:srgbClr val="000000"/>
                </a:solidFill>
              </a:rPr>
              <a:t>Desvío estándar:</a:t>
            </a:r>
            <a:r>
              <a:rPr lang="es" sz="1000">
                <a:solidFill>
                  <a:srgbClr val="000000"/>
                </a:solidFill>
              </a:rPr>
              <a:t> –24.34%</a:t>
            </a:r>
            <a:endParaRPr sz="1000">
              <a:solidFill>
                <a:srgbClr val="000000"/>
              </a:solidFill>
            </a:endParaRPr>
          </a:p>
          <a:p>
            <a:pPr indent="-292100" lvl="0" marL="457200" rtl="0" algn="just">
              <a:spcBef>
                <a:spcPts val="0"/>
              </a:spcBef>
              <a:spcAft>
                <a:spcPts val="0"/>
              </a:spcAft>
              <a:buClr>
                <a:srgbClr val="000000"/>
              </a:buClr>
              <a:buSzPts val="1000"/>
              <a:buFont typeface="Arial"/>
              <a:buChar char="●"/>
            </a:pPr>
            <a:r>
              <a:rPr b="1" lang="es" sz="1000">
                <a:solidFill>
                  <a:srgbClr val="000000"/>
                </a:solidFill>
              </a:rPr>
              <a:t>Asimetría:</a:t>
            </a:r>
            <a:r>
              <a:rPr lang="es" sz="1000">
                <a:solidFill>
                  <a:srgbClr val="000000"/>
                </a:solidFill>
              </a:rPr>
              <a:t> –71.98%</a:t>
            </a:r>
            <a:endParaRPr sz="1000">
              <a:solidFill>
                <a:srgbClr val="000000"/>
              </a:solidFill>
            </a:endParaRPr>
          </a:p>
          <a:p>
            <a:pPr indent="-292100" lvl="0" marL="457200" rtl="0" algn="just">
              <a:spcBef>
                <a:spcPts val="0"/>
              </a:spcBef>
              <a:spcAft>
                <a:spcPts val="0"/>
              </a:spcAft>
              <a:buClr>
                <a:srgbClr val="000000"/>
              </a:buClr>
              <a:buSzPts val="1000"/>
              <a:buFont typeface="Arial"/>
              <a:buChar char="●"/>
            </a:pPr>
            <a:r>
              <a:rPr b="1" lang="es" sz="1000">
                <a:solidFill>
                  <a:srgbClr val="000000"/>
                </a:solidFill>
              </a:rPr>
              <a:t>Curtosis:</a:t>
            </a:r>
            <a:r>
              <a:rPr lang="es" sz="1000">
                <a:solidFill>
                  <a:srgbClr val="000000"/>
                </a:solidFill>
              </a:rPr>
              <a:t> –24.37%</a:t>
            </a:r>
            <a:endParaRPr sz="1000">
              <a:solidFill>
                <a:srgbClr val="000000"/>
              </a:solidFill>
            </a:endParaRPr>
          </a:p>
          <a:p>
            <a:pPr indent="0" lvl="0" marL="0" rtl="0" algn="just">
              <a:spcBef>
                <a:spcPts val="1200"/>
              </a:spcBef>
              <a:spcAft>
                <a:spcPts val="0"/>
              </a:spcAft>
              <a:buNone/>
            </a:pPr>
            <a:r>
              <a:t/>
            </a:r>
            <a:endParaRPr sz="1000">
              <a:solidFill>
                <a:srgbClr val="000000"/>
              </a:solidFill>
            </a:endParaRPr>
          </a:p>
          <a:p>
            <a:pPr indent="0" lvl="0" marL="0" rtl="0" algn="just">
              <a:lnSpc>
                <a:spcPct val="105000"/>
              </a:lnSpc>
              <a:spcBef>
                <a:spcPts val="1200"/>
              </a:spcBef>
              <a:spcAft>
                <a:spcPts val="0"/>
              </a:spcAft>
              <a:buSzPts val="605"/>
              <a:buNone/>
            </a:pPr>
            <a:r>
              <a:t/>
            </a:r>
            <a:endParaRPr b="1"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1200"/>
              </a:spcAft>
              <a:buSzPts val="605"/>
              <a:buNone/>
            </a:pPr>
            <a:r>
              <a:t/>
            </a:r>
            <a:endParaRPr sz="1000">
              <a:solidFill>
                <a:srgbClr val="000000"/>
              </a:solidFill>
            </a:endParaRPr>
          </a:p>
        </p:txBody>
      </p:sp>
      <p:pic>
        <p:nvPicPr>
          <p:cNvPr id="395" name="Google Shape;395;p32"/>
          <p:cNvPicPr preferRelativeResize="0"/>
          <p:nvPr/>
        </p:nvPicPr>
        <p:blipFill>
          <a:blip r:embed="rId3">
            <a:alphaModFix/>
          </a:blip>
          <a:stretch>
            <a:fillRect/>
          </a:stretch>
        </p:blipFill>
        <p:spPr>
          <a:xfrm>
            <a:off x="1052899" y="2606505"/>
            <a:ext cx="3322805" cy="2322198"/>
          </a:xfrm>
          <a:prstGeom prst="rect">
            <a:avLst/>
          </a:prstGeom>
          <a:noFill/>
          <a:ln>
            <a:noFill/>
          </a:ln>
        </p:spPr>
      </p:pic>
      <p:pic>
        <p:nvPicPr>
          <p:cNvPr id="396" name="Google Shape;396;p32"/>
          <p:cNvPicPr preferRelativeResize="0"/>
          <p:nvPr/>
        </p:nvPicPr>
        <p:blipFill>
          <a:blip r:embed="rId4">
            <a:alphaModFix/>
          </a:blip>
          <a:stretch>
            <a:fillRect/>
          </a:stretch>
        </p:blipFill>
        <p:spPr>
          <a:xfrm>
            <a:off x="4705895" y="2607950"/>
            <a:ext cx="3322804" cy="231930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3"/>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Comparación estadística</a:t>
            </a:r>
            <a:endParaRPr sz="2800"/>
          </a:p>
        </p:txBody>
      </p:sp>
      <p:sp>
        <p:nvSpPr>
          <p:cNvPr descr="2)" id="402" name="Google Shape;402;p33"/>
          <p:cNvSpPr txBox="1"/>
          <p:nvPr>
            <p:ph idx="4294967295" type="body"/>
          </p:nvPr>
        </p:nvSpPr>
        <p:spPr>
          <a:xfrm>
            <a:off x="652800" y="983800"/>
            <a:ext cx="7776000" cy="24447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605"/>
              <a:buNone/>
            </a:pPr>
            <a:r>
              <a:rPr b="1" lang="es" sz="1000">
                <a:solidFill>
                  <a:srgbClr val="000000"/>
                </a:solidFill>
              </a:rPr>
              <a:t>Tasa de cambio oficial:</a:t>
            </a:r>
            <a:r>
              <a:rPr lang="es" sz="1000">
                <a:solidFill>
                  <a:srgbClr val="000000"/>
                </a:solidFill>
              </a:rPr>
              <a:t> La tasa de cambio oficial es, dentro de las variables macroeconómicas analizadas, una de las que presenta mayor heterogeneidad estructural entre países y mayor sensibilidad a eventos extremos. La volatilidad cambiaria no responde únicamente a shocks de mercado, sino también a regímenes cambiarios heterogéneos, decisiones de política económica, desequilibrios externos acumulados y episodios de crisis, y estos son factores que generan grandes divergencias entre economías estables y economías sometidas a tensiones monetarias severas. Esto implica que el comportamiento de pocos países extremos domina el análisis, lo que genera varias distorsiones</a:t>
            </a:r>
            <a:endParaRPr sz="900">
              <a:solidFill>
                <a:srgbClr val="000000"/>
              </a:solidFill>
            </a:endParaRPr>
          </a:p>
          <a:p>
            <a:pPr indent="0" lvl="0" marL="0" rtl="0" algn="just">
              <a:lnSpc>
                <a:spcPct val="105000"/>
              </a:lnSpc>
              <a:spcBef>
                <a:spcPts val="1200"/>
              </a:spcBef>
              <a:spcAft>
                <a:spcPts val="0"/>
              </a:spcAft>
              <a:buSzPts val="605"/>
              <a:buNone/>
            </a:pPr>
            <a:r>
              <a:rPr lang="es" sz="1000">
                <a:solidFill>
                  <a:srgbClr val="000000"/>
                </a:solidFill>
              </a:rPr>
              <a:t>Los cambios porcentuales fueron radicales:</a:t>
            </a:r>
            <a:endParaRPr sz="1000">
              <a:solidFill>
                <a:srgbClr val="000000"/>
              </a:solidFill>
            </a:endParaRPr>
          </a:p>
          <a:p>
            <a:pPr indent="-292100" lvl="0" marL="457200" rtl="0" algn="just">
              <a:lnSpc>
                <a:spcPct val="105000"/>
              </a:lnSpc>
              <a:spcBef>
                <a:spcPts val="1200"/>
              </a:spcBef>
              <a:spcAft>
                <a:spcPts val="0"/>
              </a:spcAft>
              <a:buClr>
                <a:srgbClr val="000000"/>
              </a:buClr>
              <a:buSzPts val="1000"/>
              <a:buFont typeface="Arial"/>
              <a:buChar char="●"/>
            </a:pPr>
            <a:r>
              <a:rPr b="1" lang="es" sz="1000">
                <a:solidFill>
                  <a:srgbClr val="000000"/>
                </a:solidFill>
              </a:rPr>
              <a:t>Media:</a:t>
            </a:r>
            <a:r>
              <a:rPr lang="es" sz="1000">
                <a:solidFill>
                  <a:srgbClr val="000000"/>
                </a:solidFill>
              </a:rPr>
              <a:t> –99.56%</a:t>
            </a:r>
            <a:endParaRPr sz="1000">
              <a:solidFill>
                <a:srgbClr val="000000"/>
              </a:solidFill>
            </a:endParaRPr>
          </a:p>
          <a:p>
            <a:pPr indent="-292100" lvl="0" marL="457200" rtl="0" algn="just">
              <a:lnSpc>
                <a:spcPct val="105000"/>
              </a:lnSpc>
              <a:spcBef>
                <a:spcPts val="0"/>
              </a:spcBef>
              <a:spcAft>
                <a:spcPts val="0"/>
              </a:spcAft>
              <a:buClr>
                <a:srgbClr val="000000"/>
              </a:buClr>
              <a:buSzPts val="1000"/>
              <a:buFont typeface="Arial"/>
              <a:buChar char="●"/>
            </a:pPr>
            <a:r>
              <a:rPr b="1" lang="es" sz="1000">
                <a:solidFill>
                  <a:srgbClr val="000000"/>
                </a:solidFill>
              </a:rPr>
              <a:t>Desvío estándar:</a:t>
            </a:r>
            <a:r>
              <a:rPr lang="es" sz="1000">
                <a:solidFill>
                  <a:srgbClr val="000000"/>
                </a:solidFill>
              </a:rPr>
              <a:t> –99.97%</a:t>
            </a:r>
            <a:endParaRPr sz="1000">
              <a:solidFill>
                <a:srgbClr val="000000"/>
              </a:solidFill>
            </a:endParaRPr>
          </a:p>
          <a:p>
            <a:pPr indent="-292100" lvl="0" marL="457200" rtl="0" algn="just">
              <a:lnSpc>
                <a:spcPct val="105000"/>
              </a:lnSpc>
              <a:spcBef>
                <a:spcPts val="0"/>
              </a:spcBef>
              <a:spcAft>
                <a:spcPts val="0"/>
              </a:spcAft>
              <a:buClr>
                <a:srgbClr val="000000"/>
              </a:buClr>
              <a:buSzPts val="1000"/>
              <a:buFont typeface="Arial"/>
              <a:buChar char="●"/>
            </a:pPr>
            <a:r>
              <a:rPr b="1" lang="es" sz="1000">
                <a:solidFill>
                  <a:srgbClr val="000000"/>
                </a:solidFill>
              </a:rPr>
              <a:t>Asimetría:</a:t>
            </a:r>
            <a:r>
              <a:rPr lang="es" sz="1000">
                <a:solidFill>
                  <a:srgbClr val="000000"/>
                </a:solidFill>
              </a:rPr>
              <a:t> –92.46%</a:t>
            </a:r>
            <a:endParaRPr sz="1000">
              <a:solidFill>
                <a:srgbClr val="000000"/>
              </a:solidFill>
            </a:endParaRPr>
          </a:p>
          <a:p>
            <a:pPr indent="-292100" lvl="0" marL="457200" rtl="0" algn="just">
              <a:lnSpc>
                <a:spcPct val="105000"/>
              </a:lnSpc>
              <a:spcBef>
                <a:spcPts val="0"/>
              </a:spcBef>
              <a:spcAft>
                <a:spcPts val="0"/>
              </a:spcAft>
              <a:buClr>
                <a:srgbClr val="000000"/>
              </a:buClr>
              <a:buSzPts val="1000"/>
              <a:buFont typeface="Arial"/>
              <a:buChar char="●"/>
            </a:pPr>
            <a:r>
              <a:rPr b="1" lang="es" sz="1000">
                <a:solidFill>
                  <a:srgbClr val="000000"/>
                </a:solidFill>
              </a:rPr>
              <a:t>Curtosis:</a:t>
            </a:r>
            <a:r>
              <a:rPr lang="es" sz="1000">
                <a:solidFill>
                  <a:srgbClr val="000000"/>
                </a:solidFill>
              </a:rPr>
              <a:t> –100.61%</a:t>
            </a:r>
            <a:endParaRPr sz="1000">
              <a:solidFill>
                <a:srgbClr val="000000"/>
              </a:solidFill>
            </a:endParaRPr>
          </a:p>
          <a:p>
            <a:pPr indent="-292100" lvl="0" marL="457200" rtl="0" algn="just">
              <a:lnSpc>
                <a:spcPct val="105000"/>
              </a:lnSpc>
              <a:spcBef>
                <a:spcPts val="0"/>
              </a:spcBef>
              <a:spcAft>
                <a:spcPts val="0"/>
              </a:spcAft>
              <a:buClr>
                <a:srgbClr val="000000"/>
              </a:buClr>
              <a:buSzPts val="1000"/>
              <a:buFont typeface="Arial"/>
              <a:buChar char="●"/>
            </a:pPr>
            <a:r>
              <a:rPr b="1" lang="es" sz="1000">
                <a:solidFill>
                  <a:srgbClr val="000000"/>
                </a:solidFill>
              </a:rPr>
              <a:t>Rango total:</a:t>
            </a:r>
            <a:r>
              <a:rPr lang="es" sz="1000">
                <a:solidFill>
                  <a:srgbClr val="000000"/>
                </a:solidFill>
              </a:rPr>
              <a:t> –99.97%</a:t>
            </a:r>
            <a:endParaRPr sz="1000">
              <a:solidFill>
                <a:srgbClr val="000000"/>
              </a:solidFill>
            </a:endParaRPr>
          </a:p>
          <a:p>
            <a:pPr indent="0" lvl="0" marL="0" rtl="0" algn="just">
              <a:lnSpc>
                <a:spcPct val="105000"/>
              </a:lnSpc>
              <a:spcBef>
                <a:spcPts val="1200"/>
              </a:spcBef>
              <a:spcAft>
                <a:spcPts val="0"/>
              </a:spcAft>
              <a:buSzPts val="605"/>
              <a:buNone/>
            </a:pPr>
            <a:r>
              <a:t/>
            </a:r>
            <a:endParaRPr sz="1100">
              <a:solidFill>
                <a:srgbClr val="000000"/>
              </a:solidFill>
              <a:latin typeface="Arial"/>
              <a:ea typeface="Arial"/>
              <a:cs typeface="Arial"/>
              <a:sym typeface="Aria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1200"/>
              </a:spcAft>
              <a:buSzPts val="605"/>
              <a:buNone/>
            </a:pPr>
            <a:r>
              <a:t/>
            </a:r>
            <a:endParaRPr sz="10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4"/>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Comparación estadística</a:t>
            </a:r>
            <a:endParaRPr sz="2800"/>
          </a:p>
        </p:txBody>
      </p:sp>
      <p:sp>
        <p:nvSpPr>
          <p:cNvPr descr="2)" id="408" name="Google Shape;408;p34"/>
          <p:cNvSpPr txBox="1"/>
          <p:nvPr>
            <p:ph idx="4294967295" type="body"/>
          </p:nvPr>
        </p:nvSpPr>
        <p:spPr>
          <a:xfrm>
            <a:off x="632550" y="895225"/>
            <a:ext cx="7816500" cy="28170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lang="es" sz="1000">
                <a:solidFill>
                  <a:srgbClr val="000000"/>
                </a:solidFill>
              </a:rPr>
              <a:t>Sin la transformación logarítmica, la variable está totalmente dominada por unos pocos episodios extremos. El log permite convertir la distribución en algo interpretable, relacionado con la apreciación o depreciación relativa, evitando que los valores </a:t>
            </a:r>
            <a:r>
              <a:rPr lang="es" sz="1000">
                <a:solidFill>
                  <a:srgbClr val="000000"/>
                </a:solidFill>
              </a:rPr>
              <a:t>gigantes desplacen la escala de toda la serie.</a:t>
            </a:r>
            <a:endParaRPr sz="1000">
              <a:solidFill>
                <a:srgbClr val="000000"/>
              </a:solidFill>
            </a:endParaRPr>
          </a:p>
          <a:p>
            <a:pPr indent="0" lvl="0" marL="0" rtl="0" algn="just">
              <a:spcBef>
                <a:spcPts val="1200"/>
              </a:spcBef>
              <a:spcAft>
                <a:spcPts val="0"/>
              </a:spcAft>
              <a:buNone/>
            </a:pPr>
            <a:r>
              <a:rPr lang="es" sz="1000">
                <a:solidFill>
                  <a:srgbClr val="000000"/>
                </a:solidFill>
              </a:rPr>
              <a:t>Una economía puede devaluar de 10 a 20 (+100%) y otra de 10.000 a 20.000 (+100%). En niveles son totalmente distintas, pero económicamente equivalentes. El logaritmo permite alinear estas dinámicas, expresando el tipo de cambio en términos cercanos a “proporcionalidad”.</a:t>
            </a:r>
            <a:endParaRPr sz="1000">
              <a:solidFill>
                <a:srgbClr val="000000"/>
              </a:solidFill>
            </a:endParaRPr>
          </a:p>
          <a:p>
            <a:pPr indent="0" lvl="0" marL="0" rtl="0" algn="just">
              <a:lnSpc>
                <a:spcPct val="105000"/>
              </a:lnSpc>
              <a:spcBef>
                <a:spcPts val="1200"/>
              </a:spcBef>
              <a:spcAft>
                <a:spcPts val="0"/>
              </a:spcAft>
              <a:buNone/>
            </a:pPr>
            <a:r>
              <a:t/>
            </a:r>
            <a:endParaRPr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1200"/>
              </a:spcAft>
              <a:buSzPts val="605"/>
              <a:buNone/>
            </a:pPr>
            <a:r>
              <a:t/>
            </a:r>
            <a:endParaRPr sz="1000">
              <a:solidFill>
                <a:srgbClr val="000000"/>
              </a:solidFill>
            </a:endParaRPr>
          </a:p>
        </p:txBody>
      </p:sp>
      <p:pic>
        <p:nvPicPr>
          <p:cNvPr id="409" name="Google Shape;409;p34"/>
          <p:cNvPicPr preferRelativeResize="0"/>
          <p:nvPr/>
        </p:nvPicPr>
        <p:blipFill>
          <a:blip r:embed="rId3">
            <a:alphaModFix/>
          </a:blip>
          <a:stretch>
            <a:fillRect/>
          </a:stretch>
        </p:blipFill>
        <p:spPr>
          <a:xfrm>
            <a:off x="4706825" y="2264623"/>
            <a:ext cx="3607413" cy="2519313"/>
          </a:xfrm>
          <a:prstGeom prst="rect">
            <a:avLst/>
          </a:prstGeom>
          <a:noFill/>
          <a:ln>
            <a:noFill/>
          </a:ln>
        </p:spPr>
      </p:pic>
      <p:pic>
        <p:nvPicPr>
          <p:cNvPr id="410" name="Google Shape;410;p34"/>
          <p:cNvPicPr preferRelativeResize="0"/>
          <p:nvPr/>
        </p:nvPicPr>
        <p:blipFill>
          <a:blip r:embed="rId4">
            <a:alphaModFix/>
          </a:blip>
          <a:stretch>
            <a:fillRect/>
          </a:stretch>
        </p:blipFill>
        <p:spPr>
          <a:xfrm>
            <a:off x="767363" y="2264625"/>
            <a:ext cx="3593829" cy="2519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5"/>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Comparación estadística</a:t>
            </a:r>
            <a:endParaRPr sz="2800"/>
          </a:p>
        </p:txBody>
      </p:sp>
      <p:sp>
        <p:nvSpPr>
          <p:cNvPr descr="2)" id="416" name="Google Shape;416;p35"/>
          <p:cNvSpPr txBox="1"/>
          <p:nvPr>
            <p:ph idx="4294967295" type="body"/>
          </p:nvPr>
        </p:nvSpPr>
        <p:spPr>
          <a:xfrm>
            <a:off x="632550" y="966099"/>
            <a:ext cx="7710900" cy="38622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605"/>
              <a:buNone/>
            </a:pPr>
            <a:r>
              <a:rPr b="1" lang="es" sz="1000">
                <a:solidFill>
                  <a:srgbClr val="000000"/>
                </a:solidFill>
              </a:rPr>
              <a:t>Crecimiento del PIB: </a:t>
            </a:r>
            <a:r>
              <a:rPr lang="es" sz="1000">
                <a:solidFill>
                  <a:srgbClr val="000000"/>
                </a:solidFill>
              </a:rPr>
              <a:t>Los cambios porcentuales son cero en todas las métricas, lo que confirma que no se aplicó ningún tratamiento de outliers, los valores extremos del PIB no distorsionan la distribución, los episodios extraordinarios (como por ejemplo, crisis 2008-2009, recuperaciones post-pandemia) no eran suficientemente extremos como para sesgar el conjunto.</a:t>
            </a:r>
            <a:br>
              <a:rPr lang="es" sz="1000">
                <a:solidFill>
                  <a:srgbClr val="000000"/>
                </a:solidFill>
              </a:rPr>
            </a:br>
            <a:r>
              <a:rPr lang="es" sz="1000">
                <a:solidFill>
                  <a:srgbClr val="000000"/>
                </a:solidFill>
              </a:rPr>
              <a:t>En conclusión, la volatilidad del crecimiento del PIB es natural, especialmente para economías emergentes, pero no requiere winsorización ni transformación para su análisis. La serie es estadísticamente estable en los años seleccionados (2000, 2010 y 2023).</a:t>
            </a:r>
            <a:endParaRPr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1200"/>
              </a:spcAft>
              <a:buSzPts val="605"/>
              <a:buNone/>
            </a:pPr>
            <a:r>
              <a:t/>
            </a:r>
            <a:endParaRPr sz="1000">
              <a:solidFill>
                <a:srgbClr val="000000"/>
              </a:solidFill>
            </a:endParaRPr>
          </a:p>
        </p:txBody>
      </p:sp>
      <p:pic>
        <p:nvPicPr>
          <p:cNvPr id="417" name="Google Shape;417;p35"/>
          <p:cNvPicPr preferRelativeResize="0"/>
          <p:nvPr/>
        </p:nvPicPr>
        <p:blipFill>
          <a:blip r:embed="rId3">
            <a:alphaModFix/>
          </a:blip>
          <a:stretch>
            <a:fillRect/>
          </a:stretch>
        </p:blipFill>
        <p:spPr>
          <a:xfrm>
            <a:off x="2511312" y="2026850"/>
            <a:ext cx="4058975" cy="2842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6"/>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Comparación estadística</a:t>
            </a:r>
            <a:endParaRPr sz="2800"/>
          </a:p>
        </p:txBody>
      </p:sp>
      <p:sp>
        <p:nvSpPr>
          <p:cNvPr descr="2)" id="423" name="Google Shape;423;p36"/>
          <p:cNvSpPr txBox="1"/>
          <p:nvPr>
            <p:ph idx="4294967295" type="body"/>
          </p:nvPr>
        </p:nvSpPr>
        <p:spPr>
          <a:xfrm>
            <a:off x="632550" y="995625"/>
            <a:ext cx="7710900" cy="38622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605"/>
              <a:buNone/>
            </a:pPr>
            <a:r>
              <a:rPr b="1" lang="es" sz="1000">
                <a:solidFill>
                  <a:srgbClr val="000000"/>
                </a:solidFill>
              </a:rPr>
              <a:t>Desempleo: </a:t>
            </a:r>
            <a:r>
              <a:rPr lang="es" sz="1000">
                <a:solidFill>
                  <a:srgbClr val="000000"/>
                </a:solidFill>
              </a:rPr>
              <a:t>El desempleo tampoco presentó outliers significativos. Los cambios porcentuales en todas las métricas fueron cero, reflejando que la serie tiene una distribución más estable, no presenta colas pesadas, muestra variabilidad moderada y consistente con lo esperado en países de diferentes niveles de desarrollo. </a:t>
            </a:r>
            <a:br>
              <a:rPr lang="es" sz="1000">
                <a:solidFill>
                  <a:srgbClr val="000000"/>
                </a:solidFill>
              </a:rPr>
            </a:br>
            <a:r>
              <a:rPr lang="es" sz="1000">
                <a:solidFill>
                  <a:srgbClr val="000000"/>
                </a:solidFill>
              </a:rPr>
              <a:t>El desempleo, al ser un indicador más estructural que coyuntural, no exhibe los picos abruptos que sí se ven en inflación o en tipos de cambio. Por ello no requirió tratamiento y las estadísticas se mantuvieron estables.</a:t>
            </a:r>
            <a:endParaRPr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1200"/>
              </a:spcAft>
              <a:buSzPts val="605"/>
              <a:buNone/>
            </a:pPr>
            <a:r>
              <a:t/>
            </a:r>
            <a:endParaRPr sz="1000">
              <a:solidFill>
                <a:srgbClr val="000000"/>
              </a:solidFill>
            </a:endParaRPr>
          </a:p>
        </p:txBody>
      </p:sp>
      <p:pic>
        <p:nvPicPr>
          <p:cNvPr id="424" name="Google Shape;424;p36"/>
          <p:cNvPicPr preferRelativeResize="0"/>
          <p:nvPr/>
        </p:nvPicPr>
        <p:blipFill>
          <a:blip r:embed="rId3">
            <a:alphaModFix/>
          </a:blip>
          <a:stretch>
            <a:fillRect/>
          </a:stretch>
        </p:blipFill>
        <p:spPr>
          <a:xfrm>
            <a:off x="2507100" y="2070400"/>
            <a:ext cx="4067400" cy="2848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7"/>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a:t>
            </a:r>
            <a:r>
              <a:rPr lang="es" sz="2800"/>
              <a:t> de </a:t>
            </a:r>
            <a:r>
              <a:rPr lang="es" sz="2800"/>
              <a:t>estadística</a:t>
            </a:r>
            <a:r>
              <a:rPr lang="es" sz="2800"/>
              <a:t> inferencial</a:t>
            </a:r>
            <a:endParaRPr sz="2800"/>
          </a:p>
        </p:txBody>
      </p:sp>
      <p:sp>
        <p:nvSpPr>
          <p:cNvPr descr="2)" id="430" name="Google Shape;430;p37"/>
          <p:cNvSpPr txBox="1"/>
          <p:nvPr>
            <p:ph idx="4294967295" type="body"/>
          </p:nvPr>
        </p:nvSpPr>
        <p:spPr>
          <a:xfrm>
            <a:off x="632550" y="995625"/>
            <a:ext cx="7710900" cy="38622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605"/>
              <a:buNone/>
            </a:pPr>
            <a:r>
              <a:rPr b="1" lang="es" sz="1000" u="sng">
                <a:solidFill>
                  <a:srgbClr val="000000"/>
                </a:solidFill>
              </a:rPr>
              <a:t>Test de normalidad: Shapiro–Wilk</a:t>
            </a:r>
            <a:endParaRPr b="1" sz="1000" u="sng">
              <a:solidFill>
                <a:srgbClr val="000000"/>
              </a:solidFill>
            </a:endParaRPr>
          </a:p>
          <a:p>
            <a:pPr indent="0" lvl="0" marL="0" rtl="0" algn="just">
              <a:spcBef>
                <a:spcPts val="1200"/>
              </a:spcBef>
              <a:spcAft>
                <a:spcPts val="0"/>
              </a:spcAft>
              <a:buNone/>
            </a:pPr>
            <a:r>
              <a:rPr lang="es" sz="1000">
                <a:solidFill>
                  <a:srgbClr val="000000"/>
                </a:solidFill>
              </a:rPr>
              <a:t>El test de Shapiro–Wilk permite evaluar si una variable sigue una distribución normal.</a:t>
            </a:r>
            <a:endParaRPr sz="1000">
              <a:solidFill>
                <a:srgbClr val="000000"/>
              </a:solidFill>
            </a:endParaRPr>
          </a:p>
          <a:p>
            <a:pPr indent="0" lvl="0" marL="0" rtl="0" algn="just">
              <a:spcBef>
                <a:spcPts val="1200"/>
              </a:spcBef>
              <a:spcAft>
                <a:spcPts val="0"/>
              </a:spcAft>
              <a:buNone/>
            </a:pPr>
            <a:r>
              <a:rPr lang="es" sz="1000">
                <a:solidFill>
                  <a:srgbClr val="000000"/>
                </a:solidFill>
              </a:rPr>
              <a:t>Las </a:t>
            </a:r>
            <a:r>
              <a:rPr lang="es" sz="1000">
                <a:solidFill>
                  <a:srgbClr val="000000"/>
                </a:solidFill>
              </a:rPr>
              <a:t>hipótesis</a:t>
            </a:r>
            <a:r>
              <a:rPr lang="es" sz="1000">
                <a:solidFill>
                  <a:srgbClr val="000000"/>
                </a:solidFill>
              </a:rPr>
              <a:t> van a ser las siguientes:</a:t>
            </a:r>
            <a:endParaRPr sz="1000">
              <a:solidFill>
                <a:srgbClr val="000000"/>
              </a:solidFill>
            </a:endParaRPr>
          </a:p>
          <a:p>
            <a:pPr indent="-292100" lvl="0" marL="457200" rtl="0" algn="just">
              <a:spcBef>
                <a:spcPts val="1200"/>
              </a:spcBef>
              <a:spcAft>
                <a:spcPts val="0"/>
              </a:spcAft>
              <a:buClr>
                <a:srgbClr val="000000"/>
              </a:buClr>
              <a:buSzPts val="1000"/>
              <a:buChar char="●"/>
            </a:pPr>
            <a:r>
              <a:rPr b="1" lang="es" sz="1000">
                <a:solidFill>
                  <a:srgbClr val="000000"/>
                </a:solidFill>
              </a:rPr>
              <a:t>H0:</a:t>
            </a:r>
            <a:r>
              <a:rPr lang="es" sz="1000">
                <a:solidFill>
                  <a:srgbClr val="000000"/>
                </a:solidFill>
              </a:rPr>
              <a:t> los datos provienen de una distribución normal.</a:t>
            </a:r>
            <a:endParaRPr sz="1000">
              <a:solidFill>
                <a:srgbClr val="000000"/>
              </a:solidFill>
            </a:endParaRPr>
          </a:p>
          <a:p>
            <a:pPr indent="-292100" lvl="0" marL="457200" rtl="0" algn="just">
              <a:spcBef>
                <a:spcPts val="0"/>
              </a:spcBef>
              <a:spcAft>
                <a:spcPts val="0"/>
              </a:spcAft>
              <a:buClr>
                <a:srgbClr val="000000"/>
              </a:buClr>
              <a:buSzPts val="1000"/>
              <a:buChar char="●"/>
            </a:pPr>
            <a:r>
              <a:rPr b="1" lang="es" sz="1000">
                <a:solidFill>
                  <a:srgbClr val="000000"/>
                </a:solidFill>
              </a:rPr>
              <a:t>H1:</a:t>
            </a:r>
            <a:r>
              <a:rPr lang="es" sz="1000">
                <a:solidFill>
                  <a:srgbClr val="000000"/>
                </a:solidFill>
              </a:rPr>
              <a:t> los datos NO provienen de una distribución normal.</a:t>
            </a:r>
            <a:endParaRPr sz="1000">
              <a:solidFill>
                <a:srgbClr val="000000"/>
              </a:solidFill>
            </a:endParaRPr>
          </a:p>
          <a:p>
            <a:pPr indent="0" lvl="0" marL="0" rtl="0" algn="just">
              <a:spcBef>
                <a:spcPts val="1200"/>
              </a:spcBef>
              <a:spcAft>
                <a:spcPts val="0"/>
              </a:spcAft>
              <a:buNone/>
            </a:pPr>
            <a:r>
              <a:rPr lang="es" sz="1000">
                <a:solidFill>
                  <a:srgbClr val="000000"/>
                </a:solidFill>
              </a:rPr>
              <a:t>Si el p-value &lt; 0.05, se rechaza H0 entonces la variable no es normal. Lo usamos porque la normalidad es un supuesto clave para aplicar técnicas estadísticas paramétricas Si no se cumple, debemos usar alternativas no paramétricas o ANOVA de Welch que no requiere igualdad de varianzas.</a:t>
            </a:r>
            <a:endParaRPr sz="1000">
              <a:solidFill>
                <a:srgbClr val="000000"/>
              </a:solidFill>
            </a:endParaRPr>
          </a:p>
          <a:p>
            <a:pPr indent="0" lvl="0" marL="0" rtl="0" algn="just">
              <a:spcBef>
                <a:spcPts val="1200"/>
              </a:spcBef>
              <a:spcAft>
                <a:spcPts val="0"/>
              </a:spcAft>
              <a:buNone/>
            </a:pPr>
            <a:r>
              <a:rPr b="1" lang="es" sz="1000" u="sng">
                <a:solidFill>
                  <a:srgbClr val="000000"/>
                </a:solidFill>
              </a:rPr>
              <a:t>Gráficos Q–Q (Quantile–Quantile Plot):</a:t>
            </a:r>
            <a:endParaRPr sz="1000" u="sng">
              <a:solidFill>
                <a:srgbClr val="000000"/>
              </a:solidFill>
            </a:endParaRPr>
          </a:p>
          <a:p>
            <a:pPr indent="0" lvl="0" marL="0" rtl="0" algn="just">
              <a:spcBef>
                <a:spcPts val="1200"/>
              </a:spcBef>
              <a:spcAft>
                <a:spcPts val="0"/>
              </a:spcAft>
              <a:buNone/>
            </a:pPr>
            <a:r>
              <a:rPr lang="es" sz="1000">
                <a:solidFill>
                  <a:srgbClr val="000000"/>
                </a:solidFill>
              </a:rPr>
              <a:t>Un gráfico Q-Q es una herramienta gráfica que compara los cuantiles de un conjunto de datos con los cuantiles de otra distribución teórica (como la normal) o con los cuantiles de un segundo conjunto de datos. Sirve para determinar visualmente si los datos siguen una distribución teórica específica y para comparar la forma de dos distribuciones, observando si los puntos se alinean a lo largo de una línea recta.</a:t>
            </a:r>
            <a:endParaRPr sz="1000">
              <a:solidFill>
                <a:srgbClr val="000000"/>
              </a:solidFill>
            </a:endParaRPr>
          </a:p>
          <a:p>
            <a:pPr indent="0" lvl="0" marL="0" rtl="0" algn="just">
              <a:lnSpc>
                <a:spcPct val="105000"/>
              </a:lnSpc>
              <a:spcBef>
                <a:spcPts val="1200"/>
              </a:spcBef>
              <a:spcAft>
                <a:spcPts val="0"/>
              </a:spcAft>
              <a:buSzPts val="605"/>
              <a:buNone/>
            </a:pPr>
            <a:r>
              <a:t/>
            </a:r>
            <a:endParaRPr b="1"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1200"/>
              </a:spcAft>
              <a:buSzPts val="605"/>
              <a:buNone/>
            </a:pPr>
            <a:r>
              <a:t/>
            </a:r>
            <a:endParaRPr sz="1000">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8"/>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436" name="Google Shape;436;p38"/>
          <p:cNvSpPr txBox="1"/>
          <p:nvPr>
            <p:ph idx="4294967295" type="body"/>
          </p:nvPr>
        </p:nvSpPr>
        <p:spPr>
          <a:xfrm>
            <a:off x="632550" y="943675"/>
            <a:ext cx="7710900" cy="40284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605"/>
              <a:buNone/>
            </a:pPr>
            <a:r>
              <a:rPr b="1" lang="es" sz="1000" u="sng">
                <a:solidFill>
                  <a:srgbClr val="000000"/>
                </a:solidFill>
              </a:rPr>
              <a:t>Test de Shapiro-Wilk y Gráficos Q–Q</a:t>
            </a:r>
            <a:endParaRPr b="1" sz="1000" u="sng">
              <a:solidFill>
                <a:srgbClr val="000000"/>
              </a:solidFill>
            </a:endParaRPr>
          </a:p>
          <a:p>
            <a:pPr indent="0" lvl="0" marL="0" rtl="0" algn="just">
              <a:spcBef>
                <a:spcPts val="1200"/>
              </a:spcBef>
              <a:spcAft>
                <a:spcPts val="0"/>
              </a:spcAft>
              <a:buNone/>
            </a:pPr>
            <a:r>
              <a:rPr b="1" lang="es" sz="1000">
                <a:solidFill>
                  <a:srgbClr val="000000"/>
                </a:solidFill>
              </a:rPr>
              <a:t>Crecimiento del PIB: </a:t>
            </a:r>
            <a:r>
              <a:rPr lang="es" sz="1000">
                <a:solidFill>
                  <a:srgbClr val="000000"/>
                </a:solidFill>
              </a:rPr>
              <a:t>Los resultados del test de Shapiro-Wilk indican que tanto el grupo de países con inflación alta como el de inflación baja presentan una distribución estadísticamente diferente de la normal, arrojando un p-value &lt; 0.000001.</a:t>
            </a:r>
            <a:br>
              <a:rPr lang="es" sz="1000">
                <a:solidFill>
                  <a:srgbClr val="000000"/>
                </a:solidFill>
              </a:rPr>
            </a:br>
            <a:r>
              <a:rPr lang="es" sz="1000">
                <a:solidFill>
                  <a:srgbClr val="000000"/>
                </a:solidFill>
              </a:rPr>
              <a:t>Los gráficos Q–Q corroboran este diagnóstico:</a:t>
            </a:r>
            <a:endParaRPr sz="1000">
              <a:solidFill>
                <a:srgbClr val="000000"/>
              </a:solidFill>
            </a:endParaRPr>
          </a:p>
          <a:p>
            <a:pPr indent="-292100" lvl="0" marL="457200" rtl="0" algn="just">
              <a:spcBef>
                <a:spcPts val="1200"/>
              </a:spcBef>
              <a:spcAft>
                <a:spcPts val="0"/>
              </a:spcAft>
              <a:buClr>
                <a:srgbClr val="000000"/>
              </a:buClr>
              <a:buSzPts val="1000"/>
              <a:buFont typeface="Arial"/>
              <a:buChar char="●"/>
            </a:pPr>
            <a:r>
              <a:rPr lang="es" sz="1000">
                <a:solidFill>
                  <a:srgbClr val="000000"/>
                </a:solidFill>
              </a:rPr>
              <a:t>En ambos grupos se observan colas pesadas, especialmente hacia la derecha, con valores extremos de crecimiento económico. La línea de tendencia teórica diverge fuertemente de los cuantiles observados: los datos pequeños se encuentran por debajo de la línea y los valores altos muy por encima.</a:t>
            </a:r>
            <a:endParaRPr sz="1000">
              <a:solidFill>
                <a:srgbClr val="000000"/>
              </a:solidFill>
            </a:endParaRPr>
          </a:p>
          <a:p>
            <a:pPr indent="0" lvl="0" marL="0" rtl="0" algn="just">
              <a:spcBef>
                <a:spcPts val="1200"/>
              </a:spcBef>
              <a:spcAft>
                <a:spcPts val="0"/>
              </a:spcAft>
              <a:buNone/>
            </a:pPr>
            <a:r>
              <a:t/>
            </a:r>
            <a:endParaRPr sz="1100">
              <a:solidFill>
                <a:srgbClr val="000000"/>
              </a:solidFill>
              <a:latin typeface="Arial"/>
              <a:ea typeface="Arial"/>
              <a:cs typeface="Arial"/>
              <a:sym typeface="Arial"/>
            </a:endParaRPr>
          </a:p>
          <a:p>
            <a:pPr indent="0" lvl="0" marL="0" rtl="0" algn="just">
              <a:lnSpc>
                <a:spcPct val="105000"/>
              </a:lnSpc>
              <a:spcBef>
                <a:spcPts val="1200"/>
              </a:spcBef>
              <a:spcAft>
                <a:spcPts val="0"/>
              </a:spcAft>
              <a:buSzPts val="605"/>
              <a:buNone/>
            </a:pPr>
            <a:r>
              <a:t/>
            </a:r>
            <a:endParaRPr b="1"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1200"/>
              </a:spcAft>
              <a:buSzPts val="605"/>
              <a:buNone/>
            </a:pPr>
            <a:r>
              <a:t/>
            </a:r>
            <a:endParaRPr sz="1000">
              <a:solidFill>
                <a:srgbClr val="000000"/>
              </a:solidFill>
            </a:endParaRPr>
          </a:p>
        </p:txBody>
      </p:sp>
      <p:pic>
        <p:nvPicPr>
          <p:cNvPr id="437" name="Google Shape;437;p38"/>
          <p:cNvPicPr preferRelativeResize="0"/>
          <p:nvPr/>
        </p:nvPicPr>
        <p:blipFill>
          <a:blip r:embed="rId3">
            <a:alphaModFix/>
          </a:blip>
          <a:stretch>
            <a:fillRect/>
          </a:stretch>
        </p:blipFill>
        <p:spPr>
          <a:xfrm>
            <a:off x="4572000" y="2646050"/>
            <a:ext cx="3737595" cy="2274774"/>
          </a:xfrm>
          <a:prstGeom prst="rect">
            <a:avLst/>
          </a:prstGeom>
          <a:noFill/>
          <a:ln>
            <a:noFill/>
          </a:ln>
        </p:spPr>
      </p:pic>
      <p:pic>
        <p:nvPicPr>
          <p:cNvPr id="438" name="Google Shape;438;p38"/>
          <p:cNvPicPr preferRelativeResize="0"/>
          <p:nvPr/>
        </p:nvPicPr>
        <p:blipFill>
          <a:blip r:embed="rId4">
            <a:alphaModFix/>
          </a:blip>
          <a:stretch>
            <a:fillRect/>
          </a:stretch>
        </p:blipFill>
        <p:spPr>
          <a:xfrm>
            <a:off x="632550" y="2634325"/>
            <a:ext cx="3776125" cy="22747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9"/>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444" name="Google Shape;444;p39"/>
          <p:cNvSpPr txBox="1"/>
          <p:nvPr>
            <p:ph idx="4294967295" type="body"/>
          </p:nvPr>
        </p:nvSpPr>
        <p:spPr>
          <a:xfrm>
            <a:off x="632550" y="943675"/>
            <a:ext cx="7847700" cy="40284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605"/>
              <a:buNone/>
            </a:pPr>
            <a:r>
              <a:rPr b="1" lang="es" sz="1000" u="sng">
                <a:solidFill>
                  <a:srgbClr val="000000"/>
                </a:solidFill>
              </a:rPr>
              <a:t>Test de Shapiro-Wilk y Gráficos Q–Q</a:t>
            </a:r>
            <a:endParaRPr b="1" sz="1000" u="sng">
              <a:solidFill>
                <a:srgbClr val="000000"/>
              </a:solidFill>
            </a:endParaRPr>
          </a:p>
          <a:p>
            <a:pPr indent="0" lvl="0" marL="0" rtl="0" algn="just">
              <a:spcBef>
                <a:spcPts val="1200"/>
              </a:spcBef>
              <a:spcAft>
                <a:spcPts val="0"/>
              </a:spcAft>
              <a:buNone/>
            </a:pPr>
            <a:r>
              <a:rPr b="1" lang="es" sz="1000">
                <a:solidFill>
                  <a:srgbClr val="000000"/>
                </a:solidFill>
              </a:rPr>
              <a:t>Desempleo: </a:t>
            </a:r>
            <a:r>
              <a:rPr lang="es" sz="1000">
                <a:solidFill>
                  <a:srgbClr val="000000"/>
                </a:solidFill>
              </a:rPr>
              <a:t>Los resultados del test de Shapiro-Wilk indican que tanto el grupo de países con inflación alta como el de inflación baja presentan una distribución estadísticamente diferente de la normal, arrojando un p-value &lt; 0.</a:t>
            </a:r>
            <a:r>
              <a:rPr lang="es" sz="1000">
                <a:solidFill>
                  <a:srgbClr val="000000"/>
                </a:solidFill>
              </a:rPr>
              <a:t>000001.</a:t>
            </a:r>
            <a:br>
              <a:rPr lang="es" sz="1000">
                <a:solidFill>
                  <a:srgbClr val="000000"/>
                </a:solidFill>
              </a:rPr>
            </a:br>
            <a:r>
              <a:rPr lang="es" sz="1000">
                <a:solidFill>
                  <a:srgbClr val="000000"/>
                </a:solidFill>
              </a:rPr>
              <a:t>Los gráficos Q–Q corroboran este diagnóstico:</a:t>
            </a:r>
            <a:endParaRPr sz="1000">
              <a:solidFill>
                <a:srgbClr val="000000"/>
              </a:solidFill>
            </a:endParaRPr>
          </a:p>
          <a:p>
            <a:pPr indent="-292100" lvl="0" marL="457200" rtl="0" algn="just">
              <a:spcBef>
                <a:spcPts val="1200"/>
              </a:spcBef>
              <a:spcAft>
                <a:spcPts val="0"/>
              </a:spcAft>
              <a:buClr>
                <a:srgbClr val="000000"/>
              </a:buClr>
              <a:buSzPts val="1000"/>
              <a:buFont typeface="Arial"/>
              <a:buChar char="●"/>
            </a:pPr>
            <a:r>
              <a:rPr lang="es" sz="1000">
                <a:solidFill>
                  <a:srgbClr val="000000"/>
                </a:solidFill>
              </a:rPr>
              <a:t>Curvatura pronunciada hacia arriba en la cola derecha. Indica presencia de </a:t>
            </a:r>
            <a:r>
              <a:rPr lang="es" sz="1000">
                <a:solidFill>
                  <a:srgbClr val="000000"/>
                </a:solidFill>
              </a:rPr>
              <a:t>países con altos niveles de desempleo estructural.</a:t>
            </a:r>
            <a:endParaRPr sz="1000">
              <a:solidFill>
                <a:srgbClr val="000000"/>
              </a:solidFill>
            </a:endParaRPr>
          </a:p>
          <a:p>
            <a:pPr indent="-292100" lvl="0" marL="457200" rtl="0" algn="just">
              <a:spcBef>
                <a:spcPts val="0"/>
              </a:spcBef>
              <a:spcAft>
                <a:spcPts val="0"/>
              </a:spcAft>
              <a:buClr>
                <a:srgbClr val="000000"/>
              </a:buClr>
              <a:buSzPts val="1000"/>
              <a:buFont typeface="Arial"/>
              <a:buChar char="●"/>
            </a:pPr>
            <a:r>
              <a:rPr lang="es" sz="1000">
                <a:solidFill>
                  <a:srgbClr val="000000"/>
                </a:solidFill>
              </a:rPr>
              <a:t>Leve concentración de valores cercanos a la mediana. Indica países con estructuras laborales más estables.</a:t>
            </a:r>
            <a:endParaRPr sz="1000">
              <a:solidFill>
                <a:srgbClr val="000000"/>
              </a:solidFill>
            </a:endParaRPr>
          </a:p>
          <a:p>
            <a:pPr indent="0" lvl="0" marL="457200" rtl="0" algn="just">
              <a:spcBef>
                <a:spcPts val="1200"/>
              </a:spcBef>
              <a:spcAft>
                <a:spcPts val="0"/>
              </a:spcAft>
              <a:buNone/>
            </a:pPr>
            <a:r>
              <a:t/>
            </a:r>
            <a:endParaRPr sz="1000">
              <a:solidFill>
                <a:srgbClr val="000000"/>
              </a:solidFill>
            </a:endParaRPr>
          </a:p>
          <a:p>
            <a:pPr indent="0" lvl="0" marL="0" rtl="0" algn="just">
              <a:spcBef>
                <a:spcPts val="1200"/>
              </a:spcBef>
              <a:spcAft>
                <a:spcPts val="0"/>
              </a:spcAft>
              <a:buNone/>
            </a:pPr>
            <a:r>
              <a:t/>
            </a:r>
            <a:endParaRPr sz="1000">
              <a:solidFill>
                <a:srgbClr val="000000"/>
              </a:solidFill>
            </a:endParaRPr>
          </a:p>
          <a:p>
            <a:pPr indent="0" lvl="0" marL="0" rtl="0" algn="just">
              <a:lnSpc>
                <a:spcPct val="105000"/>
              </a:lnSpc>
              <a:spcBef>
                <a:spcPts val="1200"/>
              </a:spcBef>
              <a:spcAft>
                <a:spcPts val="0"/>
              </a:spcAft>
              <a:buSzPts val="605"/>
              <a:buNone/>
            </a:pPr>
            <a:r>
              <a:t/>
            </a:r>
            <a:endParaRPr b="1"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1200"/>
              </a:spcAft>
              <a:buSzPts val="605"/>
              <a:buNone/>
            </a:pPr>
            <a:r>
              <a:t/>
            </a:r>
            <a:endParaRPr sz="1000">
              <a:solidFill>
                <a:srgbClr val="000000"/>
              </a:solidFill>
            </a:endParaRPr>
          </a:p>
        </p:txBody>
      </p:sp>
      <p:pic>
        <p:nvPicPr>
          <p:cNvPr id="445" name="Google Shape;445;p39"/>
          <p:cNvPicPr preferRelativeResize="0"/>
          <p:nvPr/>
        </p:nvPicPr>
        <p:blipFill>
          <a:blip r:embed="rId3">
            <a:alphaModFix/>
          </a:blip>
          <a:stretch>
            <a:fillRect/>
          </a:stretch>
        </p:blipFill>
        <p:spPr>
          <a:xfrm>
            <a:off x="663760" y="2482707"/>
            <a:ext cx="3844898" cy="2326825"/>
          </a:xfrm>
          <a:prstGeom prst="rect">
            <a:avLst/>
          </a:prstGeom>
          <a:noFill/>
          <a:ln>
            <a:noFill/>
          </a:ln>
        </p:spPr>
      </p:pic>
      <p:pic>
        <p:nvPicPr>
          <p:cNvPr id="446" name="Google Shape;446;p39"/>
          <p:cNvPicPr preferRelativeResize="0"/>
          <p:nvPr/>
        </p:nvPicPr>
        <p:blipFill>
          <a:blip r:embed="rId4">
            <a:alphaModFix/>
          </a:blip>
          <a:stretch>
            <a:fillRect/>
          </a:stretch>
        </p:blipFill>
        <p:spPr>
          <a:xfrm>
            <a:off x="4657125" y="2482707"/>
            <a:ext cx="3823128" cy="23268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0"/>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452" name="Google Shape;452;p40"/>
          <p:cNvSpPr txBox="1"/>
          <p:nvPr>
            <p:ph idx="4294967295" type="body"/>
          </p:nvPr>
        </p:nvSpPr>
        <p:spPr>
          <a:xfrm>
            <a:off x="632550" y="943675"/>
            <a:ext cx="7710900" cy="40284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605"/>
              <a:buNone/>
            </a:pPr>
            <a:r>
              <a:rPr b="1" lang="es" sz="1000" u="sng">
                <a:solidFill>
                  <a:srgbClr val="000000"/>
                </a:solidFill>
              </a:rPr>
              <a:t>Test de Shapiro-Wilk y Gráficos Q–Q</a:t>
            </a:r>
            <a:endParaRPr b="1" sz="1000" u="sng">
              <a:solidFill>
                <a:srgbClr val="000000"/>
              </a:solidFill>
            </a:endParaRPr>
          </a:p>
          <a:p>
            <a:pPr indent="0" lvl="0" marL="0" rtl="0" algn="just">
              <a:spcBef>
                <a:spcPts val="1200"/>
              </a:spcBef>
              <a:spcAft>
                <a:spcPts val="0"/>
              </a:spcAft>
              <a:buNone/>
            </a:pPr>
            <a:r>
              <a:rPr b="1" lang="es" sz="1000">
                <a:solidFill>
                  <a:srgbClr val="000000"/>
                </a:solidFill>
              </a:rPr>
              <a:t>Gasto público</a:t>
            </a:r>
            <a:r>
              <a:rPr b="1" lang="es" sz="1000">
                <a:solidFill>
                  <a:srgbClr val="000000"/>
                </a:solidFill>
              </a:rPr>
              <a:t>: </a:t>
            </a:r>
            <a:r>
              <a:rPr lang="es" sz="1000">
                <a:solidFill>
                  <a:srgbClr val="000000"/>
                </a:solidFill>
              </a:rPr>
              <a:t>Los resultados del test de Shapiro-Wilk indican que tanto el grupo de países con inflación alta como el de inflación baja presentan una distribución estadísticamente diferente de la normal, arrojando un p-value &lt; </a:t>
            </a:r>
            <a:r>
              <a:rPr lang="es" sz="1000">
                <a:solidFill>
                  <a:srgbClr val="000000"/>
                </a:solidFill>
              </a:rPr>
              <a:t>0.000001.</a:t>
            </a:r>
            <a:br>
              <a:rPr lang="es" sz="1000">
                <a:solidFill>
                  <a:srgbClr val="000000"/>
                </a:solidFill>
              </a:rPr>
            </a:br>
            <a:r>
              <a:rPr lang="es" sz="1000">
                <a:solidFill>
                  <a:srgbClr val="000000"/>
                </a:solidFill>
              </a:rPr>
              <a:t>En el Q–Q Plot se observa:</a:t>
            </a:r>
            <a:endParaRPr sz="1000">
              <a:solidFill>
                <a:srgbClr val="000000"/>
              </a:solidFill>
            </a:endParaRPr>
          </a:p>
          <a:p>
            <a:pPr indent="-298450" lvl="0" marL="457200" rtl="0" algn="just">
              <a:spcBef>
                <a:spcPts val="1200"/>
              </a:spcBef>
              <a:spcAft>
                <a:spcPts val="0"/>
              </a:spcAft>
              <a:buClr>
                <a:srgbClr val="000000"/>
              </a:buClr>
              <a:buSzPts val="1100"/>
              <a:buFont typeface="Arial"/>
              <a:buChar char="●"/>
            </a:pPr>
            <a:r>
              <a:rPr lang="es" sz="1000">
                <a:solidFill>
                  <a:srgbClr val="000000"/>
                </a:solidFill>
              </a:rPr>
              <a:t>Una cola derecha muy extendida. Indica episodios de fuerte expansión fiscal, generalmente en crisis.</a:t>
            </a:r>
            <a:endParaRPr sz="1000">
              <a:solidFill>
                <a:srgbClr val="000000"/>
              </a:solidFill>
            </a:endParaRPr>
          </a:p>
          <a:p>
            <a:pPr indent="-298450" lvl="0" marL="457200" rtl="0" algn="just">
              <a:spcBef>
                <a:spcPts val="0"/>
              </a:spcBef>
              <a:spcAft>
                <a:spcPts val="0"/>
              </a:spcAft>
              <a:buClr>
                <a:srgbClr val="000000"/>
              </a:buClr>
              <a:buSzPts val="1100"/>
              <a:buFont typeface="Arial"/>
              <a:buChar char="●"/>
            </a:pPr>
            <a:r>
              <a:rPr lang="es" sz="1000">
                <a:solidFill>
                  <a:srgbClr val="000000"/>
                </a:solidFill>
              </a:rPr>
              <a:t>Cola izquierda. Indica consolidaciones fiscales abruptas, típicas de programas de ajuste.</a:t>
            </a:r>
            <a:br>
              <a:rPr lang="es" sz="1000">
                <a:solidFill>
                  <a:srgbClr val="000000"/>
                </a:solidFill>
              </a:rPr>
            </a:br>
            <a:endParaRPr sz="1000">
              <a:solidFill>
                <a:srgbClr val="000000"/>
              </a:solidFill>
            </a:endParaRPr>
          </a:p>
          <a:p>
            <a:pPr indent="0" lvl="0" marL="0" rtl="0" algn="just">
              <a:spcBef>
                <a:spcPts val="1200"/>
              </a:spcBef>
              <a:spcAft>
                <a:spcPts val="0"/>
              </a:spcAft>
              <a:buNone/>
            </a:pPr>
            <a:r>
              <a:t/>
            </a:r>
            <a:endParaRPr sz="1000">
              <a:solidFill>
                <a:srgbClr val="000000"/>
              </a:solidFill>
            </a:endParaRPr>
          </a:p>
          <a:p>
            <a:pPr indent="0" lvl="0" marL="457200" rtl="0" algn="just">
              <a:spcBef>
                <a:spcPts val="1200"/>
              </a:spcBef>
              <a:spcAft>
                <a:spcPts val="0"/>
              </a:spcAft>
              <a:buNone/>
            </a:pPr>
            <a:r>
              <a:t/>
            </a:r>
            <a:endParaRPr sz="1000">
              <a:solidFill>
                <a:srgbClr val="000000"/>
              </a:solidFill>
            </a:endParaRPr>
          </a:p>
          <a:p>
            <a:pPr indent="0" lvl="0" marL="0" rtl="0" algn="just">
              <a:spcBef>
                <a:spcPts val="1200"/>
              </a:spcBef>
              <a:spcAft>
                <a:spcPts val="0"/>
              </a:spcAft>
              <a:buNone/>
            </a:pPr>
            <a:r>
              <a:t/>
            </a:r>
            <a:endParaRPr sz="1000">
              <a:solidFill>
                <a:srgbClr val="000000"/>
              </a:solidFill>
            </a:endParaRPr>
          </a:p>
          <a:p>
            <a:pPr indent="0" lvl="0" marL="0" rtl="0" algn="just">
              <a:lnSpc>
                <a:spcPct val="105000"/>
              </a:lnSpc>
              <a:spcBef>
                <a:spcPts val="1200"/>
              </a:spcBef>
              <a:spcAft>
                <a:spcPts val="0"/>
              </a:spcAft>
              <a:buSzPts val="605"/>
              <a:buNone/>
            </a:pPr>
            <a:r>
              <a:t/>
            </a:r>
            <a:endParaRPr b="1" sz="1000">
              <a:solidFill>
                <a:srgbClr val="000000"/>
              </a:solidFill>
            </a:endParaRPr>
          </a:p>
          <a:p>
            <a:pPr indent="0" lvl="0" marL="0" rtl="0" algn="just">
              <a:lnSpc>
                <a:spcPct val="105000"/>
              </a:lnSpc>
              <a:spcBef>
                <a:spcPts val="1200"/>
              </a:spcBef>
              <a:spcAft>
                <a:spcPts val="0"/>
              </a:spcAft>
              <a:buSzPts val="605"/>
              <a:buNone/>
            </a:pPr>
            <a:r>
              <a:t/>
            </a:r>
            <a:endParaRPr sz="1000">
              <a:solidFill>
                <a:srgbClr val="000000"/>
              </a:solidFill>
            </a:endParaRPr>
          </a:p>
          <a:p>
            <a:pPr indent="0" lvl="0" marL="0" rtl="0" algn="just">
              <a:lnSpc>
                <a:spcPct val="105000"/>
              </a:lnSpc>
              <a:spcBef>
                <a:spcPts val="1200"/>
              </a:spcBef>
              <a:spcAft>
                <a:spcPts val="1200"/>
              </a:spcAft>
              <a:buSzPts val="605"/>
              <a:buNone/>
            </a:pPr>
            <a:r>
              <a:t/>
            </a:r>
            <a:endParaRPr sz="1000">
              <a:solidFill>
                <a:srgbClr val="000000"/>
              </a:solidFill>
            </a:endParaRPr>
          </a:p>
        </p:txBody>
      </p:sp>
      <p:pic>
        <p:nvPicPr>
          <p:cNvPr id="453" name="Google Shape;453;p40"/>
          <p:cNvPicPr preferRelativeResize="0"/>
          <p:nvPr/>
        </p:nvPicPr>
        <p:blipFill>
          <a:blip r:embed="rId3">
            <a:alphaModFix/>
          </a:blip>
          <a:stretch>
            <a:fillRect/>
          </a:stretch>
        </p:blipFill>
        <p:spPr>
          <a:xfrm>
            <a:off x="4617250" y="2571749"/>
            <a:ext cx="3829061" cy="2330474"/>
          </a:xfrm>
          <a:prstGeom prst="rect">
            <a:avLst/>
          </a:prstGeom>
          <a:noFill/>
          <a:ln>
            <a:noFill/>
          </a:ln>
        </p:spPr>
      </p:pic>
      <p:pic>
        <p:nvPicPr>
          <p:cNvPr id="454" name="Google Shape;454;p40"/>
          <p:cNvPicPr preferRelativeResize="0"/>
          <p:nvPr/>
        </p:nvPicPr>
        <p:blipFill>
          <a:blip r:embed="rId4">
            <a:alphaModFix/>
          </a:blip>
          <a:stretch>
            <a:fillRect/>
          </a:stretch>
        </p:blipFill>
        <p:spPr>
          <a:xfrm>
            <a:off x="632550" y="2571750"/>
            <a:ext cx="3839974" cy="23304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1"/>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460" name="Google Shape;460;p41"/>
          <p:cNvSpPr txBox="1"/>
          <p:nvPr>
            <p:ph idx="4294967295" type="body"/>
          </p:nvPr>
        </p:nvSpPr>
        <p:spPr>
          <a:xfrm>
            <a:off x="632550" y="943675"/>
            <a:ext cx="7710900" cy="4028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u="sng">
                <a:solidFill>
                  <a:srgbClr val="000000"/>
                </a:solidFill>
              </a:rPr>
              <a:t>Homogeneidad de varianzas: Test de Levene</a:t>
            </a:r>
            <a:endParaRPr b="1" sz="1000" u="sng">
              <a:solidFill>
                <a:srgbClr val="000000"/>
              </a:solidFill>
            </a:endParaRPr>
          </a:p>
          <a:p>
            <a:pPr indent="0" lvl="0" marL="0" rtl="0" algn="just">
              <a:spcBef>
                <a:spcPts val="1200"/>
              </a:spcBef>
              <a:spcAft>
                <a:spcPts val="0"/>
              </a:spcAft>
              <a:buNone/>
            </a:pPr>
            <a:r>
              <a:rPr lang="es" sz="1000">
                <a:solidFill>
                  <a:srgbClr val="000000"/>
                </a:solidFill>
              </a:rPr>
              <a:t>El test de Levene es una prueba estadística utilizada para evaluar si dos o más grupos presentan igualdad en la variabilidad interna de sus datos, es decir, si sus varianzas son homogéneas. </a:t>
            </a:r>
            <a:endParaRPr sz="1000">
              <a:solidFill>
                <a:srgbClr val="000000"/>
              </a:solidFill>
            </a:endParaRPr>
          </a:p>
          <a:p>
            <a:pPr indent="0" lvl="0" marL="0" rtl="0" algn="just">
              <a:spcBef>
                <a:spcPts val="1200"/>
              </a:spcBef>
              <a:spcAft>
                <a:spcPts val="0"/>
              </a:spcAft>
              <a:buNone/>
            </a:pPr>
            <a:r>
              <a:rPr lang="es" sz="1000">
                <a:solidFill>
                  <a:srgbClr val="000000"/>
                </a:solidFill>
              </a:rPr>
              <a:t>Las hipótesis van a ser las siguientes:</a:t>
            </a:r>
            <a:endParaRPr sz="1000">
              <a:solidFill>
                <a:srgbClr val="000000"/>
              </a:solidFill>
            </a:endParaRPr>
          </a:p>
          <a:p>
            <a:pPr indent="-292100" lvl="0" marL="457200" rtl="0" algn="just">
              <a:spcBef>
                <a:spcPts val="1200"/>
              </a:spcBef>
              <a:spcAft>
                <a:spcPts val="0"/>
              </a:spcAft>
              <a:buClr>
                <a:srgbClr val="000000"/>
              </a:buClr>
              <a:buSzPts val="1000"/>
              <a:buFont typeface="Arial"/>
              <a:buChar char="●"/>
            </a:pPr>
            <a:r>
              <a:rPr b="1" lang="es" sz="1000">
                <a:solidFill>
                  <a:srgbClr val="000000"/>
                </a:solidFill>
              </a:rPr>
              <a:t>H0:</a:t>
            </a:r>
            <a:r>
              <a:rPr lang="es" sz="1000">
                <a:solidFill>
                  <a:srgbClr val="000000"/>
                </a:solidFill>
              </a:rPr>
              <a:t> las varianzas de los grupos son iguales (homocedasticidad).</a:t>
            </a:r>
            <a:endParaRPr sz="1000">
              <a:solidFill>
                <a:srgbClr val="000000"/>
              </a:solidFill>
            </a:endParaRPr>
          </a:p>
          <a:p>
            <a:pPr indent="-292100" lvl="0" marL="457200" rtl="0" algn="just">
              <a:spcBef>
                <a:spcPts val="0"/>
              </a:spcBef>
              <a:spcAft>
                <a:spcPts val="0"/>
              </a:spcAft>
              <a:buClr>
                <a:srgbClr val="000000"/>
              </a:buClr>
              <a:buSzPts val="1000"/>
              <a:buFont typeface="Arial"/>
              <a:buChar char="●"/>
            </a:pPr>
            <a:r>
              <a:rPr b="1" lang="es" sz="1000">
                <a:solidFill>
                  <a:srgbClr val="000000"/>
                </a:solidFill>
              </a:rPr>
              <a:t>H1:</a:t>
            </a:r>
            <a:r>
              <a:rPr lang="es" sz="1000">
                <a:solidFill>
                  <a:srgbClr val="000000"/>
                </a:solidFill>
              </a:rPr>
              <a:t> las varianzas difieren entre los grupos (heterocedasticidad).</a:t>
            </a:r>
            <a:endParaRPr sz="1000">
              <a:solidFill>
                <a:srgbClr val="000000"/>
              </a:solidFill>
            </a:endParaRPr>
          </a:p>
          <a:p>
            <a:pPr indent="0" lvl="0" marL="0" rtl="0" algn="just">
              <a:spcBef>
                <a:spcPts val="1200"/>
              </a:spcBef>
              <a:spcAft>
                <a:spcPts val="0"/>
              </a:spcAft>
              <a:buNone/>
            </a:pPr>
            <a:r>
              <a:rPr lang="es" sz="1000">
                <a:solidFill>
                  <a:srgbClr val="000000"/>
                </a:solidFill>
              </a:rPr>
              <a:t>Si el p-value &lt; 0.05, se rechaza H0, es decir, se rechaza la homogeneidad de las varianzas.</a:t>
            </a:r>
            <a:endParaRPr sz="1000">
              <a:solidFill>
                <a:srgbClr val="000000"/>
              </a:solidFill>
            </a:endParaRPr>
          </a:p>
          <a:p>
            <a:pPr indent="0" lvl="0" marL="0" rtl="0" algn="just">
              <a:spcBef>
                <a:spcPts val="1200"/>
              </a:spcBef>
              <a:spcAft>
                <a:spcPts val="0"/>
              </a:spcAft>
              <a:buNone/>
            </a:pPr>
            <a:r>
              <a:rPr b="1" lang="es" sz="1000" u="sng">
                <a:solidFill>
                  <a:srgbClr val="000000"/>
                </a:solidFill>
              </a:rPr>
              <a:t>Test de Wilcoxon–Mann–Whitney (comparación entre grupos)</a:t>
            </a:r>
            <a:endParaRPr b="1" sz="1000" u="sng">
              <a:solidFill>
                <a:srgbClr val="000000"/>
              </a:solidFill>
            </a:endParaRPr>
          </a:p>
          <a:p>
            <a:pPr indent="0" lvl="0" marL="0" rtl="0" algn="just">
              <a:spcBef>
                <a:spcPts val="1200"/>
              </a:spcBef>
              <a:spcAft>
                <a:spcPts val="0"/>
              </a:spcAft>
              <a:buNone/>
            </a:pPr>
            <a:r>
              <a:rPr lang="es" sz="1000">
                <a:solidFill>
                  <a:srgbClr val="000000"/>
                </a:solidFill>
              </a:rPr>
              <a:t>El test de Wilcoxon compara si dos grupos independientes (inflación alta vs. baja) presentan diferencias en su mediana, sin asumir normalidad ni igualdad de varianzas. Es adecuado dado que todos los tests de normalidad (Shapiro-Wilk) mostraron p-values extremadamente bajos, indicando violaciones severas al supuesto de normalidad.</a:t>
            </a:r>
            <a:endParaRPr sz="1000">
              <a:solidFill>
                <a:srgbClr val="000000"/>
              </a:solidFill>
            </a:endParaRPr>
          </a:p>
          <a:p>
            <a:pPr indent="-292100" lvl="0" marL="457200" rtl="0" algn="just">
              <a:spcBef>
                <a:spcPts val="1200"/>
              </a:spcBef>
              <a:spcAft>
                <a:spcPts val="0"/>
              </a:spcAft>
              <a:buClr>
                <a:srgbClr val="000000"/>
              </a:buClr>
              <a:buSzPts val="1000"/>
              <a:buFont typeface="Arial"/>
              <a:buChar char="●"/>
            </a:pPr>
            <a:r>
              <a:rPr b="1" lang="es" sz="1000">
                <a:solidFill>
                  <a:srgbClr val="000000"/>
                </a:solidFill>
              </a:rPr>
              <a:t>H0:</a:t>
            </a:r>
            <a:r>
              <a:rPr lang="es" sz="1000">
                <a:solidFill>
                  <a:srgbClr val="000000"/>
                </a:solidFill>
              </a:rPr>
              <a:t> las medianas de ambos grupos son iguales</a:t>
            </a:r>
            <a:endParaRPr sz="1000">
              <a:solidFill>
                <a:srgbClr val="000000"/>
              </a:solidFill>
            </a:endParaRPr>
          </a:p>
          <a:p>
            <a:pPr indent="-292100" lvl="0" marL="457200" rtl="0" algn="just">
              <a:spcBef>
                <a:spcPts val="0"/>
              </a:spcBef>
              <a:spcAft>
                <a:spcPts val="0"/>
              </a:spcAft>
              <a:buClr>
                <a:srgbClr val="000000"/>
              </a:buClr>
              <a:buSzPts val="1000"/>
              <a:buFont typeface="Arial"/>
              <a:buChar char="●"/>
            </a:pPr>
            <a:r>
              <a:rPr b="1" lang="es" sz="1000">
                <a:solidFill>
                  <a:srgbClr val="000000"/>
                </a:solidFill>
              </a:rPr>
              <a:t>H1:</a:t>
            </a:r>
            <a:r>
              <a:rPr lang="es" sz="1000">
                <a:solidFill>
                  <a:srgbClr val="000000"/>
                </a:solidFill>
              </a:rPr>
              <a:t> las medianas difieren</a:t>
            </a:r>
            <a:endParaRPr sz="1000">
              <a:solidFill>
                <a:srgbClr val="000000"/>
              </a:solidFill>
            </a:endParaRPr>
          </a:p>
          <a:p>
            <a:pPr indent="0" lvl="0" marL="0" rtl="0" algn="just">
              <a:spcBef>
                <a:spcPts val="1200"/>
              </a:spcBef>
              <a:spcAft>
                <a:spcPts val="1200"/>
              </a:spcAft>
              <a:buNone/>
            </a:pPr>
            <a:r>
              <a:t/>
            </a:r>
            <a:endParaRPr sz="1000">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2"/>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466" name="Google Shape;466;p42"/>
          <p:cNvSpPr txBox="1"/>
          <p:nvPr>
            <p:ph idx="4294967295" type="body"/>
          </p:nvPr>
        </p:nvSpPr>
        <p:spPr>
          <a:xfrm>
            <a:off x="632550" y="943675"/>
            <a:ext cx="7710900" cy="4028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u="sng">
                <a:solidFill>
                  <a:srgbClr val="000000"/>
                </a:solidFill>
              </a:rPr>
              <a:t>Homogeneidad de varianzas: Test de Levene</a:t>
            </a:r>
            <a:endParaRPr b="1" sz="1000" u="sng">
              <a:solidFill>
                <a:srgbClr val="000000"/>
              </a:solidFill>
            </a:endParaRPr>
          </a:p>
          <a:p>
            <a:pPr indent="0" lvl="0" marL="0" rtl="0" algn="just">
              <a:spcBef>
                <a:spcPts val="1200"/>
              </a:spcBef>
              <a:spcAft>
                <a:spcPts val="0"/>
              </a:spcAft>
              <a:buNone/>
            </a:pPr>
            <a:r>
              <a:rPr b="1" lang="es" sz="1000">
                <a:solidFill>
                  <a:srgbClr val="000000"/>
                </a:solidFill>
              </a:rPr>
              <a:t>Crecimiento de PIB:</a:t>
            </a:r>
            <a:r>
              <a:rPr lang="es" sz="1000">
                <a:solidFill>
                  <a:srgbClr val="000000"/>
                </a:solidFill>
              </a:rPr>
              <a:t> El test arroja los siguientes resultados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F = 0.0567</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p-value = 0.8119</a:t>
            </a:r>
            <a:endParaRPr sz="1000">
              <a:solidFill>
                <a:srgbClr val="000000"/>
              </a:solidFill>
            </a:endParaRPr>
          </a:p>
          <a:p>
            <a:pPr indent="0" lvl="0" marL="0" rtl="0" algn="just">
              <a:spcBef>
                <a:spcPts val="1200"/>
              </a:spcBef>
              <a:spcAft>
                <a:spcPts val="0"/>
              </a:spcAft>
              <a:buNone/>
            </a:pPr>
            <a:r>
              <a:rPr lang="es" sz="1000">
                <a:solidFill>
                  <a:srgbClr val="000000"/>
                </a:solidFill>
              </a:rPr>
              <a:t>El p-value es muy superior a 0.05, por lo que no se rechaza la hipótesis nula. Las varianzas del crecimiento del PBI son homogéneas entre los grupos de inflación alta y baja.</a:t>
            </a:r>
            <a:endParaRPr sz="1000">
              <a:solidFill>
                <a:srgbClr val="000000"/>
              </a:solidFill>
            </a:endParaRPr>
          </a:p>
          <a:p>
            <a:pPr indent="0" lvl="0" marL="0" rtl="0" algn="just">
              <a:spcBef>
                <a:spcPts val="1200"/>
              </a:spcBef>
              <a:spcAft>
                <a:spcPts val="0"/>
              </a:spcAft>
              <a:buNone/>
            </a:pPr>
            <a:r>
              <a:rPr lang="es" sz="1000">
                <a:solidFill>
                  <a:srgbClr val="000000"/>
                </a:solidFill>
              </a:rPr>
              <a:t>La dispersión del crecimiento económico es similar en países con diferentes niveles de inflación, lo cual sugiere que:</a:t>
            </a:r>
            <a:endParaRPr sz="1000">
              <a:solidFill>
                <a:srgbClr val="000000"/>
              </a:solidFill>
            </a:endParaRPr>
          </a:p>
          <a:p>
            <a:pPr indent="-292100" lvl="0" marL="457200" rtl="0" algn="just">
              <a:spcBef>
                <a:spcPts val="1200"/>
              </a:spcBef>
              <a:spcAft>
                <a:spcPts val="0"/>
              </a:spcAft>
              <a:buClr>
                <a:srgbClr val="000000"/>
              </a:buClr>
              <a:buSzPts val="1000"/>
              <a:buFont typeface="Nunito"/>
              <a:buChar char="●"/>
            </a:pPr>
            <a:r>
              <a:rPr lang="es" sz="1000">
                <a:solidFill>
                  <a:srgbClr val="000000"/>
                </a:solidFill>
              </a:rPr>
              <a:t>La volatilidad del PBI no está estrictamente asociada al régimen inflacionario.</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Factores estructurales (diversificación productiva, inserción internacional, políticas fiscales contracíclicas) parecen tener más peso que el nivel de precios.</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T</a:t>
            </a:r>
            <a:r>
              <a:rPr lang="es" sz="1000">
                <a:solidFill>
                  <a:srgbClr val="000000"/>
                </a:solidFill>
              </a:rPr>
              <a:t>anto economías de inflación alta como baja exhiben variabilidad comparable en su crecimiento anual.</a:t>
            </a:r>
            <a:endParaRPr sz="1000">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3"/>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472" name="Google Shape;472;p43"/>
          <p:cNvSpPr txBox="1"/>
          <p:nvPr>
            <p:ph idx="4294967295" type="body"/>
          </p:nvPr>
        </p:nvSpPr>
        <p:spPr>
          <a:xfrm>
            <a:off x="632550" y="943675"/>
            <a:ext cx="7710900" cy="4028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u="sng">
                <a:solidFill>
                  <a:srgbClr val="000000"/>
                </a:solidFill>
              </a:rPr>
              <a:t>Homogeneidad de varianzas: Test de Levene</a:t>
            </a:r>
            <a:endParaRPr b="1" sz="1000" u="sng">
              <a:solidFill>
                <a:srgbClr val="000000"/>
              </a:solidFill>
            </a:endParaRPr>
          </a:p>
          <a:p>
            <a:pPr indent="0" lvl="0" marL="0" rtl="0" algn="just">
              <a:spcBef>
                <a:spcPts val="1200"/>
              </a:spcBef>
              <a:spcAft>
                <a:spcPts val="0"/>
              </a:spcAft>
              <a:buNone/>
            </a:pPr>
            <a:r>
              <a:rPr b="1" lang="es" sz="1000">
                <a:solidFill>
                  <a:srgbClr val="000000"/>
                </a:solidFill>
              </a:rPr>
              <a:t>Desempleo:</a:t>
            </a:r>
            <a:r>
              <a:rPr lang="es" sz="1000">
                <a:solidFill>
                  <a:srgbClr val="000000"/>
                </a:solidFill>
              </a:rPr>
              <a:t> El test arroja los siguientes resultados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F = </a:t>
            </a:r>
            <a:r>
              <a:rPr lang="es" sz="1000">
                <a:solidFill>
                  <a:srgbClr val="000000"/>
                </a:solidFill>
              </a:rPr>
              <a:t>0.0482</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p-value = </a:t>
            </a:r>
            <a:r>
              <a:rPr lang="es" sz="1000">
                <a:solidFill>
                  <a:srgbClr val="000000"/>
                </a:solidFill>
              </a:rPr>
              <a:t>0.8263</a:t>
            </a:r>
            <a:endParaRPr sz="1000">
              <a:solidFill>
                <a:srgbClr val="000000"/>
              </a:solidFill>
            </a:endParaRPr>
          </a:p>
          <a:p>
            <a:pPr indent="0" lvl="0" marL="0" rtl="0" algn="just">
              <a:spcBef>
                <a:spcPts val="1200"/>
              </a:spcBef>
              <a:spcAft>
                <a:spcPts val="0"/>
              </a:spcAft>
              <a:buNone/>
            </a:pPr>
            <a:r>
              <a:rPr lang="es" sz="1000">
                <a:solidFill>
                  <a:srgbClr val="000000"/>
                </a:solidFill>
              </a:rPr>
              <a:t>El p-value es muy superior a 0.05, por lo que no se rechaza la hipótesis nula. Las varianzas del desempleo son homogéneas entre los grupos de inflación alta y baja.</a:t>
            </a:r>
            <a:endParaRPr sz="1000">
              <a:solidFill>
                <a:srgbClr val="000000"/>
              </a:solidFill>
            </a:endParaRPr>
          </a:p>
          <a:p>
            <a:pPr indent="0" lvl="0" marL="0" rtl="0" algn="just">
              <a:spcBef>
                <a:spcPts val="1200"/>
              </a:spcBef>
              <a:spcAft>
                <a:spcPts val="0"/>
              </a:spcAft>
              <a:buNone/>
            </a:pPr>
            <a:r>
              <a:rPr lang="es" sz="1000">
                <a:solidFill>
                  <a:srgbClr val="000000"/>
                </a:solidFill>
              </a:rPr>
              <a:t>La dispersión del desempleo dentro de cada grupo (alta o baja inflación) es estadísticamente similar, lo que indica que:</a:t>
            </a:r>
            <a:endParaRPr sz="1000">
              <a:solidFill>
                <a:srgbClr val="000000"/>
              </a:solidFill>
            </a:endParaRPr>
          </a:p>
          <a:p>
            <a:pPr indent="-292100" lvl="0" marL="457200" rtl="0" algn="just">
              <a:spcBef>
                <a:spcPts val="1200"/>
              </a:spcBef>
              <a:spcAft>
                <a:spcPts val="0"/>
              </a:spcAft>
              <a:buClr>
                <a:srgbClr val="000000"/>
              </a:buClr>
              <a:buSzPts val="1000"/>
              <a:buFont typeface="Arial"/>
              <a:buChar char="●"/>
            </a:pPr>
            <a:r>
              <a:rPr lang="es" sz="1000">
                <a:solidFill>
                  <a:srgbClr val="000000"/>
                </a:solidFill>
              </a:rPr>
              <a:t>La volatilidad del mercado laboral no depende directamente del nivel de inflación del país.</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Las diferencias en desempleo parecen responder más a la estructura laboral (formalidad, regulaciones, rigidez vs flexibilidad),</a:t>
            </a:r>
            <a:endParaRPr sz="1000">
              <a:solidFill>
                <a:srgbClr val="000000"/>
              </a:solidFill>
            </a:endParaRPr>
          </a:p>
          <a:p>
            <a:pPr indent="-292100" lvl="0" marL="457200" rtl="0" algn="just">
              <a:spcBef>
                <a:spcPts val="0"/>
              </a:spcBef>
              <a:spcAft>
                <a:spcPts val="0"/>
              </a:spcAft>
              <a:buClr>
                <a:srgbClr val="000000"/>
              </a:buClr>
              <a:buSzPts val="1000"/>
              <a:buFont typeface="Nunito"/>
              <a:buChar char="●"/>
            </a:pPr>
            <a:r>
              <a:rPr lang="es" sz="1000">
                <a:solidFill>
                  <a:srgbClr val="000000"/>
                </a:solidFill>
              </a:rPr>
              <a:t>Países con inflaciones altas no necesariamente tienen mercados laborales más volátiles.</a:t>
            </a:r>
            <a:endParaRPr sz="1000">
              <a:solidFill>
                <a:srgbClr val="0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4"/>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478" name="Google Shape;478;p44"/>
          <p:cNvSpPr txBox="1"/>
          <p:nvPr>
            <p:ph idx="4294967295" type="body"/>
          </p:nvPr>
        </p:nvSpPr>
        <p:spPr>
          <a:xfrm>
            <a:off x="632550" y="943675"/>
            <a:ext cx="7710900" cy="4043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u="sng">
                <a:solidFill>
                  <a:srgbClr val="000000"/>
                </a:solidFill>
              </a:rPr>
              <a:t>Homogeneidad de varianzas: Test de Levene</a:t>
            </a:r>
            <a:endParaRPr b="1" sz="1000" u="sng">
              <a:solidFill>
                <a:srgbClr val="000000"/>
              </a:solidFill>
            </a:endParaRPr>
          </a:p>
          <a:p>
            <a:pPr indent="0" lvl="0" marL="0" rtl="0" algn="just">
              <a:spcBef>
                <a:spcPts val="1200"/>
              </a:spcBef>
              <a:spcAft>
                <a:spcPts val="0"/>
              </a:spcAft>
              <a:buNone/>
            </a:pPr>
            <a:r>
              <a:rPr b="1" lang="es" sz="1000">
                <a:solidFill>
                  <a:srgbClr val="000000"/>
                </a:solidFill>
              </a:rPr>
              <a:t>Gasto público</a:t>
            </a:r>
            <a:r>
              <a:rPr lang="es" sz="1000">
                <a:solidFill>
                  <a:srgbClr val="000000"/>
                </a:solidFill>
              </a:rPr>
              <a:t>: El test arroja los siguientes resultados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F = </a:t>
            </a:r>
            <a:r>
              <a:rPr lang="es" sz="1000">
                <a:solidFill>
                  <a:srgbClr val="000000"/>
                </a:solidFill>
              </a:rPr>
              <a:t>6.1474</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p-value = </a:t>
            </a:r>
            <a:r>
              <a:rPr lang="es" sz="1000">
                <a:solidFill>
                  <a:srgbClr val="000000"/>
                </a:solidFill>
              </a:rPr>
              <a:t>0.01347</a:t>
            </a:r>
            <a:endParaRPr sz="1000">
              <a:solidFill>
                <a:srgbClr val="000000"/>
              </a:solidFill>
            </a:endParaRPr>
          </a:p>
          <a:p>
            <a:pPr indent="0" lvl="0" marL="0" rtl="0" algn="just">
              <a:spcBef>
                <a:spcPts val="1200"/>
              </a:spcBef>
              <a:spcAft>
                <a:spcPts val="0"/>
              </a:spcAft>
              <a:buNone/>
            </a:pPr>
            <a:r>
              <a:rPr lang="es" sz="1000">
                <a:solidFill>
                  <a:srgbClr val="000000"/>
                </a:solidFill>
              </a:rPr>
              <a:t>El p-value es menor a 0.05. Se rechaza la hipótesis nula: las varianzas del gasto público no son homogéneas.</a:t>
            </a:r>
            <a:endParaRPr sz="1000">
              <a:solidFill>
                <a:srgbClr val="000000"/>
              </a:solidFill>
            </a:endParaRPr>
          </a:p>
          <a:p>
            <a:pPr indent="0" lvl="0" marL="0" rtl="0" algn="just">
              <a:spcBef>
                <a:spcPts val="1200"/>
              </a:spcBef>
              <a:spcAft>
                <a:spcPts val="0"/>
              </a:spcAft>
              <a:buNone/>
            </a:pPr>
            <a:r>
              <a:rPr lang="es" sz="1000">
                <a:solidFill>
                  <a:srgbClr val="000000"/>
                </a:solidFill>
              </a:rPr>
              <a:t>Existe evidencia de que la dispersión del gasto público es significativamente distinta entre países con inflación alta y baja. Esto tiene una lectura económica muy relevante:</a:t>
            </a:r>
            <a:endParaRPr sz="1000">
              <a:solidFill>
                <a:srgbClr val="000000"/>
              </a:solidFill>
            </a:endParaRPr>
          </a:p>
          <a:p>
            <a:pPr indent="0" lvl="0" marL="0" rtl="0" algn="just">
              <a:spcBef>
                <a:spcPts val="1200"/>
              </a:spcBef>
              <a:spcAft>
                <a:spcPts val="0"/>
              </a:spcAft>
              <a:buNone/>
            </a:pPr>
            <a:r>
              <a:rPr lang="es" sz="1000">
                <a:solidFill>
                  <a:srgbClr val="000000"/>
                </a:solidFill>
              </a:rPr>
              <a:t>En países de alta inflación, el gasto público suele ser más volátil por razones como:</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presupuesto erosionado por shocks inflacionarios, ajustes fiscales más frecuentes, políticas contracíclicas improvisadas en contextos inestables, mayor dependencia de financiamiento monetario o deuda a corto plazo.</a:t>
            </a:r>
            <a:endParaRPr sz="1000">
              <a:solidFill>
                <a:srgbClr val="000000"/>
              </a:solidFill>
            </a:endParaRPr>
          </a:p>
          <a:p>
            <a:pPr indent="0" lvl="0" marL="0" rtl="0" algn="just">
              <a:spcBef>
                <a:spcPts val="1200"/>
              </a:spcBef>
              <a:spcAft>
                <a:spcPts val="0"/>
              </a:spcAft>
              <a:buNone/>
            </a:pPr>
            <a:r>
              <a:rPr lang="es" sz="1000">
                <a:solidFill>
                  <a:srgbClr val="000000"/>
                </a:solidFill>
              </a:rPr>
              <a:t>En países de baja inflación, el gasto público es típicamente más estable, asociado a:</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reglas fiscales más sólidas, sistemas tributarios predecibles, menor presión por indexación del gasto.</a:t>
            </a:r>
            <a:endParaRPr sz="1000">
              <a:solidFill>
                <a:srgbClr val="000000"/>
              </a:solidFill>
            </a:endParaRPr>
          </a:p>
          <a:p>
            <a:pPr indent="0" lvl="0" marL="0" rtl="0" algn="just">
              <a:spcBef>
                <a:spcPts val="1200"/>
              </a:spcBef>
              <a:spcAft>
                <a:spcPts val="1200"/>
              </a:spcAft>
              <a:buNone/>
            </a:pPr>
            <a:r>
              <a:rPr lang="es" sz="1000">
                <a:solidFill>
                  <a:srgbClr val="000000"/>
                </a:solidFill>
              </a:rPr>
              <a:t>Por lo tanto, la heterocedasticidad detectada es económicamente coherente: La inflación alta genera mayor volatilidad presupuestaria.</a:t>
            </a:r>
            <a:endParaRPr sz="1000">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5"/>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484" name="Google Shape;484;p45"/>
          <p:cNvSpPr txBox="1"/>
          <p:nvPr>
            <p:ph idx="4294967295" type="body"/>
          </p:nvPr>
        </p:nvSpPr>
        <p:spPr>
          <a:xfrm>
            <a:off x="632550" y="943675"/>
            <a:ext cx="7710900" cy="4043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u="sng">
                <a:solidFill>
                  <a:srgbClr val="000000"/>
                </a:solidFill>
              </a:rPr>
              <a:t>Test de Wilcoxon–Mann–Whitney (comparación entre grupos)</a:t>
            </a:r>
            <a:endParaRPr b="1" sz="1000" u="sng">
              <a:solidFill>
                <a:srgbClr val="000000"/>
              </a:solidFill>
            </a:endParaRPr>
          </a:p>
          <a:p>
            <a:pPr indent="0" lvl="0" marL="0" rtl="0" algn="just">
              <a:spcBef>
                <a:spcPts val="1200"/>
              </a:spcBef>
              <a:spcAft>
                <a:spcPts val="0"/>
              </a:spcAft>
              <a:buNone/>
            </a:pPr>
            <a:r>
              <a:rPr b="1" lang="es" sz="1000">
                <a:solidFill>
                  <a:srgbClr val="000000"/>
                </a:solidFill>
              </a:rPr>
              <a:t>Crecimiento del PIB:</a:t>
            </a:r>
            <a:r>
              <a:rPr lang="es" sz="1000">
                <a:solidFill>
                  <a:srgbClr val="000000"/>
                </a:solidFill>
              </a:rPr>
              <a:t> El test arroja los siguientes resultados: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W = 76,520</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p-value = 0.0681</a:t>
            </a:r>
            <a:endParaRPr sz="1000">
              <a:solidFill>
                <a:srgbClr val="000000"/>
              </a:solidFill>
            </a:endParaRPr>
          </a:p>
          <a:p>
            <a:pPr indent="0" lvl="0" marL="0" rtl="0" algn="just">
              <a:spcBef>
                <a:spcPts val="1200"/>
              </a:spcBef>
              <a:spcAft>
                <a:spcPts val="0"/>
              </a:spcAft>
              <a:buNone/>
            </a:pPr>
            <a:r>
              <a:rPr lang="es" sz="1000">
                <a:solidFill>
                  <a:srgbClr val="000000"/>
                </a:solidFill>
              </a:rPr>
              <a:t>El p-value es superior a 0.05 por lo que </a:t>
            </a:r>
            <a:r>
              <a:rPr lang="es" sz="1000">
                <a:solidFill>
                  <a:srgbClr val="000000"/>
                </a:solidFill>
              </a:rPr>
              <a:t>se reporta que no se encuentran diferencias estadísticamente significativas en la mediana del crecimiento del PIB entre países de inflación alta y baja.</a:t>
            </a:r>
            <a:endParaRPr sz="1000">
              <a:solidFill>
                <a:srgbClr val="000000"/>
              </a:solidFill>
            </a:endParaRPr>
          </a:p>
          <a:p>
            <a:pPr indent="0" lvl="0" marL="0" rtl="0" algn="l">
              <a:spcBef>
                <a:spcPts val="1200"/>
              </a:spcBef>
              <a:spcAft>
                <a:spcPts val="0"/>
              </a:spcAft>
              <a:buNone/>
            </a:pPr>
            <a:r>
              <a:rPr lang="es" sz="1000">
                <a:solidFill>
                  <a:srgbClr val="000000"/>
                </a:solidFill>
              </a:rPr>
              <a:t>El resultado respalda la idea de que el crecimiento económico no presenta un patrón sistemático distinto entre economías con distintos niveles de inflación. Las variaciones en crecimiento parecen depender más de factores estructurales como:</a:t>
            </a:r>
            <a:endParaRPr sz="1000">
              <a:solidFill>
                <a:srgbClr val="000000"/>
              </a:solidFill>
            </a:endParaRPr>
          </a:p>
          <a:p>
            <a:pPr indent="-292100" lvl="1" marL="914400" rtl="0" algn="l">
              <a:spcBef>
                <a:spcPts val="1200"/>
              </a:spcBef>
              <a:spcAft>
                <a:spcPts val="0"/>
              </a:spcAft>
              <a:buClr>
                <a:srgbClr val="000000"/>
              </a:buClr>
              <a:buSzPts val="1000"/>
              <a:buFont typeface="Nunito"/>
              <a:buChar char="○"/>
            </a:pPr>
            <a:r>
              <a:rPr lang="es" sz="1000">
                <a:solidFill>
                  <a:srgbClr val="000000"/>
                </a:solidFill>
              </a:rPr>
              <a:t>composición sectorial (manufacturas vs. recursos naturales),</a:t>
            </a:r>
            <a:endParaRPr sz="1000">
              <a:solidFill>
                <a:srgbClr val="000000"/>
              </a:solidFill>
            </a:endParaRPr>
          </a:p>
          <a:p>
            <a:pPr indent="-292100" lvl="1" marL="914400" rtl="0" algn="l">
              <a:spcBef>
                <a:spcPts val="0"/>
              </a:spcBef>
              <a:spcAft>
                <a:spcPts val="0"/>
              </a:spcAft>
              <a:buClr>
                <a:srgbClr val="000000"/>
              </a:buClr>
              <a:buSzPts val="1000"/>
              <a:buFont typeface="Nunito"/>
              <a:buChar char="○"/>
            </a:pPr>
            <a:r>
              <a:rPr lang="es" sz="1000">
                <a:solidFill>
                  <a:srgbClr val="000000"/>
                </a:solidFill>
              </a:rPr>
              <a:t>volatilidad externa,</a:t>
            </a:r>
            <a:endParaRPr sz="1000">
              <a:solidFill>
                <a:srgbClr val="000000"/>
              </a:solidFill>
            </a:endParaRPr>
          </a:p>
          <a:p>
            <a:pPr indent="-292100" lvl="1" marL="914400" rtl="0" algn="l">
              <a:spcBef>
                <a:spcPts val="0"/>
              </a:spcBef>
              <a:spcAft>
                <a:spcPts val="0"/>
              </a:spcAft>
              <a:buClr>
                <a:srgbClr val="000000"/>
              </a:buClr>
              <a:buSzPts val="1000"/>
              <a:buFont typeface="Nunito"/>
              <a:buChar char="○"/>
            </a:pPr>
            <a:r>
              <a:rPr lang="es" sz="1000">
                <a:solidFill>
                  <a:srgbClr val="000000"/>
                </a:solidFill>
              </a:rPr>
              <a:t>calidad institucional,</a:t>
            </a:r>
            <a:endParaRPr sz="1000">
              <a:solidFill>
                <a:srgbClr val="000000"/>
              </a:solidFill>
            </a:endParaRPr>
          </a:p>
          <a:p>
            <a:pPr indent="-292100" lvl="1" marL="914400" rtl="0" algn="l">
              <a:spcBef>
                <a:spcPts val="0"/>
              </a:spcBef>
              <a:spcAft>
                <a:spcPts val="0"/>
              </a:spcAft>
              <a:buClr>
                <a:srgbClr val="000000"/>
              </a:buClr>
              <a:buSzPts val="1000"/>
              <a:buFont typeface="Nunito"/>
              <a:buChar char="○"/>
            </a:pPr>
            <a:r>
              <a:rPr lang="es" sz="1000">
                <a:solidFill>
                  <a:srgbClr val="000000"/>
                </a:solidFill>
              </a:rPr>
              <a:t>nivel de desarrollo financiero,</a:t>
            </a:r>
            <a:endParaRPr sz="1000">
              <a:solidFill>
                <a:srgbClr val="000000"/>
              </a:solidFill>
            </a:endParaRPr>
          </a:p>
          <a:p>
            <a:pPr indent="-292100" lvl="1" marL="914400" rtl="0" algn="l">
              <a:spcBef>
                <a:spcPts val="0"/>
              </a:spcBef>
              <a:spcAft>
                <a:spcPts val="0"/>
              </a:spcAft>
              <a:buClr>
                <a:srgbClr val="000000"/>
              </a:buClr>
              <a:buSzPts val="1000"/>
              <a:buFont typeface="Nunito"/>
              <a:buChar char="○"/>
            </a:pPr>
            <a:r>
              <a:rPr lang="es" sz="1000">
                <a:solidFill>
                  <a:srgbClr val="000000"/>
                </a:solidFill>
              </a:rPr>
              <a:t>shocks globales.</a:t>
            </a:r>
            <a:endParaRPr sz="1000">
              <a:solidFill>
                <a:srgbClr val="000000"/>
              </a:solidFill>
            </a:endParaRPr>
          </a:p>
          <a:p>
            <a:pPr indent="0" lvl="0" marL="0" rtl="0" algn="l">
              <a:spcBef>
                <a:spcPts val="1200"/>
              </a:spcBef>
              <a:spcAft>
                <a:spcPts val="0"/>
              </a:spcAft>
              <a:buNone/>
            </a:pPr>
            <a:r>
              <a:rPr lang="es" sz="1000">
                <a:solidFill>
                  <a:srgbClr val="000000"/>
                </a:solidFill>
              </a:rPr>
              <a:t>La inflación, en este caso, no emerge como un determinante directo del crecimiento mediano del PIB para la muestra seleccionada (años 2000, 2010 y 2023). En términos de política económica, este hallazgo sugiere que el vínculo entre inflación y crecimiento es más complejo que una relación lineal simple.</a:t>
            </a:r>
            <a:endParaRPr sz="900">
              <a:solidFill>
                <a:srgbClr val="000000"/>
              </a:solidFill>
            </a:endParaRPr>
          </a:p>
          <a:p>
            <a:pPr indent="0" lvl="0" marL="0" rtl="0" algn="just">
              <a:spcBef>
                <a:spcPts val="1200"/>
              </a:spcBef>
              <a:spcAft>
                <a:spcPts val="1200"/>
              </a:spcAft>
              <a:buNone/>
            </a:pPr>
            <a:r>
              <a:t/>
            </a:r>
            <a:endParaRPr sz="1000">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6"/>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490" name="Google Shape;490;p46"/>
          <p:cNvSpPr txBox="1"/>
          <p:nvPr>
            <p:ph idx="4294967295" type="body"/>
          </p:nvPr>
        </p:nvSpPr>
        <p:spPr>
          <a:xfrm>
            <a:off x="632550" y="943675"/>
            <a:ext cx="7710900" cy="4043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u="sng">
                <a:solidFill>
                  <a:srgbClr val="000000"/>
                </a:solidFill>
              </a:rPr>
              <a:t>Test de Wilcoxon–Mann–Whitney (comparación entre grupos)</a:t>
            </a:r>
            <a:endParaRPr b="1" sz="1000" u="sng">
              <a:solidFill>
                <a:srgbClr val="000000"/>
              </a:solidFill>
            </a:endParaRPr>
          </a:p>
          <a:p>
            <a:pPr indent="0" lvl="0" marL="0" rtl="0" algn="just">
              <a:spcBef>
                <a:spcPts val="1200"/>
              </a:spcBef>
              <a:spcAft>
                <a:spcPts val="0"/>
              </a:spcAft>
              <a:buNone/>
            </a:pPr>
            <a:r>
              <a:rPr b="1" lang="es" sz="1000">
                <a:solidFill>
                  <a:srgbClr val="000000"/>
                </a:solidFill>
              </a:rPr>
              <a:t>Desempleo</a:t>
            </a:r>
            <a:r>
              <a:rPr b="1" lang="es" sz="1000">
                <a:solidFill>
                  <a:srgbClr val="000000"/>
                </a:solidFill>
              </a:rPr>
              <a:t>:</a:t>
            </a:r>
            <a:r>
              <a:rPr lang="es" sz="1000">
                <a:solidFill>
                  <a:srgbClr val="000000"/>
                </a:solidFill>
              </a:rPr>
              <a:t> El test arroja los siguientes resultados: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W = </a:t>
            </a:r>
            <a:r>
              <a:rPr lang="es" sz="1000">
                <a:solidFill>
                  <a:srgbClr val="000000"/>
                </a:solidFill>
              </a:rPr>
              <a:t>60,946</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p-value = </a:t>
            </a:r>
            <a:r>
              <a:rPr lang="es" sz="1000">
                <a:solidFill>
                  <a:srgbClr val="000000"/>
                </a:solidFill>
              </a:rPr>
              <a:t>0.3121</a:t>
            </a:r>
            <a:endParaRPr sz="1000">
              <a:solidFill>
                <a:srgbClr val="000000"/>
              </a:solidFill>
            </a:endParaRPr>
          </a:p>
          <a:p>
            <a:pPr indent="0" lvl="0" marL="0" rtl="0" algn="just">
              <a:spcBef>
                <a:spcPts val="1200"/>
              </a:spcBef>
              <a:spcAft>
                <a:spcPts val="0"/>
              </a:spcAft>
              <a:buNone/>
            </a:pPr>
            <a:r>
              <a:rPr lang="es" sz="1000">
                <a:solidFill>
                  <a:srgbClr val="000000"/>
                </a:solidFill>
              </a:rPr>
              <a:t>El p-value es muy superior a 0.05 por lo que se reporta que no se encuentran diferencias estadísticamente significativas en la mediana del desempleo</a:t>
            </a:r>
            <a:r>
              <a:rPr lang="es" sz="1000">
                <a:solidFill>
                  <a:srgbClr val="000000"/>
                </a:solidFill>
              </a:rPr>
              <a:t> </a:t>
            </a:r>
            <a:r>
              <a:rPr lang="es" sz="1000">
                <a:solidFill>
                  <a:srgbClr val="000000"/>
                </a:solidFill>
              </a:rPr>
              <a:t>entre países de inflación alta y baja.</a:t>
            </a:r>
            <a:endParaRPr sz="1000">
              <a:solidFill>
                <a:srgbClr val="000000"/>
              </a:solidFill>
            </a:endParaRPr>
          </a:p>
          <a:p>
            <a:pPr indent="0" lvl="0" marL="0" rtl="0" algn="l">
              <a:spcBef>
                <a:spcPts val="1200"/>
              </a:spcBef>
              <a:spcAft>
                <a:spcPts val="0"/>
              </a:spcAft>
              <a:buNone/>
            </a:pPr>
            <a:r>
              <a:rPr lang="es" sz="1000">
                <a:solidFill>
                  <a:srgbClr val="000000"/>
                </a:solidFill>
              </a:rPr>
              <a:t>En economías con inflación alta, uno podría esperar más desempleo por efectos de inestabilidad macroeconómica, destrucción de salario real o incertidumbre inversora. Sin embargo, los datos no muestran que esto conduzca a una mediana de desempleo significativamente mayor.</a:t>
            </a:r>
            <a:endParaRPr sz="1000">
              <a:solidFill>
                <a:srgbClr val="000000"/>
              </a:solidFill>
            </a:endParaRPr>
          </a:p>
          <a:p>
            <a:pPr indent="0" lvl="0" marL="0" rtl="0" algn="l">
              <a:spcBef>
                <a:spcPts val="1200"/>
              </a:spcBef>
              <a:spcAft>
                <a:spcPts val="0"/>
              </a:spcAft>
              <a:buNone/>
            </a:pPr>
            <a:r>
              <a:rPr lang="es" sz="1000">
                <a:solidFill>
                  <a:srgbClr val="000000"/>
                </a:solidFill>
              </a:rPr>
              <a:t>Esto es coherente con literatura que muestra que inflación y desempleo no siempre se relacionan de forma clara en paneles de países, especialmente cuando las estructuras laborales difieren ampliamente (la “curva de Phillips de corto plazo”).</a:t>
            </a:r>
            <a:endParaRPr sz="1000">
              <a:solidFill>
                <a:srgbClr val="000000"/>
              </a:solidFill>
            </a:endParaRPr>
          </a:p>
          <a:p>
            <a:pPr indent="0" lvl="0" marL="0" rtl="0" algn="just">
              <a:spcBef>
                <a:spcPts val="1200"/>
              </a:spcBef>
              <a:spcAft>
                <a:spcPts val="1200"/>
              </a:spcAft>
              <a:buNone/>
            </a:pPr>
            <a:r>
              <a:t/>
            </a:r>
            <a:endParaRPr sz="1000">
              <a:solidFill>
                <a:srgbClr val="0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7"/>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496" name="Google Shape;496;p47"/>
          <p:cNvSpPr txBox="1"/>
          <p:nvPr>
            <p:ph idx="4294967295" type="body"/>
          </p:nvPr>
        </p:nvSpPr>
        <p:spPr>
          <a:xfrm>
            <a:off x="632550" y="943675"/>
            <a:ext cx="7710900" cy="4043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u="sng">
                <a:solidFill>
                  <a:srgbClr val="000000"/>
                </a:solidFill>
              </a:rPr>
              <a:t>Test de Wilcoxon–Mann–Whitney (comparación entre grupos)</a:t>
            </a:r>
            <a:endParaRPr b="1" sz="1000" u="sng">
              <a:solidFill>
                <a:srgbClr val="000000"/>
              </a:solidFill>
            </a:endParaRPr>
          </a:p>
          <a:p>
            <a:pPr indent="0" lvl="0" marL="0" rtl="0" algn="just">
              <a:spcBef>
                <a:spcPts val="1200"/>
              </a:spcBef>
              <a:spcAft>
                <a:spcPts val="0"/>
              </a:spcAft>
              <a:buNone/>
            </a:pPr>
            <a:r>
              <a:rPr b="1" lang="es" sz="1000">
                <a:solidFill>
                  <a:srgbClr val="000000"/>
                </a:solidFill>
              </a:rPr>
              <a:t>Gasto público</a:t>
            </a:r>
            <a:r>
              <a:rPr b="1" lang="es" sz="1000">
                <a:solidFill>
                  <a:srgbClr val="000000"/>
                </a:solidFill>
              </a:rPr>
              <a:t>:</a:t>
            </a:r>
            <a:r>
              <a:rPr lang="es" sz="1000">
                <a:solidFill>
                  <a:srgbClr val="000000"/>
                </a:solidFill>
              </a:rPr>
              <a:t> El test arroja los siguientes resultados: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W = </a:t>
            </a:r>
            <a:r>
              <a:rPr lang="es" sz="1000">
                <a:solidFill>
                  <a:srgbClr val="000000"/>
                </a:solidFill>
              </a:rPr>
              <a:t>35,762</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p-value = </a:t>
            </a:r>
            <a:r>
              <a:rPr lang="es" sz="1000">
                <a:solidFill>
                  <a:srgbClr val="000000"/>
                </a:solidFill>
              </a:rPr>
              <a:t>0.8267</a:t>
            </a:r>
            <a:endParaRPr sz="1000">
              <a:solidFill>
                <a:srgbClr val="000000"/>
              </a:solidFill>
            </a:endParaRPr>
          </a:p>
          <a:p>
            <a:pPr indent="0" lvl="0" marL="0" rtl="0" algn="just">
              <a:spcBef>
                <a:spcPts val="1200"/>
              </a:spcBef>
              <a:spcAft>
                <a:spcPts val="0"/>
              </a:spcAft>
              <a:buNone/>
            </a:pPr>
            <a:r>
              <a:rPr lang="es" sz="1000">
                <a:solidFill>
                  <a:srgbClr val="000000"/>
                </a:solidFill>
              </a:rPr>
              <a:t>El p-value es muy superior a 0.05 por lo que se reporta que n</a:t>
            </a:r>
            <a:r>
              <a:rPr lang="es" sz="1000">
                <a:solidFill>
                  <a:srgbClr val="000000"/>
                </a:solidFill>
              </a:rPr>
              <a:t>o hay ninguna evidencia estadística de diferencias en las medianas del gasto público entre países de alta y baja inflación.</a:t>
            </a:r>
            <a:endParaRPr sz="1000">
              <a:solidFill>
                <a:srgbClr val="000000"/>
              </a:solidFill>
            </a:endParaRPr>
          </a:p>
          <a:p>
            <a:pPr indent="0" lvl="0" marL="0" rtl="0" algn="just">
              <a:spcBef>
                <a:spcPts val="1200"/>
              </a:spcBef>
              <a:spcAft>
                <a:spcPts val="0"/>
              </a:spcAft>
              <a:buNone/>
            </a:pPr>
            <a:r>
              <a:rPr lang="es" sz="1100">
                <a:solidFill>
                  <a:srgbClr val="000000"/>
                </a:solidFill>
              </a:rPr>
              <a:t>Aunque previamente se detectó (con el test de Levene) que el gasto público presenta mayor varianza en países con alta inflación, esto no implica que su nivel central (mediana) sea distinto. Esto confirma:</a:t>
            </a:r>
            <a:endParaRPr sz="1100">
              <a:solidFill>
                <a:srgbClr val="000000"/>
              </a:solidFill>
            </a:endParaRPr>
          </a:p>
          <a:p>
            <a:pPr indent="-298450" lvl="0" marL="457200" rtl="0" algn="just">
              <a:spcBef>
                <a:spcPts val="1200"/>
              </a:spcBef>
              <a:spcAft>
                <a:spcPts val="0"/>
              </a:spcAft>
              <a:buClr>
                <a:srgbClr val="000000"/>
              </a:buClr>
              <a:buSzPts val="1100"/>
              <a:buFont typeface="Arial"/>
              <a:buChar char="●"/>
            </a:pPr>
            <a:r>
              <a:rPr lang="es" sz="1100">
                <a:solidFill>
                  <a:srgbClr val="000000"/>
                </a:solidFill>
              </a:rPr>
              <a:t>Los países de alta inflación presentan mayor inestabilidad presupuestaria, pero no necesariamente un nivel de gasto público mayor o menor.</a:t>
            </a:r>
            <a:endParaRPr sz="1100">
              <a:solidFill>
                <a:srgbClr val="000000"/>
              </a:solidFill>
            </a:endParaRPr>
          </a:p>
          <a:p>
            <a:pPr indent="-298450" lvl="0" marL="457200" rtl="0" algn="just">
              <a:spcBef>
                <a:spcPts val="0"/>
              </a:spcBef>
              <a:spcAft>
                <a:spcPts val="0"/>
              </a:spcAft>
              <a:buClr>
                <a:srgbClr val="000000"/>
              </a:buClr>
              <a:buSzPts val="1100"/>
              <a:buFont typeface="Arial"/>
              <a:buChar char="●"/>
            </a:pPr>
            <a:r>
              <a:rPr lang="es" sz="1100">
                <a:solidFill>
                  <a:srgbClr val="000000"/>
                </a:solidFill>
              </a:rPr>
              <a:t>Esto coincide con evidencia que sugiere que la inflación afecta la variabilidad del gasto (por indexación, shocks, ajustes improvisados), pero no su nivel estructural.</a:t>
            </a:r>
            <a:endParaRPr sz="1100">
              <a:solidFill>
                <a:srgbClr val="000000"/>
              </a:solidFill>
            </a:endParaRPr>
          </a:p>
          <a:p>
            <a:pPr indent="0" lvl="0" marL="0" rtl="0" algn="l">
              <a:spcBef>
                <a:spcPts val="1200"/>
              </a:spcBef>
              <a:spcAft>
                <a:spcPts val="1200"/>
              </a:spcAft>
              <a:buNone/>
            </a:pPr>
            <a:r>
              <a:rPr lang="es" sz="1000">
                <a:solidFill>
                  <a:srgbClr val="000000"/>
                </a:solidFill>
              </a:rPr>
              <a:t>Por lo tanto, la inflación no determina si un país gasta más o menos</a:t>
            </a:r>
            <a:r>
              <a:rPr lang="es" sz="1000">
                <a:solidFill>
                  <a:srgbClr val="000000"/>
                </a:solidFill>
              </a:rPr>
              <a:t>, sino qué tan volátil es ese gasto.</a:t>
            </a:r>
            <a:endParaRPr sz="1100">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8"/>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502" name="Google Shape;502;p48"/>
          <p:cNvSpPr txBox="1"/>
          <p:nvPr>
            <p:ph idx="4294967295" type="body"/>
          </p:nvPr>
        </p:nvSpPr>
        <p:spPr>
          <a:xfrm>
            <a:off x="632550" y="981450"/>
            <a:ext cx="7710900" cy="4043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u="sng">
                <a:solidFill>
                  <a:srgbClr val="000000"/>
                </a:solidFill>
              </a:rPr>
              <a:t>ANOVA de Welch</a:t>
            </a:r>
            <a:endParaRPr b="1" sz="1000" u="sng">
              <a:solidFill>
                <a:srgbClr val="000000"/>
              </a:solidFill>
            </a:endParaRPr>
          </a:p>
          <a:p>
            <a:pPr indent="0" lvl="0" marL="0" rtl="0" algn="just">
              <a:spcBef>
                <a:spcPts val="1200"/>
              </a:spcBef>
              <a:spcAft>
                <a:spcPts val="0"/>
              </a:spcAft>
              <a:buNone/>
            </a:pPr>
            <a:r>
              <a:rPr lang="es" sz="1000">
                <a:solidFill>
                  <a:srgbClr val="000000"/>
                </a:solidFill>
              </a:rPr>
              <a:t>El ANOVA de Welch es una extensión del ANOVA tradicional que permite comparar si las medias de dos o más grupos son estadísticamente diferentes cuando no se cumple el supuesto de igualdad de varianzas. A diferencia del ANOVA clásico (que asume homocedasticidad), el método de Welch corrige los grados de libertad de manera que el test se vuelva robusto frente a heterogeneidad.</a:t>
            </a:r>
            <a:endParaRPr sz="1000">
              <a:solidFill>
                <a:srgbClr val="000000"/>
              </a:solidFill>
            </a:endParaRPr>
          </a:p>
          <a:p>
            <a:pPr indent="0" lvl="0" marL="0" rtl="0" algn="just">
              <a:spcBef>
                <a:spcPts val="1200"/>
              </a:spcBef>
              <a:spcAft>
                <a:spcPts val="0"/>
              </a:spcAft>
              <a:buNone/>
            </a:pPr>
            <a:r>
              <a:rPr lang="es" sz="1000">
                <a:solidFill>
                  <a:srgbClr val="000000"/>
                </a:solidFill>
              </a:rPr>
              <a:t>En términos económicos, este marco permite contrastar si los países con inflación alta presentan niveles significativamente distintos de actividad económica, desempleo o gasto que los países con inflación baja, controlando por distorsiones estadísticas propias de las series macroeconómicas.</a:t>
            </a:r>
            <a:endParaRPr sz="1000">
              <a:solidFill>
                <a:srgbClr val="000000"/>
              </a:solidFill>
            </a:endParaRPr>
          </a:p>
          <a:p>
            <a:pPr indent="0" lvl="0" marL="0" rtl="0" algn="just">
              <a:spcBef>
                <a:spcPts val="1200"/>
              </a:spcBef>
              <a:spcAft>
                <a:spcPts val="1200"/>
              </a:spcAft>
              <a:buNone/>
            </a:pPr>
            <a:r>
              <a:t/>
            </a:r>
            <a:endParaRPr sz="1000">
              <a:solidFill>
                <a:srgbClr val="0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9"/>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508" name="Google Shape;508;p49"/>
          <p:cNvSpPr txBox="1"/>
          <p:nvPr>
            <p:ph idx="4294967295" type="body"/>
          </p:nvPr>
        </p:nvSpPr>
        <p:spPr>
          <a:xfrm>
            <a:off x="632550" y="943675"/>
            <a:ext cx="7710900" cy="4043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a:solidFill>
                  <a:srgbClr val="000000"/>
                </a:solidFill>
              </a:rPr>
              <a:t>Crecimiento del PIB: </a:t>
            </a:r>
            <a:r>
              <a:rPr lang="es" sz="1000">
                <a:solidFill>
                  <a:srgbClr val="000000"/>
                </a:solidFill>
              </a:rPr>
              <a:t>El test arroja los siguientes resultados: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F = 0.4195</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p-value = 0.5174</a:t>
            </a:r>
            <a:endParaRPr sz="1000">
              <a:solidFill>
                <a:srgbClr val="000000"/>
              </a:solidFill>
            </a:endParaRPr>
          </a:p>
          <a:p>
            <a:pPr indent="0" lvl="0" marL="0" rtl="0" algn="just">
              <a:spcBef>
                <a:spcPts val="1200"/>
              </a:spcBef>
              <a:spcAft>
                <a:spcPts val="1200"/>
              </a:spcAft>
              <a:buNone/>
            </a:pPr>
            <a:r>
              <a:rPr lang="es" sz="1000">
                <a:solidFill>
                  <a:srgbClr val="000000"/>
                </a:solidFill>
              </a:rPr>
              <a:t>El valor p es muy superior a 0.05. No se rechaza la hipótesis nula, es decir, no existe evidencia de que el crecimiento del PIB </a:t>
            </a:r>
            <a:r>
              <a:rPr lang="es" sz="1000">
                <a:solidFill>
                  <a:srgbClr val="000000"/>
                </a:solidFill>
              </a:rPr>
              <a:t>difiere</a:t>
            </a:r>
            <a:r>
              <a:rPr lang="es" sz="1000">
                <a:solidFill>
                  <a:srgbClr val="000000"/>
                </a:solidFill>
              </a:rPr>
              <a:t> entre países con inflación alta y baja. La evidencia sugiere que no existe una relación directa y sistemática entre nivel de inflación y crecimiento económico al considerar los años 2000, 2010 y 2023. </a:t>
            </a:r>
            <a:endParaRPr sz="1100">
              <a:solidFill>
                <a:srgbClr val="000000"/>
              </a:solidFill>
              <a:latin typeface="Arial"/>
              <a:ea typeface="Arial"/>
              <a:cs typeface="Arial"/>
              <a:sym typeface="Arial"/>
            </a:endParaRPr>
          </a:p>
        </p:txBody>
      </p:sp>
      <p:sp>
        <p:nvSpPr>
          <p:cNvPr id="509" name="Google Shape;509;p49"/>
          <p:cNvSpPr txBox="1"/>
          <p:nvPr/>
        </p:nvSpPr>
        <p:spPr>
          <a:xfrm>
            <a:off x="632550" y="2372550"/>
            <a:ext cx="2963100" cy="24792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s" sz="1000">
                <a:latin typeface="Nunito"/>
                <a:ea typeface="Nunito"/>
                <a:cs typeface="Nunito"/>
                <a:sym typeface="Nunito"/>
              </a:rPr>
              <a:t>Esto coincide con la literatura que indica que:</a:t>
            </a:r>
            <a:endParaRPr sz="1000">
              <a:latin typeface="Nunito"/>
              <a:ea typeface="Nunito"/>
              <a:cs typeface="Nunito"/>
              <a:sym typeface="Nunito"/>
            </a:endParaRPr>
          </a:p>
          <a:p>
            <a:pPr indent="-292100" lvl="0" marL="457200" rtl="0" algn="just">
              <a:lnSpc>
                <a:spcPct val="115000"/>
              </a:lnSpc>
              <a:spcBef>
                <a:spcPts val="1200"/>
              </a:spcBef>
              <a:spcAft>
                <a:spcPts val="0"/>
              </a:spcAft>
              <a:buClr>
                <a:srgbClr val="000000"/>
              </a:buClr>
              <a:buSzPts val="1000"/>
              <a:buFont typeface="Arial"/>
              <a:buChar char="●"/>
            </a:pPr>
            <a:r>
              <a:rPr lang="es" sz="1000">
                <a:latin typeface="Nunito"/>
                <a:ea typeface="Nunito"/>
                <a:cs typeface="Nunito"/>
                <a:sym typeface="Nunito"/>
              </a:rPr>
              <a:t>En niveles moderados, la inflación no necesariamente deteriora el crecimiento.</a:t>
            </a:r>
            <a:endParaRPr sz="1000">
              <a:latin typeface="Nunito"/>
              <a:ea typeface="Nunito"/>
              <a:cs typeface="Nunito"/>
              <a:sym typeface="Nunito"/>
            </a:endParaRPr>
          </a:p>
          <a:p>
            <a:pPr indent="-292100" lvl="0" marL="457200" rtl="0" algn="just">
              <a:lnSpc>
                <a:spcPct val="115000"/>
              </a:lnSpc>
              <a:spcBef>
                <a:spcPts val="0"/>
              </a:spcBef>
              <a:spcAft>
                <a:spcPts val="0"/>
              </a:spcAft>
              <a:buClr>
                <a:srgbClr val="000000"/>
              </a:buClr>
              <a:buSzPts val="1000"/>
              <a:buFont typeface="Arial"/>
              <a:buChar char="●"/>
            </a:pPr>
            <a:r>
              <a:rPr lang="es" sz="1000">
                <a:latin typeface="Nunito"/>
                <a:ea typeface="Nunito"/>
                <a:cs typeface="Nunito"/>
                <a:sym typeface="Nunito"/>
              </a:rPr>
              <a:t>La volatilidad inflacionaria sí puede afectar a través de la inversión o el consumo, pero no se refleja en diferencias significativas en medias entre grupos.</a:t>
            </a:r>
            <a:endParaRPr sz="1000">
              <a:latin typeface="Nunito"/>
              <a:ea typeface="Nunito"/>
              <a:cs typeface="Nunito"/>
              <a:sym typeface="Nunito"/>
            </a:endParaRPr>
          </a:p>
          <a:p>
            <a:pPr indent="0" lvl="0" marL="0" rtl="0" algn="just">
              <a:lnSpc>
                <a:spcPct val="115000"/>
              </a:lnSpc>
              <a:spcBef>
                <a:spcPts val="1200"/>
              </a:spcBef>
              <a:spcAft>
                <a:spcPts val="0"/>
              </a:spcAft>
              <a:buNone/>
            </a:pPr>
            <a:r>
              <a:rPr lang="es" sz="1000">
                <a:latin typeface="Nunito"/>
                <a:ea typeface="Nunito"/>
                <a:cs typeface="Nunito"/>
                <a:sym typeface="Nunito"/>
              </a:rPr>
              <a:t>El gráfico muestra que ni la media ni la mediana del crecimiento del PIB difieren según el nivel de inflación.</a:t>
            </a:r>
            <a:endParaRPr sz="1000">
              <a:latin typeface="Nunito"/>
              <a:ea typeface="Nunito"/>
              <a:cs typeface="Nunito"/>
              <a:sym typeface="Nunito"/>
            </a:endParaRPr>
          </a:p>
          <a:p>
            <a:pPr indent="0" lvl="0" marL="0" rtl="0" algn="just">
              <a:lnSpc>
                <a:spcPct val="115000"/>
              </a:lnSpc>
              <a:spcBef>
                <a:spcPts val="1200"/>
              </a:spcBef>
              <a:spcAft>
                <a:spcPts val="0"/>
              </a:spcAft>
              <a:buNone/>
            </a:pPr>
            <a:r>
              <a:t/>
            </a:r>
            <a:endParaRPr sz="1100"/>
          </a:p>
          <a:p>
            <a:pPr indent="0" lvl="0" marL="0" rtl="0" algn="l">
              <a:spcBef>
                <a:spcPts val="1200"/>
              </a:spcBef>
              <a:spcAft>
                <a:spcPts val="0"/>
              </a:spcAft>
              <a:buNone/>
            </a:pPr>
            <a:r>
              <a:t/>
            </a:r>
            <a:endParaRPr sz="1300">
              <a:solidFill>
                <a:schemeClr val="dk2"/>
              </a:solidFill>
              <a:latin typeface="Nunito"/>
              <a:ea typeface="Nunito"/>
              <a:cs typeface="Nunito"/>
              <a:sym typeface="Nunito"/>
            </a:endParaRPr>
          </a:p>
        </p:txBody>
      </p:sp>
      <p:pic>
        <p:nvPicPr>
          <p:cNvPr id="510" name="Google Shape;510;p49"/>
          <p:cNvPicPr preferRelativeResize="0"/>
          <p:nvPr/>
        </p:nvPicPr>
        <p:blipFill>
          <a:blip r:embed="rId3">
            <a:alphaModFix/>
          </a:blip>
          <a:stretch>
            <a:fillRect/>
          </a:stretch>
        </p:blipFill>
        <p:spPr>
          <a:xfrm>
            <a:off x="3775975" y="2451750"/>
            <a:ext cx="4514425" cy="2424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0"/>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516" name="Google Shape;516;p50"/>
          <p:cNvSpPr txBox="1"/>
          <p:nvPr>
            <p:ph idx="4294967295" type="body"/>
          </p:nvPr>
        </p:nvSpPr>
        <p:spPr>
          <a:xfrm>
            <a:off x="632550" y="943675"/>
            <a:ext cx="7710900" cy="4043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a:solidFill>
                  <a:srgbClr val="000000"/>
                </a:solidFill>
              </a:rPr>
              <a:t>Desempleo</a:t>
            </a:r>
            <a:r>
              <a:rPr b="1" lang="es" sz="1000">
                <a:solidFill>
                  <a:srgbClr val="000000"/>
                </a:solidFill>
              </a:rPr>
              <a:t>: </a:t>
            </a:r>
            <a:r>
              <a:rPr lang="es" sz="1000">
                <a:solidFill>
                  <a:srgbClr val="000000"/>
                </a:solidFill>
              </a:rPr>
              <a:t>El test arroja los siguientes resultados: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F = </a:t>
            </a:r>
            <a:r>
              <a:rPr lang="es" sz="1000">
                <a:solidFill>
                  <a:srgbClr val="000000"/>
                </a:solidFill>
              </a:rPr>
              <a:t>0.7196</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p-value = </a:t>
            </a:r>
            <a:r>
              <a:rPr lang="es" sz="1000">
                <a:solidFill>
                  <a:srgbClr val="000000"/>
                </a:solidFill>
              </a:rPr>
              <a:t>0.3966</a:t>
            </a:r>
            <a:endParaRPr sz="1000">
              <a:solidFill>
                <a:srgbClr val="000000"/>
              </a:solidFill>
            </a:endParaRPr>
          </a:p>
          <a:p>
            <a:pPr indent="0" lvl="0" marL="0" rtl="0" algn="just">
              <a:spcBef>
                <a:spcPts val="1200"/>
              </a:spcBef>
              <a:spcAft>
                <a:spcPts val="0"/>
              </a:spcAft>
              <a:buNone/>
            </a:pPr>
            <a:r>
              <a:rPr lang="es" sz="1000">
                <a:solidFill>
                  <a:srgbClr val="000000"/>
                </a:solidFill>
              </a:rPr>
              <a:t>El valor p es muy superior a 0.05. No se rechaza la hipótesis nula, es decir, </a:t>
            </a:r>
            <a:r>
              <a:rPr lang="es" sz="1000">
                <a:solidFill>
                  <a:srgbClr val="000000"/>
                </a:solidFill>
              </a:rPr>
              <a:t>no hay diferencias significativas en desempleo entre países según el nivel de inflación.</a:t>
            </a:r>
            <a:r>
              <a:rPr lang="es" sz="1000">
                <a:solidFill>
                  <a:srgbClr val="000000"/>
                </a:solidFill>
              </a:rPr>
              <a:t> </a:t>
            </a:r>
            <a:r>
              <a:rPr lang="es" sz="1000">
                <a:solidFill>
                  <a:srgbClr val="000000"/>
                </a:solidFill>
              </a:rPr>
              <a:t>El nivel de inflación no determina de manera significativa la tasa de desempleo promedio entre países para los años seleccionados.</a:t>
            </a:r>
            <a:endParaRPr sz="1000">
              <a:solidFill>
                <a:srgbClr val="000000"/>
              </a:solidFill>
            </a:endParaRPr>
          </a:p>
          <a:p>
            <a:pPr indent="0" lvl="0" marL="0" rtl="0" algn="just">
              <a:spcBef>
                <a:spcPts val="1200"/>
              </a:spcBef>
              <a:spcAft>
                <a:spcPts val="1200"/>
              </a:spcAft>
              <a:buNone/>
            </a:pPr>
            <a:r>
              <a:t/>
            </a:r>
            <a:endParaRPr sz="1000">
              <a:solidFill>
                <a:srgbClr val="000000"/>
              </a:solidFill>
            </a:endParaRPr>
          </a:p>
        </p:txBody>
      </p:sp>
      <p:pic>
        <p:nvPicPr>
          <p:cNvPr id="517" name="Google Shape;517;p50"/>
          <p:cNvPicPr preferRelativeResize="0"/>
          <p:nvPr/>
        </p:nvPicPr>
        <p:blipFill>
          <a:blip r:embed="rId3">
            <a:alphaModFix/>
          </a:blip>
          <a:stretch>
            <a:fillRect/>
          </a:stretch>
        </p:blipFill>
        <p:spPr>
          <a:xfrm>
            <a:off x="3350250" y="2328150"/>
            <a:ext cx="4993201" cy="2537850"/>
          </a:xfrm>
          <a:prstGeom prst="rect">
            <a:avLst/>
          </a:prstGeom>
          <a:noFill/>
          <a:ln>
            <a:noFill/>
          </a:ln>
        </p:spPr>
      </p:pic>
      <p:sp>
        <p:nvSpPr>
          <p:cNvPr id="518" name="Google Shape;518;p50"/>
          <p:cNvSpPr txBox="1"/>
          <p:nvPr/>
        </p:nvSpPr>
        <p:spPr>
          <a:xfrm>
            <a:off x="632550" y="2423625"/>
            <a:ext cx="2573400" cy="2346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s" sz="1000">
                <a:latin typeface="Nunito"/>
                <a:ea typeface="Nunito"/>
                <a:cs typeface="Nunito"/>
                <a:sym typeface="Nunito"/>
              </a:rPr>
              <a:t>Esto coincide con:</a:t>
            </a:r>
            <a:endParaRPr sz="1000">
              <a:latin typeface="Nunito"/>
              <a:ea typeface="Nunito"/>
              <a:cs typeface="Nunito"/>
              <a:sym typeface="Nunito"/>
            </a:endParaRPr>
          </a:p>
          <a:p>
            <a:pPr indent="-292100" lvl="0" marL="457200" rtl="0" algn="just">
              <a:lnSpc>
                <a:spcPct val="115000"/>
              </a:lnSpc>
              <a:spcBef>
                <a:spcPts val="1200"/>
              </a:spcBef>
              <a:spcAft>
                <a:spcPts val="0"/>
              </a:spcAft>
              <a:buSzPts val="1000"/>
              <a:buFont typeface="Nunito"/>
              <a:buChar char="●"/>
            </a:pPr>
            <a:r>
              <a:rPr lang="es" sz="1000">
                <a:latin typeface="Nunito"/>
                <a:ea typeface="Nunito"/>
                <a:cs typeface="Nunito"/>
                <a:sym typeface="Nunito"/>
              </a:rPr>
              <a:t>La crítica contemporánea a la Curva de Phillips en el largo plazo.</a:t>
            </a:r>
            <a:endParaRPr sz="1000">
              <a:latin typeface="Nunito"/>
              <a:ea typeface="Nunito"/>
              <a:cs typeface="Nunito"/>
              <a:sym typeface="Nunito"/>
            </a:endParaRPr>
          </a:p>
          <a:p>
            <a:pPr indent="-292100" lvl="0" marL="457200" rtl="0" algn="just">
              <a:lnSpc>
                <a:spcPct val="115000"/>
              </a:lnSpc>
              <a:spcBef>
                <a:spcPts val="0"/>
              </a:spcBef>
              <a:spcAft>
                <a:spcPts val="0"/>
              </a:spcAft>
              <a:buSzPts val="1000"/>
              <a:buChar char="●"/>
            </a:pPr>
            <a:r>
              <a:rPr lang="es" sz="1000">
                <a:latin typeface="Nunito"/>
                <a:ea typeface="Nunito"/>
                <a:cs typeface="Nunito"/>
                <a:sym typeface="Nunito"/>
              </a:rPr>
              <a:t>La idea de que el desempleo es mayormente </a:t>
            </a:r>
            <a:r>
              <a:rPr b="1" lang="es" sz="1000">
                <a:latin typeface="Nunito"/>
                <a:ea typeface="Nunito"/>
                <a:cs typeface="Nunito"/>
                <a:sym typeface="Nunito"/>
              </a:rPr>
              <a:t>estructural</a:t>
            </a:r>
            <a:r>
              <a:rPr lang="es" sz="1000">
                <a:latin typeface="Nunito"/>
                <a:ea typeface="Nunito"/>
                <a:cs typeface="Nunito"/>
                <a:sym typeface="Nunito"/>
              </a:rPr>
              <a:t>, no monetario.</a:t>
            </a:r>
            <a:endParaRPr sz="1000">
              <a:latin typeface="Nunito"/>
              <a:ea typeface="Nunito"/>
              <a:cs typeface="Nunito"/>
              <a:sym typeface="Nunito"/>
            </a:endParaRPr>
          </a:p>
          <a:p>
            <a:pPr indent="-292100" lvl="0" marL="457200" rtl="0" algn="just">
              <a:lnSpc>
                <a:spcPct val="115000"/>
              </a:lnSpc>
              <a:spcBef>
                <a:spcPts val="0"/>
              </a:spcBef>
              <a:spcAft>
                <a:spcPts val="0"/>
              </a:spcAft>
              <a:buSzPts val="1000"/>
              <a:buFont typeface="Nunito"/>
              <a:buChar char="●"/>
            </a:pPr>
            <a:r>
              <a:rPr lang="es" sz="1000">
                <a:latin typeface="Nunito"/>
                <a:ea typeface="Nunito"/>
                <a:cs typeface="Nunito"/>
                <a:sym typeface="Nunito"/>
              </a:rPr>
              <a:t>El desempleo depende más de rigideces laborales, productividad y sector externo que del nivel de inflación del año.</a:t>
            </a:r>
            <a:endParaRPr sz="1000">
              <a:latin typeface="Nunito"/>
              <a:ea typeface="Nunito"/>
              <a:cs typeface="Nunito"/>
              <a:sym typeface="Nunito"/>
            </a:endParaRPr>
          </a:p>
          <a:p>
            <a:pPr indent="0" lvl="0" marL="0" rtl="0" algn="just">
              <a:spcBef>
                <a:spcPts val="1200"/>
              </a:spcBef>
              <a:spcAft>
                <a:spcPts val="0"/>
              </a:spcAft>
              <a:buNone/>
            </a:pPr>
            <a:r>
              <a:t/>
            </a:r>
            <a:endParaRPr sz="1000">
              <a:solidFill>
                <a:schemeClr val="dk2"/>
              </a:solidFill>
              <a:latin typeface="Nunito"/>
              <a:ea typeface="Nunito"/>
              <a:cs typeface="Nunito"/>
              <a:sym typeface="Nuni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1"/>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Análisis de estadística inferencial</a:t>
            </a:r>
            <a:endParaRPr sz="2800"/>
          </a:p>
        </p:txBody>
      </p:sp>
      <p:sp>
        <p:nvSpPr>
          <p:cNvPr descr="2)" id="524" name="Google Shape;524;p51"/>
          <p:cNvSpPr txBox="1"/>
          <p:nvPr>
            <p:ph idx="4294967295" type="body"/>
          </p:nvPr>
        </p:nvSpPr>
        <p:spPr>
          <a:xfrm>
            <a:off x="632550" y="943675"/>
            <a:ext cx="7710900" cy="4043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s" sz="1000">
                <a:solidFill>
                  <a:srgbClr val="000000"/>
                </a:solidFill>
              </a:rPr>
              <a:t>Gasto público</a:t>
            </a:r>
            <a:r>
              <a:rPr b="1" lang="es" sz="1000">
                <a:solidFill>
                  <a:srgbClr val="000000"/>
                </a:solidFill>
              </a:rPr>
              <a:t>: </a:t>
            </a:r>
            <a:r>
              <a:rPr lang="es" sz="1000">
                <a:solidFill>
                  <a:srgbClr val="000000"/>
                </a:solidFill>
              </a:rPr>
              <a:t>El test arroja los siguientes resultados:</a:t>
            </a:r>
            <a:endParaRPr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F = </a:t>
            </a:r>
            <a:r>
              <a:rPr lang="es" sz="1000">
                <a:solidFill>
                  <a:srgbClr val="000000"/>
                </a:solidFill>
              </a:rPr>
              <a:t>0.0877</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p-value = </a:t>
            </a:r>
            <a:r>
              <a:rPr lang="es" sz="1000">
                <a:solidFill>
                  <a:srgbClr val="000000"/>
                </a:solidFill>
              </a:rPr>
              <a:t>0.7672</a:t>
            </a:r>
            <a:endParaRPr sz="1000">
              <a:solidFill>
                <a:srgbClr val="000000"/>
              </a:solidFill>
            </a:endParaRPr>
          </a:p>
          <a:p>
            <a:pPr indent="0" lvl="0" marL="0" rtl="0" algn="just">
              <a:spcBef>
                <a:spcPts val="1200"/>
              </a:spcBef>
              <a:spcAft>
                <a:spcPts val="0"/>
              </a:spcAft>
              <a:buNone/>
            </a:pPr>
            <a:r>
              <a:rPr lang="es" sz="1000">
                <a:solidFill>
                  <a:srgbClr val="000000"/>
                </a:solidFill>
              </a:rPr>
              <a:t>El valor p es muy superior a 0.05. No se rechaza la hipótesis nula, es decir, </a:t>
            </a:r>
            <a:r>
              <a:rPr lang="es" sz="1000">
                <a:solidFill>
                  <a:srgbClr val="000000"/>
                </a:solidFill>
              </a:rPr>
              <a:t>no hay diferencias significativas en el nivel de gasto público entre países de inflación alta y baja.</a:t>
            </a:r>
            <a:r>
              <a:rPr lang="es" sz="1000">
                <a:solidFill>
                  <a:srgbClr val="000000"/>
                </a:solidFill>
              </a:rPr>
              <a:t> </a:t>
            </a:r>
            <a:r>
              <a:rPr lang="es" sz="1000">
                <a:solidFill>
                  <a:srgbClr val="000000"/>
                </a:solidFill>
              </a:rPr>
              <a:t>El gasto público no parece diferir sistemáticamente según el nivel inflacionario.</a:t>
            </a:r>
            <a:endParaRPr sz="1000">
              <a:solidFill>
                <a:srgbClr val="000000"/>
              </a:solidFill>
            </a:endParaRPr>
          </a:p>
          <a:p>
            <a:pPr indent="0" lvl="0" marL="0" rtl="0" algn="just">
              <a:spcBef>
                <a:spcPts val="1200"/>
              </a:spcBef>
              <a:spcAft>
                <a:spcPts val="1200"/>
              </a:spcAft>
              <a:buNone/>
            </a:pPr>
            <a:r>
              <a:t/>
            </a:r>
            <a:endParaRPr sz="1000">
              <a:solidFill>
                <a:srgbClr val="000000"/>
              </a:solidFill>
            </a:endParaRPr>
          </a:p>
        </p:txBody>
      </p:sp>
      <p:sp>
        <p:nvSpPr>
          <p:cNvPr id="525" name="Google Shape;525;p51"/>
          <p:cNvSpPr txBox="1"/>
          <p:nvPr/>
        </p:nvSpPr>
        <p:spPr>
          <a:xfrm>
            <a:off x="632550" y="2276175"/>
            <a:ext cx="2644200" cy="26832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s" sz="1000">
                <a:latin typeface="Nunito"/>
                <a:ea typeface="Nunito"/>
                <a:cs typeface="Nunito"/>
                <a:sym typeface="Nunito"/>
              </a:rPr>
              <a:t>Esto coincide con:</a:t>
            </a:r>
            <a:endParaRPr sz="1000">
              <a:latin typeface="Nunito"/>
              <a:ea typeface="Nunito"/>
              <a:cs typeface="Nunito"/>
              <a:sym typeface="Nunito"/>
            </a:endParaRPr>
          </a:p>
          <a:p>
            <a:pPr indent="-292100" lvl="0" marL="457200" rtl="0" algn="just">
              <a:lnSpc>
                <a:spcPct val="115000"/>
              </a:lnSpc>
              <a:spcBef>
                <a:spcPts val="1200"/>
              </a:spcBef>
              <a:spcAft>
                <a:spcPts val="0"/>
              </a:spcAft>
              <a:buSzPts val="1000"/>
              <a:buFont typeface="Nunito"/>
              <a:buChar char="●"/>
            </a:pPr>
            <a:r>
              <a:rPr lang="es" sz="1000">
                <a:latin typeface="Nunito"/>
                <a:ea typeface="Nunito"/>
                <a:cs typeface="Nunito"/>
                <a:sym typeface="Nunito"/>
              </a:rPr>
              <a:t>La inflación puede ser resultado de políticas fiscales pero no necesariamente de niveles altos de gasto, sino de </a:t>
            </a:r>
            <a:r>
              <a:rPr b="1" lang="es" sz="1000">
                <a:latin typeface="Nunito"/>
                <a:ea typeface="Nunito"/>
                <a:cs typeface="Nunito"/>
                <a:sym typeface="Nunito"/>
              </a:rPr>
              <a:t>su </a:t>
            </a:r>
            <a:r>
              <a:rPr lang="es" sz="1000">
                <a:latin typeface="Nunito"/>
                <a:ea typeface="Nunito"/>
                <a:cs typeface="Nunito"/>
                <a:sym typeface="Nunito"/>
              </a:rPr>
              <a:t>financiamiento (señoreaje, monetización).</a:t>
            </a:r>
            <a:endParaRPr sz="1000">
              <a:latin typeface="Nunito"/>
              <a:ea typeface="Nunito"/>
              <a:cs typeface="Nunito"/>
              <a:sym typeface="Nunito"/>
            </a:endParaRPr>
          </a:p>
          <a:p>
            <a:pPr indent="-292100" lvl="0" marL="457200" rtl="0" algn="just">
              <a:lnSpc>
                <a:spcPct val="115000"/>
              </a:lnSpc>
              <a:spcBef>
                <a:spcPts val="0"/>
              </a:spcBef>
              <a:spcAft>
                <a:spcPts val="0"/>
              </a:spcAft>
              <a:buSzPts val="1000"/>
              <a:buFont typeface="Nunito"/>
              <a:buChar char="●"/>
            </a:pPr>
            <a:r>
              <a:rPr lang="es" sz="1000">
                <a:latin typeface="Nunito"/>
                <a:ea typeface="Nunito"/>
                <a:cs typeface="Nunito"/>
                <a:sym typeface="Nunito"/>
              </a:rPr>
              <a:t>Existen países con gasto público alto y baja inflación (ej. países nórdicos) y países con gasto público bajo e inflación alta (economías monetariamente inestables).</a:t>
            </a:r>
            <a:endParaRPr sz="1000">
              <a:latin typeface="Nunito"/>
              <a:ea typeface="Nunito"/>
              <a:cs typeface="Nunito"/>
              <a:sym typeface="Nunito"/>
            </a:endParaRPr>
          </a:p>
          <a:p>
            <a:pPr indent="0" lvl="0" marL="0" rtl="0" algn="just">
              <a:spcBef>
                <a:spcPts val="1200"/>
              </a:spcBef>
              <a:spcAft>
                <a:spcPts val="0"/>
              </a:spcAft>
              <a:buNone/>
            </a:pPr>
            <a:r>
              <a:t/>
            </a:r>
            <a:endParaRPr sz="1000">
              <a:solidFill>
                <a:schemeClr val="dk2"/>
              </a:solidFill>
              <a:latin typeface="Nunito"/>
              <a:ea typeface="Nunito"/>
              <a:cs typeface="Nunito"/>
              <a:sym typeface="Nunito"/>
            </a:endParaRPr>
          </a:p>
        </p:txBody>
      </p:sp>
      <p:pic>
        <p:nvPicPr>
          <p:cNvPr id="526" name="Google Shape;526;p51"/>
          <p:cNvPicPr preferRelativeResize="0"/>
          <p:nvPr/>
        </p:nvPicPr>
        <p:blipFill>
          <a:blip r:embed="rId3">
            <a:alphaModFix/>
          </a:blip>
          <a:stretch>
            <a:fillRect/>
          </a:stretch>
        </p:blipFill>
        <p:spPr>
          <a:xfrm>
            <a:off x="3364782" y="2322242"/>
            <a:ext cx="5048842" cy="257925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2"/>
          <p:cNvSpPr txBox="1"/>
          <p:nvPr>
            <p:ph type="ctrTitle"/>
          </p:nvPr>
        </p:nvSpPr>
        <p:spPr>
          <a:xfrm>
            <a:off x="632550" y="56987"/>
            <a:ext cx="7816500" cy="1355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sz="2800"/>
              <a:t>¿Crece menos el PIB en países con alta inflación?</a:t>
            </a:r>
            <a:endParaRPr sz="2800"/>
          </a:p>
        </p:txBody>
      </p:sp>
      <p:sp>
        <p:nvSpPr>
          <p:cNvPr descr="2)" id="532" name="Google Shape;532;p52"/>
          <p:cNvSpPr txBox="1"/>
          <p:nvPr>
            <p:ph idx="4294967295" type="body"/>
          </p:nvPr>
        </p:nvSpPr>
        <p:spPr>
          <a:xfrm>
            <a:off x="89200" y="1167550"/>
            <a:ext cx="4974600" cy="38475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s" sz="1000">
                <a:solidFill>
                  <a:srgbClr val="000000"/>
                </a:solidFill>
              </a:rPr>
              <a:t>Este gráfico muestra cómo se distribuye el crecimiento del </a:t>
            </a:r>
            <a:r>
              <a:rPr lang="es" sz="1000">
                <a:solidFill>
                  <a:srgbClr val="000000"/>
                </a:solidFill>
              </a:rPr>
              <a:t>PIB</a:t>
            </a:r>
            <a:r>
              <a:rPr lang="es" sz="1000">
                <a:solidFill>
                  <a:srgbClr val="000000"/>
                </a:solidFill>
              </a:rPr>
              <a:t> entre 2000 y 2023 para países con inflación alta y inflación baja. Elegimos un violin plot porque permite ver toda la distribución, no </a:t>
            </a:r>
            <a:r>
              <a:rPr lang="es" sz="1000">
                <a:solidFill>
                  <a:srgbClr val="000000"/>
                </a:solidFill>
              </a:rPr>
              <a:t>sólo</a:t>
            </a:r>
            <a:r>
              <a:rPr lang="es" sz="1000">
                <a:solidFill>
                  <a:srgbClr val="000000"/>
                </a:solidFill>
              </a:rPr>
              <a:t> la media o la mediana: densidades, forma, asimetrías y presencia de valores extremos. Ambos violines se construyen sobre cientos de observaciones anuales, permitiendo ver la variabilidad. Se incluyen puntos para visualizar cada observación real, sin ocultar información. </a:t>
            </a:r>
            <a:endParaRPr sz="1000">
              <a:solidFill>
                <a:srgbClr val="000000"/>
              </a:solidFill>
            </a:endParaRPr>
          </a:p>
          <a:p>
            <a:pPr indent="0" lvl="0" marL="0" rtl="0" algn="just">
              <a:spcBef>
                <a:spcPts val="1200"/>
              </a:spcBef>
              <a:spcAft>
                <a:spcPts val="0"/>
              </a:spcAft>
              <a:buNone/>
            </a:pPr>
            <a:r>
              <a:rPr b="1" lang="es" sz="1000">
                <a:solidFill>
                  <a:srgbClr val="000000"/>
                </a:solidFill>
              </a:rPr>
              <a:t>¿Qué nos muestra el gráfico?</a:t>
            </a:r>
            <a:endParaRPr b="1"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Las dos distribuciones tienen una forma similar</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La mediana global es muy parecida entre ambos grupos</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Los países con alta inflación muestran ligeramente más dispersión hacia valores negativos</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Visualmente no hay evidencia contundente de que la inflación alta reduzca sistemáticamente el crecimiento</a:t>
            </a:r>
            <a:endParaRPr sz="1000">
              <a:solidFill>
                <a:srgbClr val="000000"/>
              </a:solidFill>
            </a:endParaRPr>
          </a:p>
          <a:p>
            <a:pPr indent="0" lvl="0" marL="0" rtl="0" algn="just">
              <a:spcBef>
                <a:spcPts val="1200"/>
              </a:spcBef>
              <a:spcAft>
                <a:spcPts val="0"/>
              </a:spcAft>
              <a:buNone/>
            </a:pPr>
            <a:r>
              <a:rPr b="1" lang="es" sz="1000">
                <a:solidFill>
                  <a:srgbClr val="000000"/>
                </a:solidFill>
              </a:rPr>
              <a:t>Conclusión</a:t>
            </a:r>
            <a:endParaRPr b="1" sz="1000">
              <a:solidFill>
                <a:srgbClr val="000000"/>
              </a:solidFill>
            </a:endParaRPr>
          </a:p>
          <a:p>
            <a:pPr indent="0" lvl="0" marL="0" rtl="0" algn="just">
              <a:spcBef>
                <a:spcPts val="1200"/>
              </a:spcBef>
              <a:spcAft>
                <a:spcPts val="0"/>
              </a:spcAft>
              <a:buNone/>
            </a:pPr>
            <a:r>
              <a:rPr lang="es" sz="1000">
                <a:solidFill>
                  <a:srgbClr val="000000"/>
                </a:solidFill>
              </a:rPr>
              <a:t>No se observa una diferencia clara en el crecimiento del </a:t>
            </a:r>
            <a:r>
              <a:rPr lang="es" sz="1000">
                <a:solidFill>
                  <a:srgbClr val="000000"/>
                </a:solidFill>
              </a:rPr>
              <a:t>PIB</a:t>
            </a:r>
            <a:r>
              <a:rPr lang="es" sz="1000">
                <a:solidFill>
                  <a:srgbClr val="000000"/>
                </a:solidFill>
              </a:rPr>
              <a:t> entre países con inflación alta y baja. </a:t>
            </a:r>
            <a:r>
              <a:rPr lang="es" sz="1000">
                <a:solidFill>
                  <a:srgbClr val="000000"/>
                </a:solidFill>
              </a:rPr>
              <a:t>Las distribuciones son similares y los contrastes estadísticos no encuentran efectos significativos.</a:t>
            </a:r>
            <a:endParaRPr b="1" sz="1100">
              <a:solidFill>
                <a:srgbClr val="000000"/>
              </a:solidFill>
              <a:latin typeface="Arial"/>
              <a:ea typeface="Arial"/>
              <a:cs typeface="Arial"/>
              <a:sym typeface="Arial"/>
            </a:endParaRPr>
          </a:p>
          <a:p>
            <a:pPr indent="0" lvl="0" marL="0" rtl="0" algn="just">
              <a:spcBef>
                <a:spcPts val="1200"/>
              </a:spcBef>
              <a:spcAft>
                <a:spcPts val="0"/>
              </a:spcAft>
              <a:buNone/>
            </a:pPr>
            <a:r>
              <a:t/>
            </a:r>
            <a:endParaRPr b="1" sz="1100">
              <a:solidFill>
                <a:srgbClr val="000000"/>
              </a:solidFill>
              <a:latin typeface="Arial"/>
              <a:ea typeface="Arial"/>
              <a:cs typeface="Arial"/>
              <a:sym typeface="Arial"/>
            </a:endParaRPr>
          </a:p>
          <a:p>
            <a:pPr indent="0" lvl="0" marL="0" rtl="0" algn="just">
              <a:spcBef>
                <a:spcPts val="1200"/>
              </a:spcBef>
              <a:spcAft>
                <a:spcPts val="0"/>
              </a:spcAft>
              <a:buNone/>
            </a:pPr>
            <a:r>
              <a:t/>
            </a:r>
            <a:endParaRPr b="1" sz="1100">
              <a:solidFill>
                <a:srgbClr val="000000"/>
              </a:solidFill>
              <a:latin typeface="Arial"/>
              <a:ea typeface="Arial"/>
              <a:cs typeface="Arial"/>
              <a:sym typeface="Arial"/>
            </a:endParaRPr>
          </a:p>
          <a:p>
            <a:pPr indent="0" lvl="0" marL="0" rtl="0" algn="just">
              <a:spcBef>
                <a:spcPts val="1200"/>
              </a:spcBef>
              <a:spcAft>
                <a:spcPts val="0"/>
              </a:spcAft>
              <a:buNone/>
            </a:pPr>
            <a:r>
              <a:t/>
            </a:r>
            <a:endParaRPr b="1" sz="1100">
              <a:solidFill>
                <a:srgbClr val="000000"/>
              </a:solidFill>
              <a:latin typeface="Arial"/>
              <a:ea typeface="Arial"/>
              <a:cs typeface="Arial"/>
              <a:sym typeface="Arial"/>
            </a:endParaRPr>
          </a:p>
          <a:p>
            <a:pPr indent="0" lvl="0" marL="0" rtl="0" algn="just">
              <a:spcBef>
                <a:spcPts val="1200"/>
              </a:spcBef>
              <a:spcAft>
                <a:spcPts val="0"/>
              </a:spcAft>
              <a:buNone/>
            </a:pPr>
            <a:r>
              <a:t/>
            </a:r>
            <a:endParaRPr sz="1000"/>
          </a:p>
          <a:p>
            <a:pPr indent="0" lvl="0" marL="0" rtl="0" algn="just">
              <a:spcBef>
                <a:spcPts val="1200"/>
              </a:spcBef>
              <a:spcAft>
                <a:spcPts val="1200"/>
              </a:spcAft>
              <a:buNone/>
            </a:pPr>
            <a:r>
              <a:t/>
            </a:r>
            <a:endParaRPr sz="1000">
              <a:solidFill>
                <a:srgbClr val="000000"/>
              </a:solidFill>
            </a:endParaRPr>
          </a:p>
        </p:txBody>
      </p:sp>
      <p:pic>
        <p:nvPicPr>
          <p:cNvPr id="533" name="Google Shape;533;p52"/>
          <p:cNvPicPr preferRelativeResize="0"/>
          <p:nvPr/>
        </p:nvPicPr>
        <p:blipFill>
          <a:blip r:embed="rId3">
            <a:alphaModFix/>
          </a:blip>
          <a:stretch>
            <a:fillRect/>
          </a:stretch>
        </p:blipFill>
        <p:spPr>
          <a:xfrm>
            <a:off x="5151150" y="1564475"/>
            <a:ext cx="3915224" cy="26893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3"/>
          <p:cNvSpPr txBox="1"/>
          <p:nvPr>
            <p:ph type="ctrTitle"/>
          </p:nvPr>
        </p:nvSpPr>
        <p:spPr>
          <a:xfrm>
            <a:off x="626250" y="119925"/>
            <a:ext cx="7816500" cy="6606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 sz="2800"/>
              <a:t>Efectos de la inflación sobre las variables macroeconómicas</a:t>
            </a:r>
            <a:endParaRPr sz="2800"/>
          </a:p>
        </p:txBody>
      </p:sp>
      <p:sp>
        <p:nvSpPr>
          <p:cNvPr descr="2)" id="539" name="Google Shape;539;p53"/>
          <p:cNvSpPr txBox="1"/>
          <p:nvPr>
            <p:ph idx="4294967295" type="body"/>
          </p:nvPr>
        </p:nvSpPr>
        <p:spPr>
          <a:xfrm>
            <a:off x="83225" y="785474"/>
            <a:ext cx="5273700" cy="4256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s" sz="1000">
                <a:solidFill>
                  <a:srgbClr val="000000"/>
                </a:solidFill>
              </a:rPr>
              <a:t>El gráfico presenta la </a:t>
            </a:r>
            <a:r>
              <a:rPr b="1" lang="es" sz="1000">
                <a:solidFill>
                  <a:srgbClr val="000000"/>
                </a:solidFill>
              </a:rPr>
              <a:t>evolución comparativa</a:t>
            </a:r>
            <a:r>
              <a:rPr lang="es" sz="1000">
                <a:solidFill>
                  <a:srgbClr val="000000"/>
                </a:solidFill>
              </a:rPr>
              <a:t> de las tres variables clave: desempleo, gasto público y crecimiento del PBI. Cada línea </a:t>
            </a:r>
            <a:r>
              <a:rPr b="1" lang="es" sz="1000">
                <a:solidFill>
                  <a:srgbClr val="000000"/>
                </a:solidFill>
              </a:rPr>
              <a:t>conecta el valor mediano observado en países con inflación alta vs inflación baja</a:t>
            </a:r>
            <a:r>
              <a:rPr lang="es" sz="1000">
                <a:solidFill>
                  <a:srgbClr val="000000"/>
                </a:solidFill>
              </a:rPr>
              <a:t>, representando si la diferencia entre grupos es significativa. </a:t>
            </a:r>
            <a:endParaRPr sz="1000">
              <a:solidFill>
                <a:srgbClr val="000000"/>
              </a:solidFill>
            </a:endParaRPr>
          </a:p>
          <a:p>
            <a:pPr indent="0" lvl="0" marL="0" rtl="0" algn="just">
              <a:spcBef>
                <a:spcPts val="1200"/>
              </a:spcBef>
              <a:spcAft>
                <a:spcPts val="0"/>
              </a:spcAft>
              <a:buNone/>
            </a:pPr>
            <a:r>
              <a:rPr lang="es" sz="1000">
                <a:solidFill>
                  <a:srgbClr val="000000"/>
                </a:solidFill>
              </a:rPr>
              <a:t>Usamos un </a:t>
            </a:r>
            <a:r>
              <a:rPr b="1" lang="es" sz="1000">
                <a:solidFill>
                  <a:srgbClr val="000000"/>
                </a:solidFill>
              </a:rPr>
              <a:t>slope chart</a:t>
            </a:r>
            <a:r>
              <a:rPr lang="es" sz="1000">
                <a:solidFill>
                  <a:srgbClr val="000000"/>
                </a:solidFill>
              </a:rPr>
              <a:t> porque permite comparar de forma directa y minimalista las medianas de cada variable macroeconómica entre los grupos. Este tipo de gráficos permiten mostrar cambios relativos, diferencias de magnitudes y patrones consistentes entre categorías. Además, reduce el ruido visual y destaca el cambio neto entre ambos contextos.</a:t>
            </a:r>
            <a:endParaRPr sz="1000">
              <a:solidFill>
                <a:srgbClr val="000000"/>
              </a:solidFill>
            </a:endParaRPr>
          </a:p>
          <a:p>
            <a:pPr indent="0" lvl="0" marL="0" rtl="0" algn="just">
              <a:spcBef>
                <a:spcPts val="1200"/>
              </a:spcBef>
              <a:spcAft>
                <a:spcPts val="0"/>
              </a:spcAft>
              <a:buNone/>
            </a:pPr>
            <a:r>
              <a:rPr b="1" lang="es" sz="1000">
                <a:solidFill>
                  <a:srgbClr val="000000"/>
                </a:solidFill>
              </a:rPr>
              <a:t>¿Qué nos muestra el gráfico?</a:t>
            </a:r>
            <a:endParaRPr b="1" sz="1000">
              <a:solidFill>
                <a:srgbClr val="000000"/>
              </a:solidFill>
            </a:endParaRPr>
          </a:p>
          <a:p>
            <a:pPr indent="-292100" lvl="0" marL="457200" rtl="0" algn="just">
              <a:spcBef>
                <a:spcPts val="1200"/>
              </a:spcBef>
              <a:spcAft>
                <a:spcPts val="0"/>
              </a:spcAft>
              <a:buClr>
                <a:srgbClr val="000000"/>
              </a:buClr>
              <a:buSzPts val="1000"/>
              <a:buChar char="●"/>
            </a:pPr>
            <a:r>
              <a:rPr lang="es" sz="1000">
                <a:solidFill>
                  <a:srgbClr val="000000"/>
                </a:solidFill>
              </a:rPr>
              <a:t>Las diferencias son marginales, lo que coincide con los resultados estadísticos</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Las pendientes son leves, lo que indica que el grupo inflación baja no se aleja drásticamente del grupo inflación alta</a:t>
            </a:r>
            <a:endParaRPr sz="1000">
              <a:solidFill>
                <a:srgbClr val="000000"/>
              </a:solidFill>
            </a:endParaRPr>
          </a:p>
          <a:p>
            <a:pPr indent="-292100" lvl="0" marL="457200" rtl="0" algn="just">
              <a:spcBef>
                <a:spcPts val="0"/>
              </a:spcBef>
              <a:spcAft>
                <a:spcPts val="0"/>
              </a:spcAft>
              <a:buClr>
                <a:srgbClr val="000000"/>
              </a:buClr>
              <a:buSzPts val="1000"/>
              <a:buChar char="●"/>
            </a:pPr>
            <a:r>
              <a:rPr lang="es" sz="1000">
                <a:solidFill>
                  <a:srgbClr val="000000"/>
                </a:solidFill>
              </a:rPr>
              <a:t>No se observan saltos ni cambios abruptos, lo que sugiere estabilidad relativa entre ambos grupos</a:t>
            </a:r>
            <a:endParaRPr sz="1000">
              <a:solidFill>
                <a:srgbClr val="000000"/>
              </a:solidFill>
            </a:endParaRPr>
          </a:p>
          <a:p>
            <a:pPr indent="0" lvl="0" marL="0" rtl="0" algn="just">
              <a:spcBef>
                <a:spcPts val="1200"/>
              </a:spcBef>
              <a:spcAft>
                <a:spcPts val="0"/>
              </a:spcAft>
              <a:buNone/>
            </a:pPr>
            <a:r>
              <a:rPr b="1" lang="es" sz="1000">
                <a:solidFill>
                  <a:srgbClr val="000000"/>
                </a:solidFill>
              </a:rPr>
              <a:t>Conclusión</a:t>
            </a:r>
            <a:endParaRPr b="1" sz="1000">
              <a:solidFill>
                <a:srgbClr val="000000"/>
              </a:solidFill>
            </a:endParaRPr>
          </a:p>
          <a:p>
            <a:pPr indent="0" lvl="0" marL="0" rtl="0" algn="just">
              <a:spcBef>
                <a:spcPts val="1200"/>
              </a:spcBef>
              <a:spcAft>
                <a:spcPts val="0"/>
              </a:spcAft>
              <a:buNone/>
            </a:pPr>
            <a:r>
              <a:rPr lang="es" sz="1000">
                <a:solidFill>
                  <a:srgbClr val="000000"/>
                </a:solidFill>
              </a:rPr>
              <a:t>No aparece un patrón contundente que muestre que un nivel de inflación más alto implica una peor mediana en desempleo, gasto o crecimiento. Refuerza la idea de que la inflación por sí sola no explica diferencias estructurales fuertes en estas variables económicas. </a:t>
            </a:r>
            <a:endParaRPr sz="1000">
              <a:solidFill>
                <a:srgbClr val="000000"/>
              </a:solidFill>
            </a:endParaRPr>
          </a:p>
          <a:p>
            <a:pPr indent="0" lvl="0" marL="0" rtl="0" algn="just">
              <a:spcBef>
                <a:spcPts val="1200"/>
              </a:spcBef>
              <a:spcAft>
                <a:spcPts val="0"/>
              </a:spcAft>
              <a:buNone/>
            </a:pPr>
            <a:r>
              <a:t/>
            </a:r>
            <a:endParaRPr b="1" sz="1100">
              <a:solidFill>
                <a:srgbClr val="000000"/>
              </a:solidFill>
              <a:latin typeface="Arial"/>
              <a:ea typeface="Arial"/>
              <a:cs typeface="Arial"/>
              <a:sym typeface="Arial"/>
            </a:endParaRPr>
          </a:p>
          <a:p>
            <a:pPr indent="0" lvl="0" marL="0" rtl="0" algn="just">
              <a:spcBef>
                <a:spcPts val="1200"/>
              </a:spcBef>
              <a:spcAft>
                <a:spcPts val="0"/>
              </a:spcAft>
              <a:buNone/>
            </a:pPr>
            <a:r>
              <a:t/>
            </a:r>
            <a:endParaRPr b="1" sz="1100">
              <a:solidFill>
                <a:srgbClr val="000000"/>
              </a:solidFill>
              <a:latin typeface="Arial"/>
              <a:ea typeface="Arial"/>
              <a:cs typeface="Arial"/>
              <a:sym typeface="Arial"/>
            </a:endParaRPr>
          </a:p>
          <a:p>
            <a:pPr indent="0" lvl="0" marL="0" rtl="0" algn="just">
              <a:spcBef>
                <a:spcPts val="1200"/>
              </a:spcBef>
              <a:spcAft>
                <a:spcPts val="0"/>
              </a:spcAft>
              <a:buNone/>
            </a:pPr>
            <a:r>
              <a:t/>
            </a:r>
            <a:endParaRPr b="1" sz="1100">
              <a:solidFill>
                <a:srgbClr val="000000"/>
              </a:solidFill>
              <a:latin typeface="Arial"/>
              <a:ea typeface="Arial"/>
              <a:cs typeface="Arial"/>
              <a:sym typeface="Arial"/>
            </a:endParaRPr>
          </a:p>
          <a:p>
            <a:pPr indent="0" lvl="0" marL="0" rtl="0" algn="just">
              <a:spcBef>
                <a:spcPts val="1200"/>
              </a:spcBef>
              <a:spcAft>
                <a:spcPts val="0"/>
              </a:spcAft>
              <a:buNone/>
            </a:pPr>
            <a:r>
              <a:t/>
            </a:r>
            <a:endParaRPr b="1" sz="1100">
              <a:solidFill>
                <a:srgbClr val="000000"/>
              </a:solidFill>
              <a:latin typeface="Arial"/>
              <a:ea typeface="Arial"/>
              <a:cs typeface="Arial"/>
              <a:sym typeface="Arial"/>
            </a:endParaRPr>
          </a:p>
          <a:p>
            <a:pPr indent="0" lvl="0" marL="0" rtl="0" algn="just">
              <a:spcBef>
                <a:spcPts val="1200"/>
              </a:spcBef>
              <a:spcAft>
                <a:spcPts val="0"/>
              </a:spcAft>
              <a:buNone/>
            </a:pPr>
            <a:r>
              <a:t/>
            </a:r>
            <a:endParaRPr sz="1000"/>
          </a:p>
          <a:p>
            <a:pPr indent="0" lvl="0" marL="0" rtl="0" algn="just">
              <a:spcBef>
                <a:spcPts val="1200"/>
              </a:spcBef>
              <a:spcAft>
                <a:spcPts val="1200"/>
              </a:spcAft>
              <a:buNone/>
            </a:pPr>
            <a:r>
              <a:t/>
            </a:r>
            <a:endParaRPr sz="1000">
              <a:solidFill>
                <a:srgbClr val="000000"/>
              </a:solidFill>
            </a:endParaRPr>
          </a:p>
        </p:txBody>
      </p:sp>
      <p:pic>
        <p:nvPicPr>
          <p:cNvPr id="540" name="Google Shape;540;p53"/>
          <p:cNvPicPr preferRelativeResize="0"/>
          <p:nvPr/>
        </p:nvPicPr>
        <p:blipFill>
          <a:blip r:embed="rId3">
            <a:alphaModFix/>
          </a:blip>
          <a:stretch>
            <a:fillRect/>
          </a:stretch>
        </p:blipFill>
        <p:spPr>
          <a:xfrm>
            <a:off x="5427450" y="1131625"/>
            <a:ext cx="3655900" cy="34885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4"/>
          <p:cNvSpPr txBox="1"/>
          <p:nvPr>
            <p:ph type="ctrTitle"/>
          </p:nvPr>
        </p:nvSpPr>
        <p:spPr>
          <a:xfrm>
            <a:off x="437850" y="272618"/>
            <a:ext cx="5134500" cy="842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Conclusiones finales</a:t>
            </a:r>
            <a:endParaRPr sz="2800"/>
          </a:p>
        </p:txBody>
      </p:sp>
      <p:sp>
        <p:nvSpPr>
          <p:cNvPr id="546" name="Google Shape;546;p54"/>
          <p:cNvSpPr txBox="1"/>
          <p:nvPr>
            <p:ph idx="1" type="subTitle"/>
          </p:nvPr>
        </p:nvSpPr>
        <p:spPr>
          <a:xfrm>
            <a:off x="431554" y="957326"/>
            <a:ext cx="8394300" cy="40326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i="1" lang="es" sz="1000"/>
              <a:t>La inflación no aparece como un factor determinante del desempeño macroeconómico</a:t>
            </a:r>
            <a:endParaRPr b="1" i="1" sz="1000"/>
          </a:p>
          <a:p>
            <a:pPr indent="0" lvl="0" marL="0" rtl="0" algn="just">
              <a:lnSpc>
                <a:spcPct val="115000"/>
              </a:lnSpc>
              <a:spcBef>
                <a:spcPts val="0"/>
              </a:spcBef>
              <a:spcAft>
                <a:spcPts val="0"/>
              </a:spcAft>
              <a:buNone/>
            </a:pPr>
            <a:r>
              <a:rPr lang="es" sz="1000">
                <a:solidFill>
                  <a:srgbClr val="000000"/>
                </a:solidFill>
              </a:rPr>
              <a:t>Los análisis estadísticos (test no paramétricos y ANOVA de Welch) y las visualizaciones muestran que las diferencias entre países con inflación alta y baja son pequeñas y no significativas en crecimiento del PBI, desempleo y gasto público. </a:t>
            </a:r>
            <a:endParaRPr sz="1000">
              <a:solidFill>
                <a:schemeClr val="dk2"/>
              </a:solidFill>
            </a:endParaRPr>
          </a:p>
          <a:p>
            <a:pPr indent="0" lvl="0" marL="0" rtl="0" algn="just">
              <a:lnSpc>
                <a:spcPct val="115000"/>
              </a:lnSpc>
              <a:spcBef>
                <a:spcPts val="0"/>
              </a:spcBef>
              <a:spcAft>
                <a:spcPts val="0"/>
              </a:spcAft>
              <a:buNone/>
            </a:pPr>
            <a:r>
              <a:t/>
            </a:r>
            <a:endParaRPr b="1" i="1" sz="1000"/>
          </a:p>
          <a:p>
            <a:pPr indent="0" lvl="0" marL="0" rtl="0" algn="just">
              <a:lnSpc>
                <a:spcPct val="115000"/>
              </a:lnSpc>
              <a:spcBef>
                <a:spcPts val="0"/>
              </a:spcBef>
              <a:spcAft>
                <a:spcPts val="0"/>
              </a:spcAft>
              <a:buNone/>
            </a:pPr>
            <a:r>
              <a:rPr b="1" i="1" lang="es" sz="1000"/>
              <a:t>Las economías de ambos grupos exhiben patrones similares</a:t>
            </a:r>
            <a:endParaRPr b="1" i="1" sz="1000"/>
          </a:p>
          <a:p>
            <a:pPr indent="-292100" lvl="0" marL="457200" rtl="0" algn="just">
              <a:lnSpc>
                <a:spcPct val="115000"/>
              </a:lnSpc>
              <a:spcBef>
                <a:spcPts val="0"/>
              </a:spcBef>
              <a:spcAft>
                <a:spcPts val="0"/>
              </a:spcAft>
              <a:buClr>
                <a:srgbClr val="000000"/>
              </a:buClr>
              <a:buSzPts val="1000"/>
              <a:buChar char="●"/>
            </a:pPr>
            <a:r>
              <a:rPr lang="es" sz="1000">
                <a:solidFill>
                  <a:srgbClr val="000000"/>
                </a:solidFill>
              </a:rPr>
              <a:t>Tanto el gráfico de distribuciones como el slope chart muestran que las formas de distribución entre ambos grupos son muy parecidas.</a:t>
            </a:r>
            <a:endParaRPr sz="1000">
              <a:solidFill>
                <a:srgbClr val="000000"/>
              </a:solidFill>
            </a:endParaRPr>
          </a:p>
          <a:p>
            <a:pPr indent="-292100" lvl="0" marL="457200" rtl="0" algn="just">
              <a:lnSpc>
                <a:spcPct val="115000"/>
              </a:lnSpc>
              <a:spcBef>
                <a:spcPts val="0"/>
              </a:spcBef>
              <a:spcAft>
                <a:spcPts val="0"/>
              </a:spcAft>
              <a:buClr>
                <a:srgbClr val="000000"/>
              </a:buClr>
              <a:buSzPts val="1000"/>
              <a:buChar char="●"/>
            </a:pPr>
            <a:r>
              <a:rPr lang="es" sz="1000">
                <a:solidFill>
                  <a:srgbClr val="000000"/>
                </a:solidFill>
              </a:rPr>
              <a:t>Las medianas apenas difieren. </a:t>
            </a:r>
            <a:endParaRPr sz="1000">
              <a:solidFill>
                <a:srgbClr val="000000"/>
              </a:solidFill>
            </a:endParaRPr>
          </a:p>
          <a:p>
            <a:pPr indent="-292100" lvl="0" marL="457200" rtl="0" algn="just">
              <a:lnSpc>
                <a:spcPct val="115000"/>
              </a:lnSpc>
              <a:spcBef>
                <a:spcPts val="0"/>
              </a:spcBef>
              <a:spcAft>
                <a:spcPts val="0"/>
              </a:spcAft>
              <a:buClr>
                <a:srgbClr val="000000"/>
              </a:buClr>
              <a:buSzPts val="1000"/>
              <a:buChar char="●"/>
            </a:pPr>
            <a:r>
              <a:rPr lang="es" sz="1000">
                <a:solidFill>
                  <a:srgbClr val="000000"/>
                </a:solidFill>
              </a:rPr>
              <a:t>No hay evidencia visual ni estadística de un deterioro sistemático asociado a la inflación alta en estas variables. </a:t>
            </a:r>
            <a:endParaRPr sz="1000">
              <a:solidFill>
                <a:schemeClr val="dk2"/>
              </a:solidFill>
            </a:endParaRPr>
          </a:p>
          <a:p>
            <a:pPr indent="0" lvl="0" marL="0" rtl="0" algn="just">
              <a:lnSpc>
                <a:spcPct val="115000"/>
              </a:lnSpc>
              <a:spcBef>
                <a:spcPts val="0"/>
              </a:spcBef>
              <a:spcAft>
                <a:spcPts val="0"/>
              </a:spcAft>
              <a:buNone/>
            </a:pPr>
            <a:r>
              <a:rPr b="1" i="1" lang="es" sz="1000"/>
              <a:t>El efecto de la inflación es más complejo de lo que sugiere la teoría simple</a:t>
            </a:r>
            <a:endParaRPr b="1" i="1" sz="1000"/>
          </a:p>
          <a:p>
            <a:pPr indent="-292100" lvl="0" marL="457200" rtl="0" algn="just">
              <a:lnSpc>
                <a:spcPct val="115000"/>
              </a:lnSpc>
              <a:spcBef>
                <a:spcPts val="0"/>
              </a:spcBef>
              <a:spcAft>
                <a:spcPts val="0"/>
              </a:spcAft>
              <a:buClr>
                <a:srgbClr val="000000"/>
              </a:buClr>
              <a:buSzPts val="1000"/>
              <a:buChar char="●"/>
            </a:pPr>
            <a:r>
              <a:rPr lang="es" sz="1000">
                <a:solidFill>
                  <a:srgbClr val="000000"/>
                </a:solidFill>
              </a:rPr>
              <a:t>La inflación no actúa aislada, sino en conjunto con otras condiciones estructurales (instituciones, apertura, política fiscal, shocks externos)</a:t>
            </a:r>
            <a:endParaRPr sz="1000">
              <a:solidFill>
                <a:srgbClr val="000000"/>
              </a:solidFill>
            </a:endParaRPr>
          </a:p>
          <a:p>
            <a:pPr indent="-292100" lvl="0" marL="457200" rtl="0" algn="just">
              <a:lnSpc>
                <a:spcPct val="115000"/>
              </a:lnSpc>
              <a:spcBef>
                <a:spcPts val="0"/>
              </a:spcBef>
              <a:spcAft>
                <a:spcPts val="0"/>
              </a:spcAft>
              <a:buClr>
                <a:srgbClr val="000000"/>
              </a:buClr>
              <a:buSzPts val="1000"/>
              <a:buChar char="●"/>
            </a:pPr>
            <a:r>
              <a:rPr lang="es" sz="1000">
                <a:solidFill>
                  <a:srgbClr val="000000"/>
                </a:solidFill>
              </a:rPr>
              <a:t>Los países con inflación alta presentan más dispersión, pero no un rendimiento mediano peor de manera consistente</a:t>
            </a:r>
            <a:endParaRPr sz="1000">
              <a:solidFill>
                <a:schemeClr val="dk2"/>
              </a:solidFill>
            </a:endParaRPr>
          </a:p>
          <a:p>
            <a:pPr indent="0" lvl="0" marL="0" rtl="0" algn="just">
              <a:lnSpc>
                <a:spcPct val="115000"/>
              </a:lnSpc>
              <a:spcBef>
                <a:spcPts val="0"/>
              </a:spcBef>
              <a:spcAft>
                <a:spcPts val="0"/>
              </a:spcAft>
              <a:buNone/>
            </a:pPr>
            <a:r>
              <a:rPr b="1" i="1" lang="es" sz="1000"/>
              <a:t>Los resultados invitan a mirar la estabilidad macro más allá de la inflación</a:t>
            </a:r>
            <a:endParaRPr b="1" i="1" sz="1000"/>
          </a:p>
          <a:p>
            <a:pPr indent="-292100" lvl="0" marL="457200" rtl="0" algn="just">
              <a:lnSpc>
                <a:spcPct val="115000"/>
              </a:lnSpc>
              <a:spcBef>
                <a:spcPts val="0"/>
              </a:spcBef>
              <a:spcAft>
                <a:spcPts val="0"/>
              </a:spcAft>
              <a:buClr>
                <a:srgbClr val="000000"/>
              </a:buClr>
              <a:buSzPts val="1000"/>
              <a:buChar char="●"/>
            </a:pPr>
            <a:r>
              <a:rPr lang="es" sz="1000">
                <a:solidFill>
                  <a:srgbClr val="000000"/>
                </a:solidFill>
              </a:rPr>
              <a:t>No basta con observar la inflación para entender crecimiento, desempleo o gasto. </a:t>
            </a:r>
            <a:endParaRPr sz="1000">
              <a:solidFill>
                <a:srgbClr val="000000"/>
              </a:solidFill>
            </a:endParaRPr>
          </a:p>
          <a:p>
            <a:pPr indent="-292100" lvl="0" marL="457200" rtl="0" algn="just">
              <a:lnSpc>
                <a:spcPct val="115000"/>
              </a:lnSpc>
              <a:spcBef>
                <a:spcPts val="0"/>
              </a:spcBef>
              <a:spcAft>
                <a:spcPts val="0"/>
              </a:spcAft>
              <a:buClr>
                <a:srgbClr val="000000"/>
              </a:buClr>
              <a:buSzPts val="1000"/>
              <a:buChar char="●"/>
            </a:pPr>
            <a:r>
              <a:rPr lang="es" sz="1000">
                <a:solidFill>
                  <a:srgbClr val="000000"/>
                </a:solidFill>
              </a:rPr>
              <a:t>El desempeño macroeconómico es multifactorial, y la inflación por sí sola no explica las diferencias entre países. </a:t>
            </a:r>
            <a:endParaRPr sz="1000">
              <a:solidFill>
                <a:srgbClr val="000000"/>
              </a:solidFill>
            </a:endParaRPr>
          </a:p>
          <a:p>
            <a:pPr indent="0" lvl="0" marL="0" rtl="0" algn="l">
              <a:lnSpc>
                <a:spcPct val="115000"/>
              </a:lnSpc>
              <a:spcBef>
                <a:spcPts val="0"/>
              </a:spcBef>
              <a:spcAft>
                <a:spcPts val="0"/>
              </a:spcAft>
              <a:buNone/>
            </a:pPr>
            <a:r>
              <a:t/>
            </a:r>
            <a:endParaRPr sz="1000">
              <a:solidFill>
                <a:schemeClr val="dk2"/>
              </a:solidFill>
            </a:endParaRPr>
          </a:p>
          <a:p>
            <a:pPr indent="0" lvl="0" marL="0" rtl="0" algn="ctr">
              <a:lnSpc>
                <a:spcPct val="115000"/>
              </a:lnSpc>
              <a:spcBef>
                <a:spcPts val="0"/>
              </a:spcBef>
              <a:spcAft>
                <a:spcPts val="0"/>
              </a:spcAft>
              <a:buNone/>
            </a:pPr>
            <a:r>
              <a:rPr b="1" i="1" lang="es" sz="1000"/>
              <a:t>“La inflación, por sí misma, no determina de forma significativa el crecimiento, el desempleo ni el gasto público en los años 2000, 2010 y 2023. Las diferencias entre países con inflación alta y baja son menores de lo esperado y estadísticamente no significativas”</a:t>
            </a:r>
            <a:endParaRPr b="1" i="1" sz="1000"/>
          </a:p>
          <a:p>
            <a:pPr indent="0" lvl="0" marL="0" rtl="0" algn="l">
              <a:lnSpc>
                <a:spcPct val="115000"/>
              </a:lnSpc>
              <a:spcBef>
                <a:spcPts val="0"/>
              </a:spcBef>
              <a:spcAft>
                <a:spcPts val="0"/>
              </a:spcAft>
              <a:buNone/>
            </a:pPr>
            <a:r>
              <a:t/>
            </a:r>
            <a:endParaRPr sz="1000">
              <a:solidFill>
                <a:schemeClr val="dk2"/>
              </a:solidFill>
            </a:endParaRPr>
          </a:p>
          <a:p>
            <a:pPr indent="0" lvl="0" marL="0" rtl="0" algn="l">
              <a:lnSpc>
                <a:spcPct val="115000"/>
              </a:lnSpc>
              <a:spcBef>
                <a:spcPts val="0"/>
              </a:spcBef>
              <a:spcAft>
                <a:spcPts val="0"/>
              </a:spcAft>
              <a:buNone/>
            </a:pPr>
            <a:r>
              <a:t/>
            </a:r>
            <a:endParaRPr sz="1000">
              <a:solidFill>
                <a:schemeClr val="dk2"/>
              </a:solidFill>
            </a:endParaRPr>
          </a:p>
          <a:p>
            <a:pPr indent="0" lvl="0" marL="0" rtl="0" algn="l">
              <a:lnSpc>
                <a:spcPct val="115000"/>
              </a:lnSpc>
              <a:spcBef>
                <a:spcPts val="0"/>
              </a:spcBef>
              <a:spcAft>
                <a:spcPts val="0"/>
              </a:spcAft>
              <a:buNone/>
            </a:pPr>
            <a:r>
              <a:t/>
            </a:r>
            <a:endParaRPr sz="1000">
              <a:solidFill>
                <a:schemeClr val="dk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5"/>
          <p:cNvSpPr txBox="1"/>
          <p:nvPr>
            <p:ph type="ctrTitle"/>
          </p:nvPr>
        </p:nvSpPr>
        <p:spPr>
          <a:xfrm>
            <a:off x="594925" y="400375"/>
            <a:ext cx="4342500" cy="905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Limitaciones del análisis </a:t>
            </a:r>
            <a:endParaRPr sz="2800"/>
          </a:p>
        </p:txBody>
      </p:sp>
      <p:sp>
        <p:nvSpPr>
          <p:cNvPr id="552" name="Google Shape;552;p55"/>
          <p:cNvSpPr txBox="1"/>
          <p:nvPr>
            <p:ph idx="1" type="subTitle"/>
          </p:nvPr>
        </p:nvSpPr>
        <p:spPr>
          <a:xfrm>
            <a:off x="557150" y="1265050"/>
            <a:ext cx="7840800" cy="3366000"/>
          </a:xfrm>
          <a:prstGeom prst="rect">
            <a:avLst/>
          </a:prstGeom>
        </p:spPr>
        <p:txBody>
          <a:bodyPr anchorCtr="0" anchor="t" bIns="91425" lIns="91425" spcFirstLastPara="1" rIns="91425" wrap="square" tIns="91425">
            <a:noAutofit/>
          </a:bodyPr>
          <a:lstStyle/>
          <a:p>
            <a:pPr indent="-292100" lvl="0" marL="457200" rtl="0" algn="just">
              <a:lnSpc>
                <a:spcPct val="150000"/>
              </a:lnSpc>
              <a:spcBef>
                <a:spcPts val="0"/>
              </a:spcBef>
              <a:spcAft>
                <a:spcPts val="0"/>
              </a:spcAft>
              <a:buSzPts val="1000"/>
              <a:buAutoNum type="arabicPeriod"/>
            </a:pPr>
            <a:r>
              <a:rPr b="1" lang="es" sz="1000"/>
              <a:t>Uso de medianas y grupos dicotómicos:</a:t>
            </a:r>
            <a:r>
              <a:rPr lang="es" sz="1000"/>
              <a:t> </a:t>
            </a:r>
            <a:r>
              <a:rPr lang="es" sz="1000">
                <a:solidFill>
                  <a:srgbClr val="000000"/>
                </a:solidFill>
              </a:rPr>
              <a:t>La clasificación de grupos se realizó usando la mediana global. Esto simplifica en exceso la variación real, países con inflaciones moderadas pueden quedar artificialmente en un grupo u otro. La mediana es robusta, pero no capta dinámicas temporales ni volatilidad interanual. </a:t>
            </a:r>
            <a:endParaRPr sz="1000">
              <a:solidFill>
                <a:srgbClr val="000000"/>
              </a:solidFill>
            </a:endParaRPr>
          </a:p>
          <a:p>
            <a:pPr indent="-292100" lvl="0" marL="457200" rtl="0" algn="just">
              <a:lnSpc>
                <a:spcPct val="150000"/>
              </a:lnSpc>
              <a:spcBef>
                <a:spcPts val="0"/>
              </a:spcBef>
              <a:spcAft>
                <a:spcPts val="0"/>
              </a:spcAft>
              <a:buSzPts val="1000"/>
              <a:buAutoNum type="arabicPeriod"/>
            </a:pPr>
            <a:r>
              <a:rPr b="1" lang="es" sz="1000"/>
              <a:t>Variables agregadas y no necesariamente causales:</a:t>
            </a:r>
            <a:r>
              <a:rPr lang="es" sz="1000"/>
              <a:t> </a:t>
            </a:r>
            <a:r>
              <a:rPr lang="es" sz="1000">
                <a:solidFill>
                  <a:srgbClr val="000000"/>
                </a:solidFill>
              </a:rPr>
              <a:t>El estudio usa correlaciones y comparaciones de grupos, no un modelo causal. No podemos afirmar que la inflación cause o no cause cambios en PBI, desempleo o gasto público. Factores estructurales (instituciones, shocks externos, apertura comercial, etc) no fueron controlados. </a:t>
            </a:r>
            <a:endParaRPr sz="1000">
              <a:solidFill>
                <a:srgbClr val="000000"/>
              </a:solidFill>
            </a:endParaRPr>
          </a:p>
          <a:p>
            <a:pPr indent="-292100" lvl="0" marL="457200" rtl="0" algn="just">
              <a:lnSpc>
                <a:spcPct val="150000"/>
              </a:lnSpc>
              <a:spcBef>
                <a:spcPts val="0"/>
              </a:spcBef>
              <a:spcAft>
                <a:spcPts val="0"/>
              </a:spcAft>
              <a:buSzPts val="1000"/>
              <a:buAutoNum type="arabicPeriod"/>
            </a:pPr>
            <a:r>
              <a:rPr b="1" lang="es" sz="1000"/>
              <a:t>Período analizado y agregación por país:</a:t>
            </a:r>
            <a:r>
              <a:rPr lang="es" sz="1000"/>
              <a:t> </a:t>
            </a:r>
            <a:r>
              <a:rPr lang="es" sz="1000">
                <a:solidFill>
                  <a:srgbClr val="000000"/>
                </a:solidFill>
              </a:rPr>
              <a:t>A pesar de que cubrimos los años 2000, 2010 y 2023, el análisis es cross-country y no profundiza en trayectorias individuales. Países con historias muy distintas pueden quedar superpuestos en la misma comparación. El análisis de panel no se utilizó, lo que limita la comprensión de efectos dinámicos. </a:t>
            </a:r>
            <a:endParaRPr sz="1000">
              <a:solidFill>
                <a:srgbClr val="000000"/>
              </a:solidFill>
            </a:endParaRPr>
          </a:p>
          <a:p>
            <a:pPr indent="-292100" lvl="0" marL="457200" rtl="0" algn="just">
              <a:lnSpc>
                <a:spcPct val="150000"/>
              </a:lnSpc>
              <a:spcBef>
                <a:spcPts val="0"/>
              </a:spcBef>
              <a:spcAft>
                <a:spcPts val="0"/>
              </a:spcAft>
              <a:buSzPts val="1000"/>
              <a:buAutoNum type="arabicPeriod"/>
            </a:pPr>
            <a:r>
              <a:rPr b="1" lang="es" sz="1000"/>
              <a:t>Transformaciones aplicadas:</a:t>
            </a:r>
            <a:r>
              <a:rPr lang="es" sz="1000"/>
              <a:t> </a:t>
            </a:r>
            <a:r>
              <a:rPr lang="es" sz="1000">
                <a:solidFill>
                  <a:srgbClr val="000000"/>
                </a:solidFill>
              </a:rPr>
              <a:t>Se usaron transformaciones (logaritmo de inflación, winsorización del gasto público), necesarias para la limpieza, pero que pueden suavizar extremos relevantes. Algunos valores perdidos implicaron exclusión parcial de observaciones</a:t>
            </a:r>
            <a:endParaRPr sz="1000">
              <a:solidFill>
                <a:srgbClr val="0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6"/>
          <p:cNvSpPr txBox="1"/>
          <p:nvPr>
            <p:ph type="ctrTitle"/>
          </p:nvPr>
        </p:nvSpPr>
        <p:spPr>
          <a:xfrm>
            <a:off x="536075" y="591550"/>
            <a:ext cx="7026300" cy="74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800"/>
              <a:t>Posibles análisis complementarios</a:t>
            </a:r>
            <a:endParaRPr sz="2800"/>
          </a:p>
        </p:txBody>
      </p:sp>
      <p:sp>
        <p:nvSpPr>
          <p:cNvPr id="558" name="Google Shape;558;p56"/>
          <p:cNvSpPr txBox="1"/>
          <p:nvPr>
            <p:ph idx="1" type="subTitle"/>
          </p:nvPr>
        </p:nvSpPr>
        <p:spPr>
          <a:xfrm>
            <a:off x="536075" y="1484100"/>
            <a:ext cx="7668900" cy="2769300"/>
          </a:xfrm>
          <a:prstGeom prst="rect">
            <a:avLst/>
          </a:prstGeom>
        </p:spPr>
        <p:txBody>
          <a:bodyPr anchorCtr="0" anchor="t" bIns="91425" lIns="91425" spcFirstLastPara="1" rIns="91425" wrap="square" tIns="91425">
            <a:noAutofit/>
          </a:bodyPr>
          <a:lstStyle/>
          <a:p>
            <a:pPr indent="-292100" lvl="0" marL="457200" rtl="0" algn="just">
              <a:lnSpc>
                <a:spcPct val="115000"/>
              </a:lnSpc>
              <a:spcBef>
                <a:spcPts val="0"/>
              </a:spcBef>
              <a:spcAft>
                <a:spcPts val="0"/>
              </a:spcAft>
              <a:buSzPts val="1000"/>
              <a:buAutoNum type="arabicPeriod"/>
            </a:pPr>
            <a:r>
              <a:rPr b="1" lang="es" sz="1000"/>
              <a:t>Modelos de panel (efectos fijos o aleatorios): </a:t>
            </a:r>
            <a:r>
              <a:rPr lang="es" sz="1000">
                <a:solidFill>
                  <a:srgbClr val="000000"/>
                </a:solidFill>
              </a:rPr>
              <a:t>Permiten controlar características estructurales de cada país, evaluar como cambios dentro del país afectan las variables macroeconómicas. </a:t>
            </a:r>
            <a:endParaRPr sz="1000">
              <a:solidFill>
                <a:srgbClr val="000000"/>
              </a:solidFill>
            </a:endParaRPr>
          </a:p>
          <a:p>
            <a:pPr indent="0" lvl="0" marL="457200" rtl="0" algn="just">
              <a:lnSpc>
                <a:spcPct val="115000"/>
              </a:lnSpc>
              <a:spcBef>
                <a:spcPts val="0"/>
              </a:spcBef>
              <a:spcAft>
                <a:spcPts val="0"/>
              </a:spcAft>
              <a:buNone/>
            </a:pPr>
            <a:r>
              <a:t/>
            </a:r>
            <a:endParaRPr sz="1000">
              <a:solidFill>
                <a:srgbClr val="000000"/>
              </a:solidFill>
            </a:endParaRPr>
          </a:p>
          <a:p>
            <a:pPr indent="-292100" lvl="0" marL="457200" rtl="0" algn="just">
              <a:lnSpc>
                <a:spcPct val="115000"/>
              </a:lnSpc>
              <a:spcBef>
                <a:spcPts val="0"/>
              </a:spcBef>
              <a:spcAft>
                <a:spcPts val="0"/>
              </a:spcAft>
              <a:buSzPts val="1000"/>
              <a:buAutoNum type="arabicPeriod"/>
            </a:pPr>
            <a:r>
              <a:rPr b="1" lang="es" sz="1000"/>
              <a:t>Regresiones multivariadas: </a:t>
            </a:r>
            <a:r>
              <a:rPr lang="es" sz="1000">
                <a:solidFill>
                  <a:srgbClr val="000000"/>
                </a:solidFill>
              </a:rPr>
              <a:t>De esta manera podemos incluir variables de control como tipo de cambio real, apertura, institucionalidad, etc. Estimar efectos parciales de la inflación sobre cada variable. </a:t>
            </a:r>
            <a:endParaRPr sz="1000">
              <a:solidFill>
                <a:srgbClr val="000000"/>
              </a:solidFill>
            </a:endParaRPr>
          </a:p>
          <a:p>
            <a:pPr indent="0" lvl="0" marL="457200" rtl="0" algn="just">
              <a:lnSpc>
                <a:spcPct val="115000"/>
              </a:lnSpc>
              <a:spcBef>
                <a:spcPts val="0"/>
              </a:spcBef>
              <a:spcAft>
                <a:spcPts val="0"/>
              </a:spcAft>
              <a:buNone/>
            </a:pPr>
            <a:r>
              <a:t/>
            </a:r>
            <a:endParaRPr sz="1000">
              <a:solidFill>
                <a:srgbClr val="000000"/>
              </a:solidFill>
            </a:endParaRPr>
          </a:p>
          <a:p>
            <a:pPr indent="-292100" lvl="0" marL="457200" rtl="0" algn="just">
              <a:lnSpc>
                <a:spcPct val="115000"/>
              </a:lnSpc>
              <a:spcBef>
                <a:spcPts val="0"/>
              </a:spcBef>
              <a:spcAft>
                <a:spcPts val="0"/>
              </a:spcAft>
              <a:buSzPts val="1000"/>
              <a:buAutoNum type="arabicPeriod"/>
            </a:pPr>
            <a:r>
              <a:rPr b="1" lang="es" sz="1000"/>
              <a:t>Análisis de inflación crónica vs episodios:</a:t>
            </a:r>
            <a:r>
              <a:rPr lang="es" sz="1000"/>
              <a:t> </a:t>
            </a:r>
            <a:r>
              <a:rPr lang="es" sz="1000">
                <a:solidFill>
                  <a:srgbClr val="000000"/>
                </a:solidFill>
              </a:rPr>
              <a:t>Separar países con inflación persistentemente alta. Episodios temporales de inflación podrían revelar dinámicas ocultas en el análisis agregado. </a:t>
            </a:r>
            <a:endParaRPr sz="1000">
              <a:solidFill>
                <a:srgbClr val="000000"/>
              </a:solidFill>
            </a:endParaRPr>
          </a:p>
          <a:p>
            <a:pPr indent="0" lvl="0" marL="457200" rtl="0" algn="just">
              <a:lnSpc>
                <a:spcPct val="115000"/>
              </a:lnSpc>
              <a:spcBef>
                <a:spcPts val="0"/>
              </a:spcBef>
              <a:spcAft>
                <a:spcPts val="0"/>
              </a:spcAft>
              <a:buNone/>
            </a:pPr>
            <a:r>
              <a:t/>
            </a:r>
            <a:endParaRPr sz="1000">
              <a:solidFill>
                <a:srgbClr val="000000"/>
              </a:solidFill>
            </a:endParaRPr>
          </a:p>
          <a:p>
            <a:pPr indent="-292100" lvl="0" marL="457200" rtl="0" algn="just">
              <a:lnSpc>
                <a:spcPct val="115000"/>
              </a:lnSpc>
              <a:spcBef>
                <a:spcPts val="0"/>
              </a:spcBef>
              <a:spcAft>
                <a:spcPts val="0"/>
              </a:spcAft>
              <a:buSzPts val="1000"/>
              <a:buAutoNum type="arabicPeriod"/>
            </a:pPr>
            <a:r>
              <a:rPr b="1" lang="es" sz="1000"/>
              <a:t>Enfoques no lineales: </a:t>
            </a:r>
            <a:r>
              <a:rPr lang="es" sz="1000">
                <a:solidFill>
                  <a:srgbClr val="000000"/>
                </a:solidFill>
              </a:rPr>
              <a:t>La relación entre inflación y crecimiento puede ser no lineal, por ejemplo con umbrales. Se podría usar regresiones cuadráticas, splines o modelos threshold. </a:t>
            </a:r>
            <a:endParaRPr sz="1000">
              <a:solidFill>
                <a:srgbClr val="000000"/>
              </a:solidFill>
            </a:endParaRPr>
          </a:p>
          <a:p>
            <a:pPr indent="0" lvl="0" marL="457200" rtl="0" algn="just">
              <a:lnSpc>
                <a:spcPct val="115000"/>
              </a:lnSpc>
              <a:spcBef>
                <a:spcPts val="0"/>
              </a:spcBef>
              <a:spcAft>
                <a:spcPts val="0"/>
              </a:spcAft>
              <a:buNone/>
            </a:pPr>
            <a:r>
              <a:t/>
            </a:r>
            <a:endParaRPr sz="1000">
              <a:solidFill>
                <a:srgbClr val="000000"/>
              </a:solidFill>
            </a:endParaRPr>
          </a:p>
          <a:p>
            <a:pPr indent="-292100" lvl="0" marL="457200" rtl="0" algn="just">
              <a:lnSpc>
                <a:spcPct val="115000"/>
              </a:lnSpc>
              <a:spcBef>
                <a:spcPts val="0"/>
              </a:spcBef>
              <a:spcAft>
                <a:spcPts val="0"/>
              </a:spcAft>
              <a:buSzPts val="1000"/>
              <a:buAutoNum type="arabicPeriod"/>
            </a:pPr>
            <a:r>
              <a:rPr b="1" lang="es" sz="1000"/>
              <a:t>Visualizaciones adicionales:</a:t>
            </a:r>
            <a:r>
              <a:rPr lang="es" sz="1000"/>
              <a:t> </a:t>
            </a:r>
            <a:r>
              <a:rPr lang="es" sz="1000">
                <a:solidFill>
                  <a:srgbClr val="000000"/>
                </a:solidFill>
              </a:rPr>
              <a:t>Se podrían agregar gráficos de trayectorias por país. </a:t>
            </a:r>
            <a:endParaRPr sz="10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